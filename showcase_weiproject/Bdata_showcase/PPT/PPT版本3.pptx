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 type="custom"/>
  <p:notesSz cx="12192000" cy="6858000"/>
  <p:embeddedFontLst>
    <p:embeddedFont>
      <p:font typeface="MiSans" charset="-122" pitchFamily="34"/>
      <p:regular r:id="rId17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font" Target="fonts/font1.fnt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_1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_1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_1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_1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_1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_1.png"/><Relationship Id="rId3" Type="http://schemas.openxmlformats.org/officeDocument/2006/relationships/image" Target="../media/image9_2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github.com/Wanru-P/HUST-" TargetMode="Externa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_1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_1.png"/></Relationships>
</file>

<file path=ppt/slides/slide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urse-tag"/>
          <p:cNvSpPr txBox="1"/>
          <p:nvPr/>
        </p:nvSpPr>
        <p:spPr>
          <a:xfrm>
            <a:off x="609600" y="5588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spc="300" kern="0">
                <a:solidFill>
                  <a:srgbClr val="697788"/>
                </a:solidFill>
                <a:latin typeface="Arial"/>
                <a:ea typeface="微软雅黑"/>
              </a:rPr>
              <a:t>《大数据导论》 · 课程项目答辩</a:t>
            </a:r>
            <a:endParaRPr lang="en-US" sz="1200" noProof="1"/>
          </a:p>
        </p:txBody>
      </p:sp>
      <p:sp>
        <p:nvSpPr>
          <p:cNvPr id="3" name="title-main"/>
          <p:cNvSpPr txBox="1"/>
          <p:nvPr/>
        </p:nvSpPr>
        <p:spPr>
          <a:xfrm>
            <a:off x="609600" y="1905000"/>
            <a:ext cx="73660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3600" noProof="1" b="1">
                <a:solidFill>
                  <a:srgbClr val="173653"/>
                </a:solidFill>
                <a:latin typeface="MiSans"/>
                <a:ea typeface="MiSans"/>
              </a:rPr>
              <a:t>开源人工智能模型生态的</a:t>
            </a:r>
            <a:endParaRPr lang="en-US" sz="3600" noProof="1"/>
          </a:p>
          <a:p>
            <a:pPr algn="l">
              <a:lnSpc>
                <a:spcPct val="135000"/>
              </a:lnSpc>
            </a:pPr>
            <a:r>
              <a:rPr lang="en-US" sz="3600" noProof="1" b="1">
                <a:solidFill>
                  <a:srgbClr val="173653"/>
                </a:solidFill>
                <a:latin typeface="MiSans"/>
                <a:ea typeface="MiSans"/>
              </a:rPr>
              <a:t>数据分析</a:t>
            </a:r>
            <a:endParaRPr lang="en-US" sz="3600" noProof="1"/>
          </a:p>
        </p:txBody>
      </p:sp>
      <p:sp>
        <p:nvSpPr>
          <p:cNvPr id="4" name="title-rule"/>
          <p:cNvSpPr/>
          <p:nvPr/>
        </p:nvSpPr>
        <p:spPr>
          <a:xfrm>
            <a:off x="609600" y="3530600"/>
            <a:ext cx="711200" cy="38100"/>
          </a:xfrm>
          <a:prstGeom prst="rect">
            <a:avLst/>
          </a:prstGeom>
          <a:solidFill>
            <a:srgbClr val="F3B945"/>
          </a:solidFill>
          <a:ln>
            <a:noFill/>
          </a:ln>
        </p:spPr>
      </p:sp>
      <p:sp>
        <p:nvSpPr>
          <p:cNvPr id="5" name="subtitle"/>
          <p:cNvSpPr txBox="1"/>
          <p:nvPr/>
        </p:nvSpPr>
        <p:spPr>
          <a:xfrm>
            <a:off x="609600" y="3759200"/>
            <a:ext cx="7366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700" noProof="1">
                <a:solidFill>
                  <a:srgbClr val="3778B3"/>
                </a:solidFill>
                <a:latin typeface="MiSans"/>
                <a:ea typeface="MiSans"/>
              </a:rPr>
              <a:t>基于 Hugging Face 公开模型快照的 Spark 大数据实验</a:t>
            </a:r>
            <a:endParaRPr lang="en-US" sz="1700" noProof="1"/>
          </a:p>
        </p:txBody>
      </p:sp>
      <p:sp>
        <p:nvSpPr>
          <p:cNvPr id="6" name="cover-note"/>
          <p:cNvSpPr txBox="1"/>
          <p:nvPr/>
        </p:nvSpPr>
        <p:spPr>
          <a:xfrm>
            <a:off x="609600" y="4267200"/>
            <a:ext cx="7112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697788"/>
                </a:solidFill>
                <a:latin typeface="MiSans"/>
                <a:ea typeface="MiSans"/>
              </a:rPr>
              <a:t>以 Spark 处理 314 万级公开模型记录，考察模型增长、下载量分布与继承关系网络。</a:t>
            </a:r>
            <a:endParaRPr lang="en-US" sz="1300" noProof="1"/>
          </a:p>
        </p:txBody>
      </p:sp>
      <p:sp>
        <p:nvSpPr>
          <p:cNvPr id="7" name="edge-1"/>
          <p:cNvSpPr/>
          <p:nvPr>
            <p:extLst>
              <p:ext uri="{F5677B7D-0D2A-4D9B-9A5C-6D8D7D0E5A5D}">
                <pptd:line encoding="base64url">eyJ2aWV3Qm94IjpbMTAxLDExMV0sInBvaW50cyI6IjEwMSwxMTEgMCwwIiwiY3VydmUiOiJzaGFycCJ9</pptd:line>
              </p:ext>
            </p:extLst>
          </p:nvPr>
        </p:nvSpPr>
        <p:spPr>
          <a:xfrm>
            <a:off x="8521700" y="2044700"/>
            <a:ext cx="1282700" cy="1409700"/>
          </a:xfrm>
          <a:custGeom>
            <a:avLst/>
            <a:gdLst/>
            <a:ahLst/>
            <a:cxnLst/>
            <a:rect l="l" t="t" r="r" b="b"/>
            <a:pathLst>
              <a:path w="101" h="111">
                <a:moveTo>
                  <a:pt x="101" y="111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DCE5ED"/>
            </a:solidFill>
          </a:ln>
        </p:spPr>
      </p:sp>
      <p:sp>
        <p:nvSpPr>
          <p:cNvPr id="8" name="edge-2"/>
          <p:cNvSpPr/>
          <p:nvPr>
            <p:extLst>
              <p:ext uri="{F5677B7D-0D2A-4D9B-9A5C-6D8D7D0E5A5D}">
                <pptd:line encoding="base64url">eyJ2aWV3Qm94IjpbMTI0LDE0XSwicG9pbnRzIjoiMTI0LDE0IDAsMCIsImN1cnZlIjoic2hhcnAifQ</pptd:line>
              </p:ext>
            </p:extLst>
          </p:nvPr>
        </p:nvSpPr>
        <p:spPr>
          <a:xfrm>
            <a:off x="8229600" y="3276600"/>
            <a:ext cx="1574800" cy="177800"/>
          </a:xfrm>
          <a:custGeom>
            <a:avLst/>
            <a:gdLst/>
            <a:ahLst/>
            <a:cxnLst/>
            <a:rect l="l" t="t" r="r" b="b"/>
            <a:pathLst>
              <a:path w="124" h="14">
                <a:moveTo>
                  <a:pt x="124" y="14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DCE5ED"/>
            </a:solidFill>
          </a:ln>
        </p:spPr>
      </p:sp>
      <p:sp>
        <p:nvSpPr>
          <p:cNvPr id="9" name="edge-3"/>
          <p:cNvSpPr/>
          <p:nvPr>
            <p:extLst>
              <p:ext uri="{F5677B7D-0D2A-4D9B-9A5C-6D8D7D0E5A5D}">
                <pptd:line encoding="base64url">eyJ2aWV3Qm94IjpbODIsNzhdLCJwb2ludHMiOiI4MiwwIDAsNzgiLCJjdXJ2ZSI6InNoYXJwIn0</pptd:line>
              </p:ext>
            </p:extLst>
          </p:nvPr>
        </p:nvSpPr>
        <p:spPr>
          <a:xfrm>
            <a:off x="8763000" y="3454400"/>
            <a:ext cx="1041400" cy="990600"/>
          </a:xfrm>
          <a:custGeom>
            <a:avLst/>
            <a:gdLst/>
            <a:ahLst/>
            <a:cxnLst/>
            <a:rect l="l" t="t" r="r" b="b"/>
            <a:pathLst>
              <a:path w="82" h="78">
                <a:moveTo>
                  <a:pt x="82" y="0"/>
                </a:moveTo>
                <a:lnTo>
                  <a:pt x="0" y="78"/>
                </a:lnTo>
              </a:path>
            </a:pathLst>
          </a:custGeom>
          <a:noFill/>
          <a:ln w="12700">
            <a:solidFill>
              <a:srgbClr val="DCE5ED"/>
            </a:solidFill>
          </a:ln>
        </p:spPr>
      </p:sp>
      <p:sp>
        <p:nvSpPr>
          <p:cNvPr id="10" name="edge-4"/>
          <p:cNvSpPr/>
          <p:nvPr>
            <p:extLst>
              <p:ext uri="{F5677B7D-0D2A-4D9B-9A5C-6D8D7D0E5A5D}">
                <pptd:line encoding="base64url">eyJ2aWV3Qm94IjpbODAsMTIwXSwicG9pbnRzIjoiMCwxMjAgODAsMCIsImN1cnZlIjoic2hhcnAifQ</pptd:line>
              </p:ext>
            </p:extLst>
          </p:nvPr>
        </p:nvSpPr>
        <p:spPr>
          <a:xfrm>
            <a:off x="9804400" y="1930400"/>
            <a:ext cx="1016000" cy="1524000"/>
          </a:xfrm>
          <a:custGeom>
            <a:avLst/>
            <a:gdLst/>
            <a:ahLst/>
            <a:cxnLst/>
            <a:rect l="l" t="t" r="r" b="b"/>
            <a:pathLst>
              <a:path w="80" h="120">
                <a:moveTo>
                  <a:pt x="0" y="120"/>
                </a:moveTo>
                <a:lnTo>
                  <a:pt x="80" y="0"/>
                </a:lnTo>
              </a:path>
            </a:pathLst>
          </a:custGeom>
          <a:noFill/>
          <a:ln w="12700">
            <a:solidFill>
              <a:srgbClr val="DCE5ED"/>
            </a:solidFill>
          </a:ln>
        </p:spPr>
      </p:sp>
      <p:sp>
        <p:nvSpPr>
          <p:cNvPr id="11" name="edge-5"/>
          <p:cNvSpPr/>
          <p:nvPr>
            <p:extLst>
              <p:ext uri="{F5677B7D-0D2A-4D9B-9A5C-6D8D7D0E5A5D}">
                <pptd:line encoding="base64url">eyJ2aWV3Qm94IjpbMTAxLDI5XSwicG9pbnRzIjoiMCwyOSAxMDEsMCIsImN1cnZlIjoic2hhcnAifQ</pptd:line>
              </p:ext>
            </p:extLst>
          </p:nvPr>
        </p:nvSpPr>
        <p:spPr>
          <a:xfrm>
            <a:off x="9804400" y="3086100"/>
            <a:ext cx="1282700" cy="368300"/>
          </a:xfrm>
          <a:custGeom>
            <a:avLst/>
            <a:gdLst/>
            <a:ahLst/>
            <a:cxnLst/>
            <a:rect l="l" t="t" r="r" b="b"/>
            <a:pathLst>
              <a:path w="101" h="29">
                <a:moveTo>
                  <a:pt x="0" y="29"/>
                </a:moveTo>
                <a:lnTo>
                  <a:pt x="101" y="0"/>
                </a:lnTo>
              </a:path>
            </a:pathLst>
          </a:custGeom>
          <a:noFill/>
          <a:ln w="12700">
            <a:solidFill>
              <a:srgbClr val="DCE5ED"/>
            </a:solidFill>
          </a:ln>
        </p:spPr>
      </p:sp>
      <p:sp>
        <p:nvSpPr>
          <p:cNvPr id="12" name="edge-6"/>
          <p:cNvSpPr/>
          <p:nvPr>
            <p:extLst>
              <p:ext uri="{F5677B7D-0D2A-4D9B-9A5C-6D8D7D0E5A5D}">
                <pptd:line encoding="base64url">eyJ2aWV3Qm94IjpbNjgsNjhdLCJwb2ludHMiOiIwLDAgNjgsNjgiLCJjdXJ2ZSI6InNoYXJwIn0</pptd:line>
              </p:ext>
            </p:extLst>
          </p:nvPr>
        </p:nvSpPr>
        <p:spPr>
          <a:xfrm>
            <a:off x="9804400" y="3454400"/>
            <a:ext cx="863600" cy="863600"/>
          </a:xfrm>
          <a:custGeom>
            <a:avLst/>
            <a:gdLst/>
            <a:ahLst/>
            <a:cxnLst/>
            <a:rect l="l" t="t" r="r" b="b"/>
            <a:pathLst>
              <a:path w="68" h="68">
                <a:moveTo>
                  <a:pt x="0" y="0"/>
                </a:moveTo>
                <a:lnTo>
                  <a:pt x="68" y="68"/>
                </a:lnTo>
              </a:path>
            </a:pathLst>
          </a:custGeom>
          <a:noFill/>
          <a:ln w="12700">
            <a:solidFill>
              <a:srgbClr val="DCE5ED"/>
            </a:solidFill>
          </a:ln>
        </p:spPr>
      </p:sp>
      <p:sp>
        <p:nvSpPr>
          <p:cNvPr id="13" name="edge-7"/>
          <p:cNvSpPr/>
          <p:nvPr>
            <p:extLst>
              <p:ext uri="{F5677B7D-0D2A-4D9B-9A5C-6D8D7D0E5A5D}">
                <pptd:line encoding="base64url">eyJ2aWV3Qm94IjpbNSwxMTVdLCJwb2ludHMiOiIwLDAgNSwxMTUiLCJjdXJ2ZSI6InNoYXJwIn0</pptd:line>
              </p:ext>
            </p:extLst>
          </p:nvPr>
        </p:nvSpPr>
        <p:spPr>
          <a:xfrm>
            <a:off x="9804400" y="3454400"/>
            <a:ext cx="63500" cy="1460500"/>
          </a:xfrm>
          <a:custGeom>
            <a:avLst/>
            <a:gdLst/>
            <a:ahLst/>
            <a:cxnLst/>
            <a:rect l="l" t="t" r="r" b="b"/>
            <a:pathLst>
              <a:path w="5" h="115">
                <a:moveTo>
                  <a:pt x="0" y="0"/>
                </a:moveTo>
                <a:lnTo>
                  <a:pt x="5" y="115"/>
                </a:lnTo>
              </a:path>
            </a:pathLst>
          </a:custGeom>
          <a:noFill/>
          <a:ln w="12700">
            <a:solidFill>
              <a:srgbClr val="DCE5ED"/>
            </a:solidFill>
          </a:ln>
        </p:spPr>
      </p:sp>
      <p:sp>
        <p:nvSpPr>
          <p:cNvPr id="14" name="edge-8"/>
          <p:cNvSpPr/>
          <p:nvPr>
            <p:extLst>
              <p:ext uri="{F5677B7D-0D2A-4D9B-9A5C-6D8D7D0E5A5D}">
                <pptd:line encoding="base64url">eyJ2aWV3Qm94IjpbMTAsMTM1XSwicG9pbnRzIjoiMTAsMTM1IDAsMCIsImN1cnZlIjoic2hhcnAifQ</pptd:line>
              </p:ext>
            </p:extLst>
          </p:nvPr>
        </p:nvSpPr>
        <p:spPr>
          <a:xfrm>
            <a:off x="9677400" y="1739900"/>
            <a:ext cx="127000" cy="1714500"/>
          </a:xfrm>
          <a:custGeom>
            <a:avLst/>
            <a:gdLst/>
            <a:ahLst/>
            <a:cxnLst/>
            <a:rect l="l" t="t" r="r" b="b"/>
            <a:pathLst>
              <a:path w="10" h="135">
                <a:moveTo>
                  <a:pt x="10" y="135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DCE5ED"/>
            </a:solidFill>
          </a:ln>
        </p:spPr>
      </p:sp>
      <p:sp>
        <p:nvSpPr>
          <p:cNvPr id="15" name="node-base"/>
          <p:cNvSpPr/>
          <p:nvPr/>
        </p:nvSpPr>
        <p:spPr>
          <a:xfrm>
            <a:off x="9525000" y="3175000"/>
            <a:ext cx="558800" cy="558800"/>
          </a:xfrm>
          <a:prstGeom prst="ellipse">
            <a:avLst/>
          </a:prstGeom>
          <a:solidFill>
            <a:srgbClr val="173653"/>
          </a:solidFill>
          <a:ln>
            <a:noFill/>
          </a:ln>
        </p:spPr>
      </p:sp>
      <p:sp>
        <p:nvSpPr>
          <p:cNvPr id="16" name="node-d1"/>
          <p:cNvSpPr/>
          <p:nvPr/>
        </p:nvSpPr>
        <p:spPr>
          <a:xfrm>
            <a:off x="8382000" y="1905000"/>
            <a:ext cx="279400" cy="279400"/>
          </a:xfrm>
          <a:prstGeom prst="ellipse">
            <a:avLst/>
          </a:prstGeom>
          <a:solidFill>
            <a:srgbClr val="8AB8DC"/>
          </a:solidFill>
          <a:ln>
            <a:noFill/>
          </a:ln>
        </p:spPr>
      </p:sp>
      <p:sp>
        <p:nvSpPr>
          <p:cNvPr id="17" name="node-d2"/>
          <p:cNvSpPr/>
          <p:nvPr/>
        </p:nvSpPr>
        <p:spPr>
          <a:xfrm>
            <a:off x="8128000" y="3175000"/>
            <a:ext cx="203200" cy="203200"/>
          </a:xfrm>
          <a:prstGeom prst="ellipse">
            <a:avLst/>
          </a:prstGeom>
          <a:solidFill>
            <a:srgbClr val="3778B3"/>
          </a:solidFill>
          <a:ln>
            <a:noFill/>
          </a:ln>
        </p:spPr>
      </p:sp>
      <p:sp>
        <p:nvSpPr>
          <p:cNvPr id="18" name="node-d3"/>
          <p:cNvSpPr/>
          <p:nvPr/>
        </p:nvSpPr>
        <p:spPr>
          <a:xfrm>
            <a:off x="8636000" y="4318000"/>
            <a:ext cx="254000" cy="254000"/>
          </a:xfrm>
          <a:prstGeom prst="ellipse">
            <a:avLst/>
          </a:prstGeom>
          <a:solidFill>
            <a:srgbClr val="8AB8DC"/>
          </a:solidFill>
          <a:ln>
            <a:noFill/>
          </a:ln>
        </p:spPr>
      </p:sp>
      <p:sp>
        <p:nvSpPr>
          <p:cNvPr id="19" name="node-d4"/>
          <p:cNvSpPr/>
          <p:nvPr/>
        </p:nvSpPr>
        <p:spPr>
          <a:xfrm>
            <a:off x="10668000" y="1778000"/>
            <a:ext cx="304800" cy="304800"/>
          </a:xfrm>
          <a:prstGeom prst="ellipse">
            <a:avLst/>
          </a:prstGeom>
          <a:solidFill>
            <a:srgbClr val="3778B3"/>
          </a:solidFill>
          <a:ln>
            <a:noFill/>
          </a:ln>
        </p:spPr>
      </p:sp>
      <p:sp>
        <p:nvSpPr>
          <p:cNvPr id="20" name="node-d5"/>
          <p:cNvSpPr/>
          <p:nvPr/>
        </p:nvSpPr>
        <p:spPr>
          <a:xfrm>
            <a:off x="10985500" y="2984500"/>
            <a:ext cx="203200" cy="203200"/>
          </a:xfrm>
          <a:prstGeom prst="ellipse">
            <a:avLst/>
          </a:prstGeom>
          <a:solidFill>
            <a:srgbClr val="8AB8DC"/>
          </a:solidFill>
          <a:ln>
            <a:noFill/>
          </a:ln>
        </p:spPr>
      </p:sp>
      <p:sp>
        <p:nvSpPr>
          <p:cNvPr id="21" name="node-d6"/>
          <p:cNvSpPr/>
          <p:nvPr/>
        </p:nvSpPr>
        <p:spPr>
          <a:xfrm>
            <a:off x="10541000" y="4191000"/>
            <a:ext cx="254000" cy="254000"/>
          </a:xfrm>
          <a:prstGeom prst="ellipse">
            <a:avLst/>
          </a:prstGeom>
          <a:solidFill>
            <a:srgbClr val="8AB8DC"/>
          </a:solidFill>
          <a:ln>
            <a:noFill/>
          </a:ln>
        </p:spPr>
      </p:sp>
      <p:sp>
        <p:nvSpPr>
          <p:cNvPr id="22" name="node-d7"/>
          <p:cNvSpPr/>
          <p:nvPr/>
        </p:nvSpPr>
        <p:spPr>
          <a:xfrm>
            <a:off x="9779000" y="4826000"/>
            <a:ext cx="177800" cy="177800"/>
          </a:xfrm>
          <a:prstGeom prst="ellipse">
            <a:avLst/>
          </a:prstGeom>
          <a:solidFill>
            <a:srgbClr val="3778B3"/>
          </a:solidFill>
          <a:ln>
            <a:noFill/>
          </a:ln>
        </p:spPr>
      </p:sp>
      <p:sp>
        <p:nvSpPr>
          <p:cNvPr id="23" name="node-d8"/>
          <p:cNvSpPr/>
          <p:nvPr/>
        </p:nvSpPr>
        <p:spPr>
          <a:xfrm>
            <a:off x="9588500" y="1651000"/>
            <a:ext cx="177800" cy="177800"/>
          </a:xfrm>
          <a:prstGeom prst="ellipse">
            <a:avLst/>
          </a:prstGeom>
          <a:solidFill>
            <a:srgbClr val="8AB8DC"/>
          </a:solidFill>
          <a:ln>
            <a:noFill/>
          </a:ln>
        </p:spPr>
      </p:sp>
      <p:sp>
        <p:nvSpPr>
          <p:cNvPr id="24" name="footer-rule"/>
          <p:cNvSpPr/>
          <p:nvPr>
            <p:extLst>
              <p:ext uri="{F5677B7D-0D2A-4D9B-9A5C-6D8D7D0E5A5D}">
                <pptd:line encoding="base64url">eyJ2aWV3Qm94IjpbODY0LDFdLCJwb2ludHMiOiIwLDAgODY0LDAiLCJjdXJ2ZSI6InNoYXJwIn0</pptd:line>
              </p:ext>
            </p:extLst>
          </p:nvPr>
        </p:nvSpPr>
        <p:spPr>
          <a:xfrm>
            <a:off x="609600" y="5740400"/>
            <a:ext cx="10972800" cy="12700"/>
          </a:xfrm>
          <a:custGeom>
            <a:avLst/>
            <a:gdLst/>
            <a:ahLst/>
            <a:cxnLst/>
            <a:rect l="l" t="t" r="r" b="b"/>
            <a:pathLst>
              <a:path w="864" h="1">
                <a:moveTo>
                  <a:pt x="0" y="0"/>
                </a:moveTo>
                <a:lnTo>
                  <a:pt x="864" y="0"/>
                </a:lnTo>
              </a:path>
            </a:pathLst>
          </a:custGeom>
          <a:noFill/>
          <a:ln w="12700">
            <a:solidFill>
              <a:srgbClr val="DCE5ED"/>
            </a:solidFill>
          </a:ln>
        </p:spPr>
      </p:sp>
      <p:sp>
        <p:nvSpPr>
          <p:cNvPr id="25" name="footer-info"/>
          <p:cNvSpPr txBox="1"/>
          <p:nvPr/>
        </p:nvSpPr>
        <p:spPr>
          <a:xfrm>
            <a:off x="609600" y="5918200"/>
            <a:ext cx="10972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97788"/>
                </a:solidFill>
                <a:latin typeface="MiSans"/>
                <a:ea typeface="MiSans"/>
              </a:rPr>
              <a:t>华中科技大学　｜　汇报人：×××　｜　团队成员：×××　×××　｜　2026 年 10 月</a:t>
            </a:r>
            <a:endParaRPr lang="en-US" sz="1200" noProof="1"/>
          </a:p>
        </p:txBody>
      </p:sp>
      <p:sp>
        <p:nvSpPr>
          <p:cNvPr id="26" name="footer-hf"/>
          <p:cNvSpPr txBox="1"/>
          <p:nvPr/>
        </p:nvSpPr>
        <p:spPr>
          <a:xfrm>
            <a:off x="7772400" y="62230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100" noProof="1">
                <a:solidFill>
                  <a:srgbClr val="697788"/>
                </a:solidFill>
                <a:latin typeface="MiSans"/>
                <a:ea typeface="MiSans"/>
              </a:rPr>
              <a:t>数据源：Hugging Face Hub 公开快照</a:t>
            </a:r>
            <a:endParaRPr lang="en-US" sz="11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-label"/>
          <p:cNvSpPr txBox="1"/>
          <p:nvPr/>
        </p:nvSpPr>
        <p:spPr>
          <a:xfrm>
            <a:off x="609600" y="4064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spc="300" kern="0">
                <a:solidFill>
                  <a:srgbClr val="697788"/>
                </a:solidFill>
                <a:latin typeface="Arial"/>
                <a:ea typeface="微软雅黑"/>
              </a:rPr>
              <a:t>01 / QUESTION</a:t>
            </a:r>
            <a:endParaRPr lang="en-US" sz="1200" noProof="1"/>
          </a:p>
        </p:txBody>
      </p:sp>
      <p:sp>
        <p:nvSpPr>
          <p:cNvPr id="3" name="page-title"/>
          <p:cNvSpPr txBox="1"/>
          <p:nvPr/>
        </p:nvSpPr>
        <p:spPr>
          <a:xfrm>
            <a:off x="609600" y="685800"/>
            <a:ext cx="109728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700" noProof="1" b="1">
                <a:solidFill>
                  <a:srgbClr val="173653"/>
                </a:solidFill>
                <a:latin typeface="Arial"/>
                <a:ea typeface="微软雅黑"/>
              </a:rPr>
              <a:t>314 万个模型，值得研究的不只是数量</a:t>
            </a:r>
            <a:endParaRPr lang="en-US" sz="2700" noProof="1"/>
          </a:p>
        </p:txBody>
      </p:sp>
      <p:sp>
        <p:nvSpPr>
          <p:cNvPr id="4" name="title-rule"/>
          <p:cNvSpPr/>
          <p:nvPr>
            <p:extLst>
              <p:ext uri="{F5677B7D-0D2A-4D9B-9A5C-6D8D7D0E5A5D}">
                <pptd:line encoding="base64url">eyJ2aWV3Qm94IjpbODY0LDFdLCJwb2ludHMiOiIwLDAgODY0LDAiLCJjdXJ2ZSI6InNoYXJwIn0</pptd:line>
              </p:ext>
            </p:extLst>
          </p:nvPr>
        </p:nvSpPr>
        <p:spPr>
          <a:xfrm>
            <a:off x="609600" y="1346200"/>
            <a:ext cx="10972800" cy="12700"/>
          </a:xfrm>
          <a:custGeom>
            <a:avLst/>
            <a:gdLst/>
            <a:ahLst/>
            <a:cxnLst/>
            <a:rect l="l" t="t" r="r" b="b"/>
            <a:pathLst>
              <a:path w="864" h="1">
                <a:moveTo>
                  <a:pt x="0" y="0"/>
                </a:moveTo>
                <a:lnTo>
                  <a:pt x="864" y="0"/>
                </a:lnTo>
              </a:path>
            </a:pathLst>
          </a:custGeom>
          <a:noFill/>
          <a:ln w="12700">
            <a:solidFill>
              <a:srgbClr val="DCE5ED"/>
            </a:solidFill>
          </a:ln>
        </p:spPr>
      </p:sp>
      <p:sp>
        <p:nvSpPr>
          <p:cNvPr id="5" name="big-number"/>
          <p:cNvSpPr txBox="1"/>
          <p:nvPr/>
        </p:nvSpPr>
        <p:spPr>
          <a:xfrm>
            <a:off x="609600" y="2413000"/>
            <a:ext cx="3937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4600" noProof="1" b="1">
                <a:solidFill>
                  <a:srgbClr val="173653"/>
                </a:solidFill>
                <a:latin typeface="MiSans"/>
                <a:ea typeface="MiSans"/>
              </a:rPr>
              <a:t>3,138,954</a:t>
            </a:r>
            <a:endParaRPr lang="en-US" sz="4600" noProof="1"/>
          </a:p>
        </p:txBody>
      </p:sp>
      <p:sp>
        <p:nvSpPr>
          <p:cNvPr id="6" name="big-number-caption"/>
          <p:cNvSpPr txBox="1"/>
          <p:nvPr/>
        </p:nvSpPr>
        <p:spPr>
          <a:xfrm>
            <a:off x="609600" y="3327400"/>
            <a:ext cx="381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300" noProof="1">
                <a:solidFill>
                  <a:srgbClr val="263444"/>
                </a:solidFill>
                <a:latin typeface="MiSans"/>
                <a:ea typeface="MiSans"/>
              </a:rPr>
              <a:t>2026-10-10 数据快照中可见的公开模型（已去重）</a:t>
            </a:r>
            <a:endParaRPr lang="en-US" sz="1300" noProof="1"/>
          </a:p>
        </p:txBody>
      </p:sp>
      <p:sp>
        <p:nvSpPr>
          <p:cNvPr id="7" name="big-number-note"/>
          <p:cNvSpPr txBox="1"/>
          <p:nvPr/>
        </p:nvSpPr>
        <p:spPr>
          <a:xfrm>
            <a:off x="609600" y="3962400"/>
            <a:ext cx="381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697788"/>
                </a:solidFill>
                <a:latin typeface="MiSans"/>
                <a:ea typeface="MiSans"/>
              </a:rPr>
              <a:t>快照是截面数据，不等于全平台历史累计模型数</a:t>
            </a:r>
            <a:endParaRPr lang="en-US" sz="1100" noProof="1"/>
          </a:p>
        </p:txBody>
      </p:sp>
      <p:sp>
        <p:nvSpPr>
          <p:cNvPr id="8" name="v-divider"/>
          <p:cNvSpPr/>
          <p:nvPr>
            <p:extLst>
              <p:ext uri="{F5677B7D-0D2A-4D9B-9A5C-6D8D7D0E5A5D}">
                <pptd:line encoding="base64url">eyJ2aWV3Qm94IjpbMSwyNTBdLCJwb2ludHMiOiIwLDAgMCwyNTAiLCJjdXJ2ZSI6InNoYXJwIn0</pptd:line>
              </p:ext>
            </p:extLst>
          </p:nvPr>
        </p:nvSpPr>
        <p:spPr>
          <a:xfrm>
            <a:off x="4775200" y="1905000"/>
            <a:ext cx="12700" cy="3175000"/>
          </a:xfrm>
          <a:custGeom>
            <a:avLst/>
            <a:gdLst/>
            <a:ahLst/>
            <a:cxnLst/>
            <a:rect l="l" t="t" r="r" b="b"/>
            <a:pathLst>
              <a:path w="1" h="250">
                <a:moveTo>
                  <a:pt x="0" y="0"/>
                </a:moveTo>
                <a:lnTo>
                  <a:pt x="0" y="250"/>
                </a:lnTo>
              </a:path>
            </a:pathLst>
          </a:custGeom>
          <a:noFill/>
          <a:ln w="12700">
            <a:solidFill>
              <a:srgbClr val="DCE5ED"/>
            </a:solidFill>
          </a:ln>
        </p:spPr>
      </p:sp>
      <p:sp>
        <p:nvSpPr>
          <p:cNvPr id="9" name="q1-num"/>
          <p:cNvSpPr txBox="1"/>
          <p:nvPr/>
        </p:nvSpPr>
        <p:spPr>
          <a:xfrm>
            <a:off x="5181600" y="1803400"/>
            <a:ext cx="50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3778B3"/>
                </a:solidFill>
                <a:latin typeface="MiSans"/>
                <a:ea typeface="MiSans"/>
              </a:rPr>
              <a:t>01</a:t>
            </a:r>
            <a:endParaRPr lang="en-US" sz="1300" noProof="1"/>
          </a:p>
        </p:txBody>
      </p:sp>
      <p:sp>
        <p:nvSpPr>
          <p:cNvPr id="10" name="q1-title"/>
          <p:cNvSpPr txBox="1"/>
          <p:nvPr/>
        </p:nvSpPr>
        <p:spPr>
          <a:xfrm>
            <a:off x="5740400" y="1752600"/>
            <a:ext cx="5842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800" noProof="1" b="1">
                <a:solidFill>
                  <a:srgbClr val="263444"/>
                </a:solidFill>
                <a:latin typeface="MiSans"/>
                <a:ea typeface="MiSans"/>
              </a:rPr>
              <a:t>增长：模型供给是如何变化的？</a:t>
            </a:r>
            <a:endParaRPr lang="en-US" sz="1800" noProof="1"/>
          </a:p>
        </p:txBody>
      </p:sp>
      <p:sp>
        <p:nvSpPr>
          <p:cNvPr id="11" name="q1-desc"/>
          <p:cNvSpPr txBox="1"/>
          <p:nvPr/>
        </p:nvSpPr>
        <p:spPr>
          <a:xfrm>
            <a:off x="5740400" y="2133600"/>
            <a:ext cx="584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97788"/>
                </a:solidFill>
                <a:latin typeface="MiSans"/>
                <a:ea typeface="MiSans"/>
              </a:rPr>
              <a:t>快照可见模型的创建时间分布与月度峰值</a:t>
            </a:r>
            <a:endParaRPr lang="en-US" sz="1300" noProof="1"/>
          </a:p>
        </p:txBody>
      </p:sp>
      <p:sp>
        <p:nvSpPr>
          <p:cNvPr id="12" name="q1-rule"/>
          <p:cNvSpPr/>
          <p:nvPr>
            <p:extLst>
              <p:ext uri="{F5677B7D-0D2A-4D9B-9A5C-6D8D7D0E5A5D}">
                <pptd:line encoding="base64url">eyJ2aWV3Qm94IjpbNTA0LDFdLCJwb2ludHMiOiIwLDAgNTA0LDAiLCJjdXJ2ZSI6InNoYXJwIn0</pptd:line>
              </p:ext>
            </p:extLst>
          </p:nvPr>
        </p:nvSpPr>
        <p:spPr>
          <a:xfrm>
            <a:off x="5181600" y="2667000"/>
            <a:ext cx="6400800" cy="12700"/>
          </a:xfrm>
          <a:custGeom>
            <a:avLst/>
            <a:gdLst/>
            <a:ahLst/>
            <a:cxnLst/>
            <a:rect l="l" t="t" r="r" b="b"/>
            <a:pathLst>
              <a:path w="504" h="1">
                <a:moveTo>
                  <a:pt x="0" y="0"/>
                </a:moveTo>
                <a:lnTo>
                  <a:pt x="504" y="0"/>
                </a:lnTo>
              </a:path>
            </a:pathLst>
          </a:custGeom>
          <a:noFill/>
          <a:ln w="12700">
            <a:solidFill>
              <a:srgbClr val="DCE5ED"/>
            </a:solidFill>
          </a:ln>
        </p:spPr>
      </p:sp>
      <p:sp>
        <p:nvSpPr>
          <p:cNvPr id="13" name="q2-num"/>
          <p:cNvSpPr txBox="1"/>
          <p:nvPr/>
        </p:nvSpPr>
        <p:spPr>
          <a:xfrm>
            <a:off x="5181600" y="3022600"/>
            <a:ext cx="50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3778B3"/>
                </a:solidFill>
                <a:latin typeface="MiSans"/>
                <a:ea typeface="MiSans"/>
              </a:rPr>
              <a:t>02</a:t>
            </a:r>
            <a:endParaRPr lang="en-US" sz="1300" noProof="1"/>
          </a:p>
        </p:txBody>
      </p:sp>
      <p:sp>
        <p:nvSpPr>
          <p:cNvPr id="14" name="q2-title"/>
          <p:cNvSpPr txBox="1"/>
          <p:nvPr/>
        </p:nvSpPr>
        <p:spPr>
          <a:xfrm>
            <a:off x="5740400" y="2971800"/>
            <a:ext cx="5842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800" noProof="1" b="1">
                <a:solidFill>
                  <a:srgbClr val="263444"/>
                </a:solidFill>
                <a:latin typeface="MiSans"/>
                <a:ea typeface="MiSans"/>
              </a:rPr>
              <a:t>关注：下载量是否集中在少数模型？</a:t>
            </a:r>
            <a:endParaRPr lang="en-US" sz="1800" noProof="1"/>
          </a:p>
        </p:txBody>
      </p:sp>
      <p:sp>
        <p:nvSpPr>
          <p:cNvPr id="15" name="q2-desc"/>
          <p:cNvSpPr txBox="1"/>
          <p:nvPr/>
        </p:nvSpPr>
        <p:spPr>
          <a:xfrm>
            <a:off x="5740400" y="3352800"/>
            <a:ext cx="584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97788"/>
                </a:solidFill>
                <a:latin typeface="MiSans"/>
                <a:ea typeface="MiSans"/>
              </a:rPr>
              <a:t>近 30 天下载量的 Lorenz 曲线与 Gini 系数</a:t>
            </a:r>
            <a:endParaRPr lang="en-US" sz="1300" noProof="1"/>
          </a:p>
        </p:txBody>
      </p:sp>
      <p:sp>
        <p:nvSpPr>
          <p:cNvPr id="16" name="q2-rule"/>
          <p:cNvSpPr/>
          <p:nvPr>
            <p:extLst>
              <p:ext uri="{F5677B7D-0D2A-4D9B-9A5C-6D8D7D0E5A5D}">
                <pptd:line encoding="base64url">eyJ2aWV3Qm94IjpbNTA0LDFdLCJwb2ludHMiOiIwLDAgNTA0LDAiLCJjdXJ2ZSI6InNoYXJwIn0</pptd:line>
              </p:ext>
            </p:extLst>
          </p:nvPr>
        </p:nvSpPr>
        <p:spPr>
          <a:xfrm>
            <a:off x="5181600" y="3886200"/>
            <a:ext cx="6400800" cy="12700"/>
          </a:xfrm>
          <a:custGeom>
            <a:avLst/>
            <a:gdLst/>
            <a:ahLst/>
            <a:cxnLst/>
            <a:rect l="l" t="t" r="r" b="b"/>
            <a:pathLst>
              <a:path w="504" h="1">
                <a:moveTo>
                  <a:pt x="0" y="0"/>
                </a:moveTo>
                <a:lnTo>
                  <a:pt x="504" y="0"/>
                </a:lnTo>
              </a:path>
            </a:pathLst>
          </a:custGeom>
          <a:noFill/>
          <a:ln w="12700">
            <a:solidFill>
              <a:srgbClr val="DCE5ED"/>
            </a:solidFill>
          </a:ln>
        </p:spPr>
      </p:sp>
      <p:sp>
        <p:nvSpPr>
          <p:cNvPr id="17" name="q3-num"/>
          <p:cNvSpPr txBox="1"/>
          <p:nvPr/>
        </p:nvSpPr>
        <p:spPr>
          <a:xfrm>
            <a:off x="5181600" y="4241800"/>
            <a:ext cx="50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3778B3"/>
                </a:solidFill>
                <a:latin typeface="MiSans"/>
                <a:ea typeface="MiSans"/>
              </a:rPr>
              <a:t>03</a:t>
            </a:r>
            <a:endParaRPr lang="en-US" sz="1300" noProof="1"/>
          </a:p>
        </p:txBody>
      </p:sp>
      <p:sp>
        <p:nvSpPr>
          <p:cNvPr id="18" name="q3-title"/>
          <p:cNvSpPr txBox="1"/>
          <p:nvPr/>
        </p:nvSpPr>
        <p:spPr>
          <a:xfrm>
            <a:off x="5740400" y="4191000"/>
            <a:ext cx="5842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800" noProof="1" b="1">
                <a:solidFill>
                  <a:srgbClr val="263444"/>
                </a:solidFill>
                <a:latin typeface="MiSans"/>
                <a:ea typeface="MiSans"/>
              </a:rPr>
              <a:t>复用：哪些底座被大量衍生模型继承？</a:t>
            </a:r>
            <a:endParaRPr lang="en-US" sz="1800" noProof="1"/>
          </a:p>
        </p:txBody>
      </p:sp>
      <p:sp>
        <p:nvSpPr>
          <p:cNvPr id="19" name="q3-desc"/>
          <p:cNvSpPr txBox="1"/>
          <p:nvPr/>
        </p:nvSpPr>
        <p:spPr>
          <a:xfrm>
            <a:off x="5740400" y="4572000"/>
            <a:ext cx="584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97788"/>
                </a:solidFill>
                <a:latin typeface="MiSans"/>
                <a:ea typeface="MiSans"/>
              </a:rPr>
              <a:t>由元数据声明构建 base → derived 有向网络</a:t>
            </a:r>
            <a:endParaRPr lang="en-US" sz="1300" noProof="1"/>
          </a:p>
        </p:txBody>
      </p:sp>
      <p:sp>
        <p:nvSpPr>
          <p:cNvPr id="20" name="bottom-rule"/>
          <p:cNvSpPr/>
          <p:nvPr>
            <p:extLst>
              <p:ext uri="{F5677B7D-0D2A-4D9B-9A5C-6D8D7D0E5A5D}">
                <pptd:line encoding="base64url">eyJ2aWV3Qm94IjpbODY0LDFdLCJwb2ludHMiOiIwLDAgODY0LDAiLCJjdXJ2ZSI6InNoYXJwIn0</pptd:line>
              </p:ext>
            </p:extLst>
          </p:nvPr>
        </p:nvSpPr>
        <p:spPr>
          <a:xfrm>
            <a:off x="609600" y="5740400"/>
            <a:ext cx="10972800" cy="12700"/>
          </a:xfrm>
          <a:custGeom>
            <a:avLst/>
            <a:gdLst/>
            <a:ahLst/>
            <a:cxnLst/>
            <a:rect l="l" t="t" r="r" b="b"/>
            <a:pathLst>
              <a:path w="864" h="1">
                <a:moveTo>
                  <a:pt x="0" y="0"/>
                </a:moveTo>
                <a:lnTo>
                  <a:pt x="864" y="0"/>
                </a:lnTo>
              </a:path>
            </a:pathLst>
          </a:custGeom>
          <a:noFill/>
          <a:ln w="12700">
            <a:solidFill>
              <a:srgbClr val="DCE5ED"/>
            </a:solidFill>
          </a:ln>
        </p:spPr>
      </p:sp>
      <p:sp>
        <p:nvSpPr>
          <p:cNvPr id="21" name="bottom-note"/>
          <p:cNvSpPr txBox="1"/>
          <p:nvPr/>
        </p:nvSpPr>
        <p:spPr>
          <a:xfrm>
            <a:off x="609600" y="5918200"/>
            <a:ext cx="9906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697788"/>
                </a:solidFill>
                <a:latin typeface="MiSans"/>
                <a:ea typeface="MiSans"/>
              </a:rPr>
              <a:t>扩展分析：不同任务类型差异、模型属性与下载热度的同期统计关联（RQ4 / RQ5）。截止日 2026-10-10 为快照更新时间，并非完整历史归档。</a:t>
            </a:r>
            <a:endParaRPr lang="en-US" sz="1200" noProof="1"/>
          </a:p>
        </p:txBody>
      </p:sp>
      <p:sp>
        <p:nvSpPr>
          <p:cNvPr id="22" name="page-num"/>
          <p:cNvSpPr txBox="1"/>
          <p:nvPr/>
        </p:nvSpPr>
        <p:spPr>
          <a:xfrm>
            <a:off x="10922000" y="6451600"/>
            <a:ext cx="660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100" noProof="1">
                <a:solidFill>
                  <a:srgbClr val="697788"/>
                </a:solidFill>
                <a:latin typeface="MiSans"/>
                <a:ea typeface="MiSans"/>
              </a:rPr>
              <a:t>02 / 14</a:t>
            </a:r>
            <a:endParaRPr lang="en-US" sz="11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-label"/>
          <p:cNvSpPr txBox="1"/>
          <p:nvPr/>
        </p:nvSpPr>
        <p:spPr>
          <a:xfrm>
            <a:off x="609600" y="4064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spc="300" kern="0">
                <a:solidFill>
                  <a:srgbClr val="697788"/>
                </a:solidFill>
                <a:latin typeface="Arial"/>
                <a:ea typeface="微软雅黑"/>
              </a:rPr>
              <a:t>02 / DATA PIPELINE</a:t>
            </a:r>
            <a:endParaRPr lang="en-US" sz="1200" noProof="1"/>
          </a:p>
        </p:txBody>
      </p:sp>
      <p:sp>
        <p:nvSpPr>
          <p:cNvPr id="3" name="page-title"/>
          <p:cNvSpPr txBox="1"/>
          <p:nvPr/>
        </p:nvSpPr>
        <p:spPr>
          <a:xfrm>
            <a:off x="609600" y="685800"/>
            <a:ext cx="109728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700" noProof="1" b="1">
                <a:solidFill>
                  <a:srgbClr val="173653"/>
                </a:solidFill>
                <a:latin typeface="Arial"/>
                <a:ea typeface="微软雅黑"/>
              </a:rPr>
              <a:t>从公开快照到可复现分析，我们怎样处理数据</a:t>
            </a:r>
            <a:endParaRPr lang="en-US" sz="2700" noProof="1"/>
          </a:p>
        </p:txBody>
      </p:sp>
      <p:sp>
        <p:nvSpPr>
          <p:cNvPr id="4" name="title-rule"/>
          <p:cNvSpPr/>
          <p:nvPr>
            <p:extLst>
              <p:ext uri="{F5677B7D-0D2A-4D9B-9A5C-6D8D7D0E5A5D}">
                <pptd:line encoding="base64url">eyJ2aWV3Qm94IjpbODY0LDFdLCJwb2ludHMiOiIwLDAgODY0LDAiLCJjdXJ2ZSI6InNoYXJwIn0</pptd:line>
              </p:ext>
            </p:extLst>
          </p:nvPr>
        </p:nvSpPr>
        <p:spPr>
          <a:xfrm>
            <a:off x="609600" y="1346200"/>
            <a:ext cx="10972800" cy="12700"/>
          </a:xfrm>
          <a:custGeom>
            <a:avLst/>
            <a:gdLst/>
            <a:ahLst/>
            <a:cxnLst/>
            <a:rect l="l" t="t" r="r" b="b"/>
            <a:pathLst>
              <a:path w="864" h="1">
                <a:moveTo>
                  <a:pt x="0" y="0"/>
                </a:moveTo>
                <a:lnTo>
                  <a:pt x="864" y="0"/>
                </a:lnTo>
              </a:path>
            </a:pathLst>
          </a:custGeom>
          <a:noFill/>
          <a:ln w="12700">
            <a:solidFill>
              <a:srgbClr val="DCE5ED"/>
            </a:solidFill>
          </a:ln>
        </p:spPr>
      </p:sp>
      <p:sp>
        <p:nvSpPr>
          <p:cNvPr id="5" name="s1-tag"/>
          <p:cNvSpPr txBox="1"/>
          <p:nvPr/>
        </p:nvSpPr>
        <p:spPr>
          <a:xfrm>
            <a:off x="609600" y="1676400"/>
            <a:ext cx="2159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200" kern="0">
                <a:solidFill>
                  <a:srgbClr val="3778B3"/>
                </a:solidFill>
                <a:latin typeface="MiSans"/>
                <a:ea typeface="MiSans"/>
              </a:rPr>
              <a:t>BRONZE · 只读</a:t>
            </a:r>
            <a:endParaRPr lang="en-US" sz="1100" noProof="1"/>
          </a:p>
        </p:txBody>
      </p:sp>
      <p:sp>
        <p:nvSpPr>
          <p:cNvPr id="6" name="s1-title"/>
          <p:cNvSpPr txBox="1"/>
          <p:nvPr/>
        </p:nvSpPr>
        <p:spPr>
          <a:xfrm>
            <a:off x="609600" y="1930400"/>
            <a:ext cx="2159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700" noProof="1" b="1">
                <a:solidFill>
                  <a:srgbClr val="173653"/>
                </a:solidFill>
                <a:latin typeface="MiSans"/>
                <a:ea typeface="MiSans"/>
              </a:rPr>
              <a:t>Hugging Face 快照</a:t>
            </a:r>
            <a:endParaRPr lang="en-US" sz="1700" noProof="1"/>
          </a:p>
        </p:txBody>
      </p:sp>
      <p:sp>
        <p:nvSpPr>
          <p:cNvPr id="7" name="s1-rule"/>
          <p:cNvSpPr/>
          <p:nvPr/>
        </p:nvSpPr>
        <p:spPr>
          <a:xfrm>
            <a:off x="609600" y="2311400"/>
            <a:ext cx="508000" cy="25400"/>
          </a:xfrm>
          <a:prstGeom prst="rect">
            <a:avLst/>
          </a:prstGeom>
          <a:solidFill>
            <a:srgbClr val="3778B3"/>
          </a:solidFill>
          <a:ln>
            <a:noFill/>
          </a:ln>
        </p:spPr>
      </p:sp>
      <p:sp>
        <p:nvSpPr>
          <p:cNvPr id="8" name="s1-desc"/>
          <p:cNvSpPr txBox="1"/>
          <p:nvPr/>
        </p:nvSpPr>
        <p:spPr>
          <a:xfrm>
            <a:off x="609600" y="2489200"/>
            <a:ext cx="21590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250" noProof="1">
                <a:solidFill>
                  <a:srgbClr val="697788"/>
                </a:solidFill>
                <a:latin typeface="MiSans"/>
                <a:ea typeface="MiSans"/>
              </a:rPr>
              <a:t>models.parquet，1.49 GiB 原始快照，全程只读，不改动源数据</a:t>
            </a:r>
            <a:endParaRPr lang="en-US" sz="1250" noProof="1"/>
          </a:p>
        </p:txBody>
      </p:sp>
      <p:sp>
        <p:nvSpPr>
          <p:cNvPr id="9" name="arrow-1"/>
          <p:cNvSpPr/>
          <p:nvPr>
            <p:extLst>
              <p:ext uri="{F5677B7D-0D2A-4D9B-9A5C-6D8D7D0E5A5D}">
                <pptd:line encoding="base64url">eyJ2aWV3Qm94IjpbMjAsOF0sInBvaW50cyI6IjAsNCAyMCw0IiwiY3VydmUiOiJzaGFycCJ9</pptd:line>
              </p:ext>
            </p:extLst>
          </p:nvPr>
        </p:nvSpPr>
        <p:spPr>
          <a:xfrm>
            <a:off x="2819400" y="2133600"/>
            <a:ext cx="254000" cy="101600"/>
          </a:xfrm>
          <a:custGeom>
            <a:avLst/>
            <a:gdLst/>
            <a:ahLst/>
            <a:cxnLst/>
            <a:rect l="l" t="t" r="r" b="b"/>
            <a:pathLst>
              <a:path w="20" h="8">
                <a:moveTo>
                  <a:pt x="0" y="4"/>
                </a:moveTo>
                <a:lnTo>
                  <a:pt x="20" y="4"/>
                </a:lnTo>
              </a:path>
            </a:pathLst>
          </a:custGeom>
          <a:noFill/>
          <a:ln w="19050">
            <a:solidFill>
              <a:srgbClr val="8AB8DC"/>
            </a:solidFill>
            <a:tailEnd type="arrow"/>
          </a:ln>
        </p:spPr>
      </p:sp>
      <p:sp>
        <p:nvSpPr>
          <p:cNvPr id="10" name="s2-tag"/>
          <p:cNvSpPr txBox="1"/>
          <p:nvPr/>
        </p:nvSpPr>
        <p:spPr>
          <a:xfrm>
            <a:off x="3124200" y="1676400"/>
            <a:ext cx="26035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200" kern="0">
                <a:solidFill>
                  <a:srgbClr val="3778B3"/>
                </a:solidFill>
                <a:latin typeface="MiSans"/>
                <a:ea typeface="MiSans"/>
              </a:rPr>
              <a:t>SILVER · 清洗</a:t>
            </a:r>
            <a:endParaRPr lang="en-US" sz="1100" noProof="1"/>
          </a:p>
        </p:txBody>
      </p:sp>
      <p:sp>
        <p:nvSpPr>
          <p:cNvPr id="11" name="s2-title"/>
          <p:cNvSpPr txBox="1"/>
          <p:nvPr/>
        </p:nvSpPr>
        <p:spPr>
          <a:xfrm>
            <a:off x="3124200" y="1930400"/>
            <a:ext cx="26035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700" noProof="1" b="1">
                <a:solidFill>
                  <a:srgbClr val="173653"/>
                </a:solidFill>
                <a:latin typeface="MiSans"/>
                <a:ea typeface="MiSans"/>
              </a:rPr>
              <a:t>Spark 结构化</a:t>
            </a:r>
            <a:endParaRPr lang="en-US" sz="1700" noProof="1"/>
          </a:p>
        </p:txBody>
      </p:sp>
      <p:sp>
        <p:nvSpPr>
          <p:cNvPr id="12" name="s2-rule"/>
          <p:cNvSpPr/>
          <p:nvPr/>
        </p:nvSpPr>
        <p:spPr>
          <a:xfrm>
            <a:off x="3124200" y="2311400"/>
            <a:ext cx="508000" cy="25400"/>
          </a:xfrm>
          <a:prstGeom prst="rect">
            <a:avLst/>
          </a:prstGeom>
          <a:solidFill>
            <a:srgbClr val="3778B3"/>
          </a:solidFill>
          <a:ln>
            <a:noFill/>
          </a:ln>
        </p:spPr>
      </p:sp>
      <p:sp>
        <p:nvSpPr>
          <p:cNvPr id="13" name="s2-desc"/>
          <p:cNvSpPr txBox="1"/>
          <p:nvPr/>
        </p:nvSpPr>
        <p:spPr>
          <a:xfrm>
            <a:off x="3124200" y="2489200"/>
            <a:ext cx="26035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250" noProof="1">
                <a:solidFill>
                  <a:srgbClr val="697788"/>
                </a:solidFill>
                <a:latin typeface="MiSans"/>
                <a:ea typeface="MiSans"/>
              </a:rPr>
              <a:t>Schema 适配、按模型 ID 去重，展开 tags 与 baseModels 为独立长表</a:t>
            </a:r>
            <a:endParaRPr lang="en-US" sz="1250" noProof="1"/>
          </a:p>
        </p:txBody>
      </p:sp>
      <p:sp>
        <p:nvSpPr>
          <p:cNvPr id="14" name="arrow-2"/>
          <p:cNvSpPr/>
          <p:nvPr>
            <p:extLst>
              <p:ext uri="{F5677B7D-0D2A-4D9B-9A5C-6D8D7D0E5A5D}">
                <pptd:line encoding="base64url">eyJ2aWV3Qm94IjpbMjAsOF0sInBvaW50cyI6IjAsNCAyMCw0IiwiY3VydmUiOiJzaGFycCJ9</pptd:line>
              </p:ext>
            </p:extLst>
          </p:nvPr>
        </p:nvSpPr>
        <p:spPr>
          <a:xfrm>
            <a:off x="5778500" y="2133600"/>
            <a:ext cx="254000" cy="101600"/>
          </a:xfrm>
          <a:custGeom>
            <a:avLst/>
            <a:gdLst/>
            <a:ahLst/>
            <a:cxnLst/>
            <a:rect l="l" t="t" r="r" b="b"/>
            <a:pathLst>
              <a:path w="20" h="8">
                <a:moveTo>
                  <a:pt x="0" y="4"/>
                </a:moveTo>
                <a:lnTo>
                  <a:pt x="20" y="4"/>
                </a:lnTo>
              </a:path>
            </a:pathLst>
          </a:custGeom>
          <a:noFill/>
          <a:ln w="19050">
            <a:solidFill>
              <a:srgbClr val="8AB8DC"/>
            </a:solidFill>
            <a:tailEnd type="arrow"/>
          </a:ln>
        </p:spPr>
      </p:sp>
      <p:sp>
        <p:nvSpPr>
          <p:cNvPr id="15" name="s3-tag"/>
          <p:cNvSpPr txBox="1"/>
          <p:nvPr/>
        </p:nvSpPr>
        <p:spPr>
          <a:xfrm>
            <a:off x="6083300" y="1676400"/>
            <a:ext cx="2794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200" kern="0">
                <a:solidFill>
                  <a:srgbClr val="3778B3"/>
                </a:solidFill>
                <a:latin typeface="MiSans"/>
                <a:ea typeface="MiSans"/>
              </a:rPr>
              <a:t>GOLD · 统计</a:t>
            </a:r>
            <a:endParaRPr lang="en-US" sz="1100" noProof="1"/>
          </a:p>
        </p:txBody>
      </p:sp>
      <p:sp>
        <p:nvSpPr>
          <p:cNvPr id="16" name="s3-title"/>
          <p:cNvSpPr txBox="1"/>
          <p:nvPr/>
        </p:nvSpPr>
        <p:spPr>
          <a:xfrm>
            <a:off x="6083300" y="1930400"/>
            <a:ext cx="2794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700" noProof="1" b="1">
                <a:solidFill>
                  <a:srgbClr val="173653"/>
                </a:solidFill>
                <a:latin typeface="MiSans"/>
                <a:ea typeface="MiSans"/>
              </a:rPr>
              <a:t>统计结果表</a:t>
            </a:r>
            <a:endParaRPr lang="en-US" sz="1700" noProof="1"/>
          </a:p>
        </p:txBody>
      </p:sp>
      <p:sp>
        <p:nvSpPr>
          <p:cNvPr id="17" name="s3-rule"/>
          <p:cNvSpPr/>
          <p:nvPr/>
        </p:nvSpPr>
        <p:spPr>
          <a:xfrm>
            <a:off x="6083300" y="2311400"/>
            <a:ext cx="508000" cy="25400"/>
          </a:xfrm>
          <a:prstGeom prst="rect">
            <a:avLst/>
          </a:prstGeom>
          <a:solidFill>
            <a:srgbClr val="3778B3"/>
          </a:solidFill>
          <a:ln>
            <a:noFill/>
          </a:ln>
        </p:spPr>
      </p:sp>
      <p:sp>
        <p:nvSpPr>
          <p:cNvPr id="18" name="s3-desc"/>
          <p:cNvSpPr txBox="1"/>
          <p:nvPr/>
        </p:nvSpPr>
        <p:spPr>
          <a:xfrm>
            <a:off x="6083300" y="2489200"/>
            <a:ext cx="27940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250" noProof="1">
                <a:solidFill>
                  <a:srgbClr val="697788"/>
                </a:solidFill>
                <a:latin typeface="MiSans"/>
                <a:ea typeface="MiSans"/>
              </a:rPr>
              <a:t>月度创建趋势、Lorenz 曲线点、谱系边表、任务分组统计</a:t>
            </a:r>
            <a:endParaRPr lang="en-US" sz="1250" noProof="1"/>
          </a:p>
        </p:txBody>
      </p:sp>
      <p:sp>
        <p:nvSpPr>
          <p:cNvPr id="19" name="arrow-3"/>
          <p:cNvSpPr/>
          <p:nvPr>
            <p:extLst>
              <p:ext uri="{F5677B7D-0D2A-4D9B-9A5C-6D8D7D0E5A5D}">
                <pptd:line encoding="base64url">eyJ2aWV3Qm94IjpbMjAsOF0sInBvaW50cyI6IjAsNCAyMCw0IiwiY3VydmUiOiJzaGFycCJ9</pptd:line>
              </p:ext>
            </p:extLst>
          </p:nvPr>
        </p:nvSpPr>
        <p:spPr>
          <a:xfrm>
            <a:off x="8928100" y="2133600"/>
            <a:ext cx="254000" cy="101600"/>
          </a:xfrm>
          <a:custGeom>
            <a:avLst/>
            <a:gdLst/>
            <a:ahLst/>
            <a:cxnLst/>
            <a:rect l="l" t="t" r="r" b="b"/>
            <a:pathLst>
              <a:path w="20" h="8">
                <a:moveTo>
                  <a:pt x="0" y="4"/>
                </a:moveTo>
                <a:lnTo>
                  <a:pt x="20" y="4"/>
                </a:lnTo>
              </a:path>
            </a:pathLst>
          </a:custGeom>
          <a:noFill/>
          <a:ln w="19050">
            <a:solidFill>
              <a:srgbClr val="8AB8DC"/>
            </a:solidFill>
            <a:tailEnd type="arrow"/>
          </a:ln>
        </p:spPr>
      </p:sp>
      <p:sp>
        <p:nvSpPr>
          <p:cNvPr id="20" name="s4-tag"/>
          <p:cNvSpPr txBox="1"/>
          <p:nvPr/>
        </p:nvSpPr>
        <p:spPr>
          <a:xfrm>
            <a:off x="9232900" y="1676400"/>
            <a:ext cx="23495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200" kern="0">
                <a:solidFill>
                  <a:srgbClr val="3778B3"/>
                </a:solidFill>
                <a:latin typeface="MiSans"/>
                <a:ea typeface="MiSans"/>
              </a:rPr>
              <a:t>OUTPUT · 分析</a:t>
            </a:r>
            <a:endParaRPr lang="en-US" sz="1100" noProof="1"/>
          </a:p>
        </p:txBody>
      </p:sp>
      <p:sp>
        <p:nvSpPr>
          <p:cNvPr id="21" name="s4-title"/>
          <p:cNvSpPr txBox="1"/>
          <p:nvPr/>
        </p:nvSpPr>
        <p:spPr>
          <a:xfrm>
            <a:off x="9232900" y="1930400"/>
            <a:ext cx="23495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700" noProof="1" b="1">
                <a:solidFill>
                  <a:srgbClr val="173653"/>
                </a:solidFill>
                <a:latin typeface="MiSans"/>
                <a:ea typeface="MiSans"/>
              </a:rPr>
              <a:t>分析输出</a:t>
            </a:r>
            <a:endParaRPr lang="en-US" sz="1700" noProof="1"/>
          </a:p>
        </p:txBody>
      </p:sp>
      <p:sp>
        <p:nvSpPr>
          <p:cNvPr id="22" name="s4-rule"/>
          <p:cNvSpPr/>
          <p:nvPr/>
        </p:nvSpPr>
        <p:spPr>
          <a:xfrm>
            <a:off x="9232900" y="2311400"/>
            <a:ext cx="508000" cy="25400"/>
          </a:xfrm>
          <a:prstGeom prst="rect">
            <a:avLst/>
          </a:prstGeom>
          <a:solidFill>
            <a:srgbClr val="3778B3"/>
          </a:solidFill>
          <a:ln>
            <a:noFill/>
          </a:ln>
        </p:spPr>
      </p:sp>
      <p:sp>
        <p:nvSpPr>
          <p:cNvPr id="23" name="s4-desc"/>
          <p:cNvSpPr txBox="1"/>
          <p:nvPr/>
        </p:nvSpPr>
        <p:spPr>
          <a:xfrm>
            <a:off x="9232900" y="2489200"/>
            <a:ext cx="23495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250" noProof="1">
                <a:solidFill>
                  <a:srgbClr val="697788"/>
                </a:solidFill>
                <a:latin typeface="MiSans"/>
                <a:ea typeface="MiSans"/>
              </a:rPr>
              <a:t>GraphFrames 图计算、MLlib 建模、可视化与报告</a:t>
            </a:r>
            <a:endParaRPr lang="en-US" sz="1250" noProof="1"/>
          </a:p>
        </p:txBody>
      </p:sp>
      <p:sp>
        <p:nvSpPr>
          <p:cNvPr id="24" name="num-rule"/>
          <p:cNvSpPr/>
          <p:nvPr>
            <p:extLst>
              <p:ext uri="{F5677B7D-0D2A-4D9B-9A5C-6D8D7D0E5A5D}">
                <pptd:line encoding="base64url">eyJ2aWV3Qm94IjpbODY0LDFdLCJwb2ludHMiOiIwLDAgODY0LDAiLCJjdXJ2ZSI6InNoYXJwIn0</pptd:line>
              </p:ext>
            </p:extLst>
          </p:nvPr>
        </p:nvSpPr>
        <p:spPr>
          <a:xfrm>
            <a:off x="609600" y="4013200"/>
            <a:ext cx="10972800" cy="12700"/>
          </a:xfrm>
          <a:custGeom>
            <a:avLst/>
            <a:gdLst/>
            <a:ahLst/>
            <a:cxnLst/>
            <a:rect l="l" t="t" r="r" b="b"/>
            <a:pathLst>
              <a:path w="864" h="1">
                <a:moveTo>
                  <a:pt x="0" y="0"/>
                </a:moveTo>
                <a:lnTo>
                  <a:pt x="864" y="0"/>
                </a:lnTo>
              </a:path>
            </a:pathLst>
          </a:custGeom>
          <a:noFill/>
          <a:ln w="12700">
            <a:solidFill>
              <a:srgbClr val="DCE5ED"/>
            </a:solidFill>
          </a:ln>
        </p:spPr>
      </p:sp>
      <p:sp>
        <p:nvSpPr>
          <p:cNvPr id="25" name="n1"/>
          <p:cNvSpPr txBox="1"/>
          <p:nvPr/>
        </p:nvSpPr>
        <p:spPr>
          <a:xfrm>
            <a:off x="609600" y="4241800"/>
            <a:ext cx="2540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500" noProof="1" b="1">
                <a:solidFill>
                  <a:srgbClr val="173653"/>
                </a:solidFill>
                <a:latin typeface="MiSans"/>
                <a:ea typeface="MiSans"/>
              </a:rPr>
              <a:t>3,138,959</a:t>
            </a:r>
            <a:endParaRPr lang="en-US" sz="2500" noProof="1"/>
          </a:p>
        </p:txBody>
      </p:sp>
      <p:sp>
        <p:nvSpPr>
          <p:cNvPr id="26" name="n1-cap"/>
          <p:cNvSpPr txBox="1"/>
          <p:nvPr/>
        </p:nvSpPr>
        <p:spPr>
          <a:xfrm>
            <a:off x="609600" y="47244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697788"/>
                </a:solidFill>
                <a:latin typeface="MiSans"/>
                <a:ea typeface="MiSans"/>
              </a:rPr>
              <a:t>源物理行（Bronze）</a:t>
            </a:r>
            <a:endParaRPr lang="en-US" sz="1100" noProof="1"/>
          </a:p>
        </p:txBody>
      </p:sp>
      <p:sp>
        <p:nvSpPr>
          <p:cNvPr id="27" name="n2"/>
          <p:cNvSpPr txBox="1"/>
          <p:nvPr/>
        </p:nvSpPr>
        <p:spPr>
          <a:xfrm>
            <a:off x="3403600" y="4241800"/>
            <a:ext cx="2540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500" noProof="1" b="1">
                <a:solidFill>
                  <a:srgbClr val="173653"/>
                </a:solidFill>
                <a:latin typeface="MiSans"/>
                <a:ea typeface="MiSans"/>
              </a:rPr>
              <a:t>3,138,954</a:t>
            </a:r>
            <a:endParaRPr lang="en-US" sz="2500" noProof="1"/>
          </a:p>
        </p:txBody>
      </p:sp>
      <p:sp>
        <p:nvSpPr>
          <p:cNvPr id="28" name="n2-cap"/>
          <p:cNvSpPr txBox="1"/>
          <p:nvPr/>
        </p:nvSpPr>
        <p:spPr>
          <a:xfrm>
            <a:off x="3403600" y="47244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697788"/>
                </a:solidFill>
                <a:latin typeface="MiSans"/>
                <a:ea typeface="MiSans"/>
              </a:rPr>
              <a:t>按 ID 去重后的模型数</a:t>
            </a:r>
            <a:endParaRPr lang="en-US" sz="1100" noProof="1"/>
          </a:p>
        </p:txBody>
      </p:sp>
      <p:sp>
        <p:nvSpPr>
          <p:cNvPr id="29" name="n3"/>
          <p:cNvSpPr txBox="1"/>
          <p:nvPr/>
        </p:nvSpPr>
        <p:spPr>
          <a:xfrm>
            <a:off x="6197600" y="4241800"/>
            <a:ext cx="2540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500" noProof="1" b="1">
                <a:solidFill>
                  <a:srgbClr val="173653"/>
                </a:solidFill>
                <a:latin typeface="MiSans"/>
                <a:ea typeface="MiSans"/>
              </a:rPr>
              <a:t>20,625,635</a:t>
            </a:r>
            <a:endParaRPr lang="en-US" sz="2500" noProof="1"/>
          </a:p>
        </p:txBody>
      </p:sp>
      <p:sp>
        <p:nvSpPr>
          <p:cNvPr id="30" name="n3-cap"/>
          <p:cNvSpPr txBox="1"/>
          <p:nvPr/>
        </p:nvSpPr>
        <p:spPr>
          <a:xfrm>
            <a:off x="6197600" y="47244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697788"/>
                </a:solidFill>
                <a:latin typeface="MiSans"/>
                <a:ea typeface="MiSans"/>
              </a:rPr>
              <a:t>展开后的标签行</a:t>
            </a:r>
            <a:endParaRPr lang="en-US" sz="1100" noProof="1"/>
          </a:p>
        </p:txBody>
      </p:sp>
      <p:sp>
        <p:nvSpPr>
          <p:cNvPr id="31" name="n4"/>
          <p:cNvSpPr txBox="1"/>
          <p:nvPr/>
        </p:nvSpPr>
        <p:spPr>
          <a:xfrm>
            <a:off x="8991600" y="4241800"/>
            <a:ext cx="2540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500" noProof="1" b="1">
                <a:solidFill>
                  <a:srgbClr val="173653"/>
                </a:solidFill>
                <a:latin typeface="MiSans"/>
                <a:ea typeface="MiSans"/>
              </a:rPr>
              <a:t>919,839</a:t>
            </a:r>
            <a:endParaRPr lang="en-US" sz="2500" noProof="1"/>
          </a:p>
        </p:txBody>
      </p:sp>
      <p:sp>
        <p:nvSpPr>
          <p:cNvPr id="32" name="n4-cap"/>
          <p:cNvSpPr txBox="1"/>
          <p:nvPr/>
        </p:nvSpPr>
        <p:spPr>
          <a:xfrm>
            <a:off x="8991600" y="47244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697788"/>
                </a:solidFill>
                <a:latin typeface="MiSans"/>
                <a:ea typeface="MiSans"/>
              </a:rPr>
              <a:t>显式血缘边（base → derived）</a:t>
            </a:r>
            <a:endParaRPr lang="en-US" sz="1100" noProof="1"/>
          </a:p>
        </p:txBody>
      </p:sp>
      <p:sp>
        <p:nvSpPr>
          <p:cNvPr id="33" name="env-rule"/>
          <p:cNvSpPr/>
          <p:nvPr>
            <p:extLst>
              <p:ext uri="{F5677B7D-0D2A-4D9B-9A5C-6D8D7D0E5A5D}">
                <pptd:line encoding="base64url">eyJ2aWV3Qm94IjpbODY0LDFdLCJwb2ludHMiOiIwLDAgODY0LDAiLCJjdXJ2ZSI6InNoYXJwIn0</pptd:line>
              </p:ext>
            </p:extLst>
          </p:nvPr>
        </p:nvSpPr>
        <p:spPr>
          <a:xfrm>
            <a:off x="609600" y="5740400"/>
            <a:ext cx="10972800" cy="12700"/>
          </a:xfrm>
          <a:custGeom>
            <a:avLst/>
            <a:gdLst/>
            <a:ahLst/>
            <a:cxnLst/>
            <a:rect l="l" t="t" r="r" b="b"/>
            <a:pathLst>
              <a:path w="864" h="1">
                <a:moveTo>
                  <a:pt x="0" y="0"/>
                </a:moveTo>
                <a:lnTo>
                  <a:pt x="864" y="0"/>
                </a:lnTo>
              </a:path>
            </a:pathLst>
          </a:custGeom>
          <a:noFill/>
          <a:ln w="12700">
            <a:solidFill>
              <a:srgbClr val="DCE5ED"/>
            </a:solidFill>
          </a:ln>
        </p:spPr>
      </p:sp>
      <p:sp>
        <p:nvSpPr>
          <p:cNvPr id="34" name="env-note"/>
          <p:cNvSpPr txBox="1"/>
          <p:nvPr/>
        </p:nvSpPr>
        <p:spPr>
          <a:xfrm>
            <a:off x="609600" y="5918200"/>
            <a:ext cx="9906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97788"/>
                </a:solidFill>
                <a:latin typeface="MiSans"/>
                <a:ea typeface="MiSans"/>
              </a:rPr>
              <a:t>运行环境：Windows 11 / PySpark 4.2.0 / local[6] / driver 3 GB —— 单机多核执行，并非多台机器组成的集群</a:t>
            </a:r>
            <a:endParaRPr lang="en-US" sz="1200" noProof="1"/>
          </a:p>
        </p:txBody>
      </p:sp>
      <p:sp>
        <p:nvSpPr>
          <p:cNvPr id="35" name="page-num"/>
          <p:cNvSpPr txBox="1"/>
          <p:nvPr/>
        </p:nvSpPr>
        <p:spPr>
          <a:xfrm>
            <a:off x="10922000" y="6451600"/>
            <a:ext cx="660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100" noProof="1">
                <a:solidFill>
                  <a:srgbClr val="697788"/>
                </a:solidFill>
                <a:latin typeface="MiSans"/>
                <a:ea typeface="MiSans"/>
              </a:rPr>
              <a:t>03 / 14</a:t>
            </a:r>
            <a:endParaRPr lang="en-US" sz="11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-label"/>
          <p:cNvSpPr txBox="1"/>
          <p:nvPr/>
        </p:nvSpPr>
        <p:spPr>
          <a:xfrm>
            <a:off x="609600" y="4064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spc="300" kern="0">
                <a:solidFill>
                  <a:srgbClr val="697788"/>
                </a:solidFill>
                <a:latin typeface="Arial"/>
                <a:ea typeface="微软雅黑"/>
              </a:rPr>
              <a:t>03 / RQ1 · GROWTH</a:t>
            </a:r>
            <a:endParaRPr lang="en-US" sz="1200" noProof="1"/>
          </a:p>
        </p:txBody>
      </p:sp>
      <p:sp>
        <p:nvSpPr>
          <p:cNvPr id="3" name="page-title"/>
          <p:cNvSpPr txBox="1"/>
          <p:nvPr/>
        </p:nvSpPr>
        <p:spPr>
          <a:xfrm>
            <a:off x="609600" y="685800"/>
            <a:ext cx="109728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700" noProof="1" b="1">
                <a:solidFill>
                  <a:srgbClr val="173653"/>
                </a:solidFill>
                <a:latin typeface="Arial"/>
                <a:ea typeface="微软雅黑"/>
              </a:rPr>
              <a:t>模型数量持续增长，但快照不是完整历史</a:t>
            </a:r>
            <a:endParaRPr lang="en-US" sz="2700" noProof="1"/>
          </a:p>
        </p:txBody>
      </p:sp>
      <p:sp>
        <p:nvSpPr>
          <p:cNvPr id="4" name="title-rule"/>
          <p:cNvSpPr/>
          <p:nvPr>
            <p:extLst>
              <p:ext uri="{F5677B7D-0D2A-4D9B-9A5C-6D8D7D0E5A5D}">
                <pptd:line encoding="base64url">eyJ2aWV3Qm94IjpbODY0LDFdLCJwb2ludHMiOiIwLDAgODY0LDAiLCJjdXJ2ZSI6InNoYXJwIn0</pptd:line>
              </p:ext>
            </p:extLst>
          </p:nvPr>
        </p:nvSpPr>
        <p:spPr>
          <a:xfrm>
            <a:off x="609600" y="1346200"/>
            <a:ext cx="10972800" cy="12700"/>
          </a:xfrm>
          <a:custGeom>
            <a:avLst/>
            <a:gdLst/>
            <a:ahLst/>
            <a:cxnLst/>
            <a:rect l="l" t="t" r="r" b="b"/>
            <a:pathLst>
              <a:path w="864" h="1">
                <a:moveTo>
                  <a:pt x="0" y="0"/>
                </a:moveTo>
                <a:lnTo>
                  <a:pt x="864" y="0"/>
                </a:lnTo>
              </a:path>
            </a:pathLst>
          </a:custGeom>
          <a:noFill/>
          <a:ln w="12700">
            <a:solidFill>
              <a:srgbClr val="DCE5ED"/>
            </a:solidFill>
          </a:ln>
        </p:spPr>
      </p:sp>
      <p:pic>
        <p:nvPicPr>
          <p:cNvPr id="5" name="fig01"/>
          <p:cNvPicPr/>
          <p:nvPr/>
        </p:nvPicPr>
        <p:blipFill>
          <a:blip r:embed="rId2"/>
          <a:srcRect l="-7" r="-7"/>
          <a:stretch>
            <a:fillRect/>
          </a:stretch>
        </p:blipFill>
        <p:spPr>
          <a:xfrm>
            <a:off x="609600" y="1600200"/>
            <a:ext cx="7620000" cy="3733800"/>
          </a:xfrm>
          <a:prstGeom prst="rect">
            <a:avLst/>
          </a:prstGeom>
          <a:ln>
            <a:noFill/>
          </a:ln>
        </p:spPr>
      </p:pic>
      <p:sp>
        <p:nvSpPr>
          <p:cNvPr id="6" name="peak-number"/>
          <p:cNvSpPr txBox="1"/>
          <p:nvPr/>
        </p:nvSpPr>
        <p:spPr>
          <a:xfrm>
            <a:off x="8686800" y="2133600"/>
            <a:ext cx="28956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4000" noProof="1" b="1">
                <a:solidFill>
                  <a:srgbClr val="173653"/>
                </a:solidFill>
                <a:latin typeface="MiSans"/>
                <a:ea typeface="MiSans"/>
              </a:rPr>
              <a:t>125,030</a:t>
            </a:r>
            <a:endParaRPr lang="en-US" sz="4000" noProof="1"/>
          </a:p>
        </p:txBody>
      </p:sp>
      <p:sp>
        <p:nvSpPr>
          <p:cNvPr id="7" name="peak-caption"/>
          <p:cNvSpPr txBox="1"/>
          <p:nvPr/>
        </p:nvSpPr>
        <p:spPr>
          <a:xfrm>
            <a:off x="8686800" y="2946400"/>
            <a:ext cx="28956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300" noProof="1">
                <a:solidFill>
                  <a:srgbClr val="263444"/>
                </a:solidFill>
                <a:latin typeface="MiSans"/>
                <a:ea typeface="MiSans"/>
              </a:rPr>
              <a:t>2024 年 9 月：快照中创建时间落在该月的模型数量峰值</a:t>
            </a:r>
            <a:endParaRPr lang="en-US" sz="1300" noProof="1"/>
          </a:p>
        </p:txBody>
      </p:sp>
      <p:sp>
        <p:nvSpPr>
          <p:cNvPr id="8" name="peak-note"/>
          <p:cNvSpPr txBox="1"/>
          <p:nvPr/>
        </p:nvSpPr>
        <p:spPr>
          <a:xfrm>
            <a:off x="8686800" y="3911600"/>
            <a:ext cx="28956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697788"/>
                </a:solidFill>
                <a:latin typeface="MiSans"/>
                <a:ea typeface="MiSans"/>
              </a:rPr>
              <a:t>2026 年 10 月尚未结束（图中红色柱），不应与完整月份直接比较</a:t>
            </a:r>
            <a:endParaRPr lang="en-US" sz="1200" noProof="1"/>
          </a:p>
        </p:txBody>
      </p:sp>
      <p:sp>
        <p:nvSpPr>
          <p:cNvPr id="9" name="fig-note"/>
          <p:cNvSpPr txBox="1"/>
          <p:nvPr/>
        </p:nvSpPr>
        <p:spPr>
          <a:xfrm>
            <a:off x="609600" y="5969000"/>
            <a:ext cx="9906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697788"/>
                </a:solidFill>
                <a:latin typeface="MiSans"/>
                <a:ea typeface="MiSans"/>
              </a:rPr>
              <a:t>注：统计的是当前快照仍可见模型的创建时间分布，不等于完整历史发布记录；2022-03（橙色柱）存在异常时间戳堆积，根因未证实，不作原因推断。图表来源：figures_final/fig01_monthly_evolution</a:t>
            </a:r>
            <a:endParaRPr lang="en-US" sz="1100" noProof="1"/>
          </a:p>
        </p:txBody>
      </p:sp>
      <p:sp>
        <p:nvSpPr>
          <p:cNvPr id="10" name="page-num"/>
          <p:cNvSpPr txBox="1"/>
          <p:nvPr/>
        </p:nvSpPr>
        <p:spPr>
          <a:xfrm>
            <a:off x="10922000" y="6451600"/>
            <a:ext cx="660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100" noProof="1">
                <a:solidFill>
                  <a:srgbClr val="697788"/>
                </a:solidFill>
                <a:latin typeface="MiSans"/>
                <a:ea typeface="MiSans"/>
              </a:rPr>
              <a:t>04 / 14</a:t>
            </a:r>
            <a:endParaRPr lang="en-US" sz="110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-label"/>
          <p:cNvSpPr txBox="1"/>
          <p:nvPr/>
        </p:nvSpPr>
        <p:spPr>
          <a:xfrm>
            <a:off x="609600" y="4064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spc="300" kern="0">
                <a:solidFill>
                  <a:srgbClr val="697788"/>
                </a:solidFill>
                <a:latin typeface="Arial"/>
                <a:ea typeface="微软雅黑"/>
              </a:rPr>
              <a:t>04 / RQ2 · CONCENTRATION</a:t>
            </a:r>
            <a:endParaRPr lang="en-US" sz="1200" noProof="1"/>
          </a:p>
        </p:txBody>
      </p:sp>
      <p:sp>
        <p:nvSpPr>
          <p:cNvPr id="3" name="page-title"/>
          <p:cNvSpPr txBox="1"/>
          <p:nvPr/>
        </p:nvSpPr>
        <p:spPr>
          <a:xfrm>
            <a:off x="609600" y="685800"/>
            <a:ext cx="109728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700" noProof="1" b="1">
                <a:solidFill>
                  <a:srgbClr val="173653"/>
                </a:solidFill>
                <a:latin typeface="Arial"/>
                <a:ea typeface="微软雅黑"/>
              </a:rPr>
              <a:t>前 1% 的模型获得了 97.13% 的近 30 天下载量</a:t>
            </a:r>
            <a:endParaRPr lang="en-US" sz="2700" noProof="1"/>
          </a:p>
        </p:txBody>
      </p:sp>
      <p:sp>
        <p:nvSpPr>
          <p:cNvPr id="4" name="title-rule"/>
          <p:cNvSpPr/>
          <p:nvPr>
            <p:extLst>
              <p:ext uri="{F5677B7D-0D2A-4D9B-9A5C-6D8D7D0E5A5D}">
                <pptd:line encoding="base64url">eyJ2aWV3Qm94IjpbODY0LDFdLCJwb2ludHMiOiIwLDAgODY0LDAiLCJjdXJ2ZSI6InNoYXJwIn0</pptd:line>
              </p:ext>
            </p:extLst>
          </p:nvPr>
        </p:nvSpPr>
        <p:spPr>
          <a:xfrm>
            <a:off x="609600" y="1346200"/>
            <a:ext cx="10972800" cy="12700"/>
          </a:xfrm>
          <a:custGeom>
            <a:avLst/>
            <a:gdLst/>
            <a:ahLst/>
            <a:cxnLst/>
            <a:rect l="l" t="t" r="r" b="b"/>
            <a:pathLst>
              <a:path w="864" h="1">
                <a:moveTo>
                  <a:pt x="0" y="0"/>
                </a:moveTo>
                <a:lnTo>
                  <a:pt x="864" y="0"/>
                </a:lnTo>
              </a:path>
            </a:pathLst>
          </a:custGeom>
          <a:noFill/>
          <a:ln w="12700">
            <a:solidFill>
              <a:srgbClr val="DCE5ED"/>
            </a:solidFill>
          </a:ln>
        </p:spPr>
      </p:sp>
      <p:pic>
        <p:nvPicPr>
          <p:cNvPr id="5" name="fig05"/>
          <p:cNvPicPr/>
          <p:nvPr/>
        </p:nvPicPr>
        <p:blipFill>
          <a:blip r:embed="rId2"/>
          <a:srcRect t="-4" b="-4"/>
          <a:stretch>
            <a:fillRect/>
          </a:stretch>
        </p:blipFill>
        <p:spPr>
          <a:xfrm>
            <a:off x="609600" y="1574800"/>
            <a:ext cx="5080000" cy="4394200"/>
          </a:xfrm>
          <a:prstGeom prst="rect">
            <a:avLst/>
          </a:prstGeom>
          <a:ln>
            <a:noFill/>
          </a:ln>
        </p:spPr>
      </p:pic>
      <p:sp>
        <p:nvSpPr>
          <p:cNvPr id="6" name="big-pct"/>
          <p:cNvSpPr txBox="1"/>
          <p:nvPr/>
        </p:nvSpPr>
        <p:spPr>
          <a:xfrm>
            <a:off x="6350000" y="1905000"/>
            <a:ext cx="52324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5400" noProof="1" b="1">
                <a:solidFill>
                  <a:srgbClr val="173653"/>
                </a:solidFill>
                <a:latin typeface="MiSans"/>
                <a:ea typeface="MiSans"/>
              </a:rPr>
              <a:t>97.13%</a:t>
            </a:r>
            <a:endParaRPr lang="en-US" sz="5400" noProof="1"/>
          </a:p>
        </p:txBody>
      </p:sp>
      <p:sp>
        <p:nvSpPr>
          <p:cNvPr id="7" name="gold-underline"/>
          <p:cNvSpPr/>
          <p:nvPr/>
        </p:nvSpPr>
        <p:spPr>
          <a:xfrm>
            <a:off x="6375400" y="2870200"/>
            <a:ext cx="1143000" cy="38100"/>
          </a:xfrm>
          <a:prstGeom prst="rect">
            <a:avLst/>
          </a:prstGeom>
          <a:solidFill>
            <a:srgbClr val="F3B945"/>
          </a:solidFill>
          <a:ln>
            <a:noFill/>
          </a:ln>
        </p:spPr>
      </p:sp>
      <p:sp>
        <p:nvSpPr>
          <p:cNvPr id="8" name="big-pct-caption"/>
          <p:cNvSpPr txBox="1"/>
          <p:nvPr/>
        </p:nvSpPr>
        <p:spPr>
          <a:xfrm>
            <a:off x="6350000" y="3048000"/>
            <a:ext cx="5232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>
                <a:solidFill>
                  <a:srgbClr val="263444"/>
                </a:solidFill>
                <a:latin typeface="MiSans"/>
                <a:ea typeface="MiSans"/>
              </a:rPr>
              <a:t>Top 1% 模型所占的近 30 天下载份额</a:t>
            </a:r>
            <a:endParaRPr lang="en-US" sz="1400" noProof="1"/>
          </a:p>
        </p:txBody>
      </p:sp>
      <p:sp>
        <p:nvSpPr>
          <p:cNvPr id="9" name="sub-stats"/>
          <p:cNvSpPr txBox="1"/>
          <p:nvPr/>
        </p:nvSpPr>
        <p:spPr>
          <a:xfrm>
            <a:off x="6350000" y="3708400"/>
            <a:ext cx="52324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70000"/>
              </a:lnSpc>
            </a:pPr>
            <a:r>
              <a:rPr lang="en-US" sz="1400" noProof="1">
                <a:solidFill>
                  <a:srgbClr val="263444"/>
                </a:solidFill>
                <a:latin typeface="MiSans"/>
                <a:ea typeface="MiSans"/>
              </a:rPr>
              <a:t>Gini = </a:t>
            </a:r>
            <a:r>
              <a:rPr lang="en-US" sz="1400" noProof="1" b="1">
                <a:solidFill>
                  <a:srgbClr val="263444"/>
                </a:solidFill>
                <a:latin typeface="MiSans"/>
                <a:ea typeface="MiSans"/>
              </a:rPr>
              <a:t>0.995355</a:t>
            </a:r>
            <a:r>
              <a:rPr lang="en-US" sz="1400" noProof="1">
                <a:solidFill>
                  <a:srgbClr val="263444"/>
                </a:solidFill>
                <a:latin typeface="MiSans"/>
                <a:ea typeface="MiSans"/>
              </a:rPr>
              <a:t>（近 30 天下载量口径）</a:t>
            </a:r>
            <a:endParaRPr lang="en-US" sz="1400" noProof="1"/>
          </a:p>
          <a:p>
            <a:pPr>
              <a:lnSpc>
                <a:spcPct val="170000"/>
              </a:lnSpc>
            </a:pPr>
            <a:r>
              <a:rPr lang="en-US" sz="1400" noProof="1" b="1">
                <a:solidFill>
                  <a:srgbClr val="263444"/>
                </a:solidFill>
                <a:latin typeface="MiSans"/>
                <a:ea typeface="MiSans"/>
              </a:rPr>
              <a:t>43.54%</a:t>
            </a:r>
            <a:r>
              <a:rPr lang="en-US" sz="1400" noProof="1">
                <a:solidFill>
                  <a:srgbClr val="263444"/>
                </a:solidFill>
                <a:latin typeface="MiSans"/>
                <a:ea typeface="MiSans"/>
              </a:rPr>
              <a:t> 的模型近 30 天下载量为零</a:t>
            </a:r>
            <a:endParaRPr lang="en-US" sz="1400" noProof="1"/>
          </a:p>
        </p:txBody>
      </p:sp>
      <p:sp>
        <p:nvSpPr>
          <p:cNvPr id="10" name="sub-note"/>
          <p:cNvSpPr txBox="1"/>
          <p:nvPr/>
        </p:nvSpPr>
        <p:spPr>
          <a:xfrm>
            <a:off x="6350000" y="4724400"/>
            <a:ext cx="52324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697788"/>
                </a:solidFill>
                <a:latin typeface="MiSans"/>
                <a:ea typeface="MiSans"/>
              </a:rPr>
              <a:t>剔除零下载模型后补充验证 Gini 仍为 0.991773，集中现象并非仅由零下载记录造成（详见备份页 B）</a:t>
            </a:r>
            <a:endParaRPr lang="en-US" sz="1200" noProof="1"/>
          </a:p>
        </p:txBody>
      </p:sp>
      <p:sp>
        <p:nvSpPr>
          <p:cNvPr id="11" name="fig-note"/>
          <p:cNvSpPr txBox="1"/>
          <p:nvPr/>
        </p:nvSpPr>
        <p:spPr>
          <a:xfrm>
            <a:off x="609600" y="6146800"/>
            <a:ext cx="9906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697788"/>
                </a:solidFill>
                <a:latin typeface="MiSans"/>
                <a:ea typeface="MiSans"/>
              </a:rPr>
              <a:t>downloads = 近 30 天下载量；长尾形态不等于已通过幂律分布检验；下载次数既不是独立用户数，也不是模型质量</a:t>
            </a:r>
            <a:endParaRPr lang="en-US" sz="1100" noProof="1"/>
          </a:p>
        </p:txBody>
      </p:sp>
      <p:sp>
        <p:nvSpPr>
          <p:cNvPr id="12" name="page-num"/>
          <p:cNvSpPr txBox="1"/>
          <p:nvPr/>
        </p:nvSpPr>
        <p:spPr>
          <a:xfrm>
            <a:off x="10922000" y="6451600"/>
            <a:ext cx="660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100" noProof="1">
                <a:solidFill>
                  <a:srgbClr val="697788"/>
                </a:solidFill>
                <a:latin typeface="MiSans"/>
                <a:ea typeface="MiSans"/>
              </a:rPr>
              <a:t>05 / 14</a:t>
            </a:r>
            <a:endParaRPr lang="en-US" sz="110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-label"/>
          <p:cNvSpPr txBox="1"/>
          <p:nvPr/>
        </p:nvSpPr>
        <p:spPr>
          <a:xfrm>
            <a:off x="609600" y="4064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spc="300" kern="0">
                <a:solidFill>
                  <a:srgbClr val="697788"/>
                </a:solidFill>
                <a:latin typeface="Arial"/>
                <a:ea typeface="微软雅黑"/>
              </a:rPr>
              <a:t>05 / RQ3 · LINEAGE</a:t>
            </a:r>
            <a:endParaRPr lang="en-US" sz="1200" noProof="1"/>
          </a:p>
        </p:txBody>
      </p:sp>
      <p:sp>
        <p:nvSpPr>
          <p:cNvPr id="3" name="page-title"/>
          <p:cNvSpPr txBox="1"/>
          <p:nvPr/>
        </p:nvSpPr>
        <p:spPr>
          <a:xfrm>
            <a:off x="609600" y="685800"/>
            <a:ext cx="109728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700" noProof="1" b="1">
                <a:solidFill>
                  <a:srgbClr val="173653"/>
                </a:solidFill>
                <a:latin typeface="Arial"/>
                <a:ea typeface="微软雅黑"/>
              </a:rPr>
              <a:t>近 92 万条显式继承关系，连接起模型家族</a:t>
            </a:r>
            <a:endParaRPr lang="en-US" sz="2700" noProof="1"/>
          </a:p>
        </p:txBody>
      </p:sp>
      <p:sp>
        <p:nvSpPr>
          <p:cNvPr id="4" name="title-rule"/>
          <p:cNvSpPr/>
          <p:nvPr>
            <p:extLst>
              <p:ext uri="{F5677B7D-0D2A-4D9B-9A5C-6D8D7D0E5A5D}">
                <pptd:line encoding="base64url">eyJ2aWV3Qm94IjpbODY0LDFdLCJwb2ludHMiOiIwLDAgODY0LDAiLCJjdXJ2ZSI6InNoYXJwIn0</pptd:line>
              </p:ext>
            </p:extLst>
          </p:nvPr>
        </p:nvSpPr>
        <p:spPr>
          <a:xfrm>
            <a:off x="609600" y="1346200"/>
            <a:ext cx="10972800" cy="12700"/>
          </a:xfrm>
          <a:custGeom>
            <a:avLst/>
            <a:gdLst/>
            <a:ahLst/>
            <a:cxnLst/>
            <a:rect l="l" t="t" r="r" b="b"/>
            <a:pathLst>
              <a:path w="864" h="1">
                <a:moveTo>
                  <a:pt x="0" y="0"/>
                </a:moveTo>
                <a:lnTo>
                  <a:pt x="864" y="0"/>
                </a:lnTo>
              </a:path>
            </a:pathLst>
          </a:custGeom>
          <a:noFill/>
          <a:ln w="12700">
            <a:solidFill>
              <a:srgbClr val="DCE5ED"/>
            </a:solidFill>
          </a:ln>
        </p:spPr>
      </p:sp>
      <p:pic>
        <p:nvPicPr>
          <p:cNvPr id="5" name="fig07"/>
          <p:cNvPicPr/>
          <p:nvPr/>
        </p:nvPicPr>
        <p:blipFill>
          <a:blip r:embed="rId2"/>
          <a:srcRect t="-38" b="-38"/>
          <a:stretch>
            <a:fillRect/>
          </a:stretch>
        </p:blipFill>
        <p:spPr>
          <a:xfrm>
            <a:off x="609600" y="1549400"/>
            <a:ext cx="7493000" cy="4330700"/>
          </a:xfrm>
          <a:prstGeom prst="rect">
            <a:avLst/>
          </a:prstGeom>
          <a:ln>
            <a:noFill/>
          </a:ln>
        </p:spPr>
      </p:pic>
      <p:sp>
        <p:nvSpPr>
          <p:cNvPr id="6" name="r1-num"/>
          <p:cNvSpPr txBox="1"/>
          <p:nvPr/>
        </p:nvSpPr>
        <p:spPr>
          <a:xfrm>
            <a:off x="8585200" y="1752600"/>
            <a:ext cx="29972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173653"/>
                </a:solidFill>
                <a:latin typeface="MiSans"/>
                <a:ea typeface="MiSans"/>
              </a:rPr>
              <a:t>919,839</a:t>
            </a:r>
            <a:endParaRPr lang="en-US" sz="2600" noProof="1"/>
          </a:p>
        </p:txBody>
      </p:sp>
      <p:sp>
        <p:nvSpPr>
          <p:cNvPr id="7" name="r1-cap"/>
          <p:cNvSpPr txBox="1"/>
          <p:nvPr/>
        </p:nvSpPr>
        <p:spPr>
          <a:xfrm>
            <a:off x="8585200" y="2235200"/>
            <a:ext cx="29972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00" noProof="1">
                <a:solidFill>
                  <a:srgbClr val="697788"/>
                </a:solidFill>
                <a:latin typeface="MiSans"/>
                <a:ea typeface="MiSans"/>
              </a:rPr>
              <a:t>明确报告的 base → derived 继承关系（边）</a:t>
            </a:r>
            <a:endParaRPr lang="en-US" sz="1200" noProof="1"/>
          </a:p>
        </p:txBody>
      </p:sp>
      <p:sp>
        <p:nvSpPr>
          <p:cNvPr id="8" name="r1-rule"/>
          <p:cNvSpPr/>
          <p:nvPr>
            <p:extLst>
              <p:ext uri="{F5677B7D-0D2A-4D9B-9A5C-6D8D7D0E5A5D}">
                <pptd:line encoding="base64url">eyJ2aWV3Qm94IjpbMjM2LDFdLCJwb2ludHMiOiIwLDAgMjM2LDAiLCJjdXJ2ZSI6InNoYXJwIn0</pptd:line>
              </p:ext>
            </p:extLst>
          </p:nvPr>
        </p:nvSpPr>
        <p:spPr>
          <a:xfrm>
            <a:off x="8585200" y="2794000"/>
            <a:ext cx="2997200" cy="12700"/>
          </a:xfrm>
          <a:custGeom>
            <a:avLst/>
            <a:gdLst/>
            <a:ahLst/>
            <a:cxnLst/>
            <a:rect l="l" t="t" r="r" b="b"/>
            <a:pathLst>
              <a:path w="236" h="1">
                <a:moveTo>
                  <a:pt x="0" y="0"/>
                </a:moveTo>
                <a:lnTo>
                  <a:pt x="236" y="0"/>
                </a:lnTo>
              </a:path>
            </a:pathLst>
          </a:custGeom>
          <a:noFill/>
          <a:ln w="12700">
            <a:solidFill>
              <a:srgbClr val="DCE5ED"/>
            </a:solidFill>
          </a:ln>
        </p:spPr>
      </p:sp>
      <p:sp>
        <p:nvSpPr>
          <p:cNvPr id="9" name="r2-num"/>
          <p:cNvSpPr txBox="1"/>
          <p:nvPr/>
        </p:nvSpPr>
        <p:spPr>
          <a:xfrm>
            <a:off x="8585200" y="3022600"/>
            <a:ext cx="29972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173653"/>
                </a:solidFill>
                <a:latin typeface="MiSans"/>
                <a:ea typeface="MiSans"/>
              </a:rPr>
              <a:t>931,066</a:t>
            </a:r>
            <a:endParaRPr lang="en-US" sz="2600" noProof="1"/>
          </a:p>
        </p:txBody>
      </p:sp>
      <p:sp>
        <p:nvSpPr>
          <p:cNvPr id="10" name="r2-cap"/>
          <p:cNvSpPr txBox="1"/>
          <p:nvPr/>
        </p:nvSpPr>
        <p:spPr>
          <a:xfrm>
            <a:off x="8585200" y="3505200"/>
            <a:ext cx="29972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00" noProof="1">
                <a:solidFill>
                  <a:srgbClr val="697788"/>
                </a:solidFill>
                <a:latin typeface="MiSans"/>
                <a:ea typeface="MiSans"/>
              </a:rPr>
              <a:t>参与这些关系的模型节点（点）</a:t>
            </a:r>
            <a:endParaRPr lang="en-US" sz="1200" noProof="1"/>
          </a:p>
        </p:txBody>
      </p:sp>
      <p:sp>
        <p:nvSpPr>
          <p:cNvPr id="11" name="r2-rule"/>
          <p:cNvSpPr/>
          <p:nvPr>
            <p:extLst>
              <p:ext uri="{F5677B7D-0D2A-4D9B-9A5C-6D8D7D0E5A5D}">
                <pptd:line encoding="base64url">eyJ2aWV3Qm94IjpbMjM2LDFdLCJwb2ludHMiOiIwLDAgMjM2LDAiLCJjdXJ2ZSI6InNoYXJwIn0</pptd:line>
              </p:ext>
            </p:extLst>
          </p:nvPr>
        </p:nvSpPr>
        <p:spPr>
          <a:xfrm>
            <a:off x="8585200" y="4064000"/>
            <a:ext cx="2997200" cy="12700"/>
          </a:xfrm>
          <a:custGeom>
            <a:avLst/>
            <a:gdLst/>
            <a:ahLst/>
            <a:cxnLst/>
            <a:rect l="l" t="t" r="r" b="b"/>
            <a:pathLst>
              <a:path w="236" h="1">
                <a:moveTo>
                  <a:pt x="0" y="0"/>
                </a:moveTo>
                <a:lnTo>
                  <a:pt x="236" y="0"/>
                </a:lnTo>
              </a:path>
            </a:pathLst>
          </a:custGeom>
          <a:noFill/>
          <a:ln w="12700">
            <a:solidFill>
              <a:srgbClr val="DCE5ED"/>
            </a:solidFill>
          </a:ln>
        </p:spPr>
      </p:sp>
      <p:sp>
        <p:nvSpPr>
          <p:cNvPr id="12" name="r3-num"/>
          <p:cNvSpPr txBox="1"/>
          <p:nvPr/>
        </p:nvSpPr>
        <p:spPr>
          <a:xfrm>
            <a:off x="8585200" y="4292600"/>
            <a:ext cx="29972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173653"/>
                </a:solidFill>
                <a:latin typeface="MiSans"/>
                <a:ea typeface="MiSans"/>
              </a:rPr>
              <a:t>43,419</a:t>
            </a:r>
            <a:endParaRPr lang="en-US" sz="2600" noProof="1"/>
          </a:p>
        </p:txBody>
      </p:sp>
      <p:sp>
        <p:nvSpPr>
          <p:cNvPr id="13" name="r3-cap"/>
          <p:cNvSpPr txBox="1"/>
          <p:nvPr/>
        </p:nvSpPr>
        <p:spPr>
          <a:xfrm>
            <a:off x="8585200" y="4775200"/>
            <a:ext cx="29972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00" noProof="1">
                <a:solidFill>
                  <a:srgbClr val="697788"/>
                </a:solidFill>
                <a:latin typeface="MiSans"/>
                <a:ea typeface="MiSans"/>
              </a:rPr>
              <a:t>FLUX.1-dev 的直接衍生模型数（children_count，不等于全部后代）</a:t>
            </a:r>
            <a:endParaRPr lang="en-US" sz="1200" noProof="1"/>
          </a:p>
        </p:txBody>
      </p:sp>
      <p:sp>
        <p:nvSpPr>
          <p:cNvPr id="14" name="fig-note"/>
          <p:cNvSpPr txBox="1"/>
          <p:nvPr/>
        </p:nvSpPr>
        <p:spPr>
          <a:xfrm>
            <a:off x="609600" y="60198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697788"/>
                </a:solidFill>
                <a:latin typeface="MiSans"/>
                <a:ea typeface="MiSans"/>
              </a:rPr>
              <a:t>图例：深色大节点 = 底座 base，浅色小节点 = 衍生 derived，边方向 base → derived；右侧两个为示例家族子图，并非 93 万节点的全量网络可视化。71.74% 模型缺少 baseModels 信息，不能反推其没有继承关系。</a:t>
            </a:r>
            <a:endParaRPr lang="en-US" sz="1100" noProof="1"/>
          </a:p>
        </p:txBody>
      </p:sp>
      <p:sp>
        <p:nvSpPr>
          <p:cNvPr id="15" name="page-num"/>
          <p:cNvSpPr txBox="1"/>
          <p:nvPr/>
        </p:nvSpPr>
        <p:spPr>
          <a:xfrm>
            <a:off x="10922000" y="6451600"/>
            <a:ext cx="660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100" noProof="1">
                <a:solidFill>
                  <a:srgbClr val="697788"/>
                </a:solidFill>
                <a:latin typeface="MiSans"/>
                <a:ea typeface="MiSans"/>
              </a:rPr>
              <a:t>06 / 14</a:t>
            </a:r>
            <a:endParaRPr lang="en-US" sz="110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-label"/>
          <p:cNvSpPr txBox="1"/>
          <p:nvPr/>
        </p:nvSpPr>
        <p:spPr>
          <a:xfrm>
            <a:off x="609600" y="4064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spc="300" kern="0">
                <a:solidFill>
                  <a:srgbClr val="697788"/>
                </a:solidFill>
                <a:latin typeface="Arial"/>
                <a:ea typeface="微软雅黑"/>
              </a:rPr>
              <a:t>06 / RQ4 · ATTRIBUTES</a:t>
            </a:r>
            <a:endParaRPr lang="en-US" sz="1200" noProof="1"/>
          </a:p>
        </p:txBody>
      </p:sp>
      <p:sp>
        <p:nvSpPr>
          <p:cNvPr id="3" name="page-title"/>
          <p:cNvSpPr txBox="1"/>
          <p:nvPr/>
        </p:nvSpPr>
        <p:spPr>
          <a:xfrm>
            <a:off x="609600" y="685800"/>
            <a:ext cx="109728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700" noProof="1" b="1">
                <a:solidFill>
                  <a:srgbClr val="173653"/>
                </a:solidFill>
                <a:latin typeface="Arial"/>
                <a:ea typeface="微软雅黑"/>
              </a:rPr>
              <a:t>模型属性与下载量有关联，但不是未来热度预测</a:t>
            </a:r>
            <a:endParaRPr lang="en-US" sz="2700" noProof="1"/>
          </a:p>
        </p:txBody>
      </p:sp>
      <p:sp>
        <p:nvSpPr>
          <p:cNvPr id="4" name="title-rule"/>
          <p:cNvSpPr/>
          <p:nvPr>
            <p:extLst>
              <p:ext uri="{F5677B7D-0D2A-4D9B-9A5C-6D8D7D0E5A5D}">
                <pptd:line encoding="base64url">eyJ2aWV3Qm94IjpbODY0LDFdLCJwb2ludHMiOiIwLDAgODY0LDAiLCJjdXJ2ZSI6InNoYXJwIn0</pptd:line>
              </p:ext>
            </p:extLst>
          </p:nvPr>
        </p:nvSpPr>
        <p:spPr>
          <a:xfrm>
            <a:off x="609600" y="1346200"/>
            <a:ext cx="10972800" cy="12700"/>
          </a:xfrm>
          <a:custGeom>
            <a:avLst/>
            <a:gdLst/>
            <a:ahLst/>
            <a:cxnLst/>
            <a:rect l="l" t="t" r="r" b="b"/>
            <a:pathLst>
              <a:path w="864" h="1">
                <a:moveTo>
                  <a:pt x="0" y="0"/>
                </a:moveTo>
                <a:lnTo>
                  <a:pt x="864" y="0"/>
                </a:lnTo>
              </a:path>
            </a:pathLst>
          </a:custGeom>
          <a:noFill/>
          <a:ln w="12700">
            <a:solidFill>
              <a:srgbClr val="DCE5ED"/>
            </a:solidFill>
          </a:ln>
        </p:spPr>
      </p:sp>
      <p:pic>
        <p:nvPicPr>
          <p:cNvPr id="5" name="fig09"/>
          <p:cNvPicPr/>
          <p:nvPr/>
        </p:nvPicPr>
        <p:blipFill>
          <a:blip r:embed="rId2"/>
          <a:srcRect l="-108" r="-108"/>
          <a:stretch>
            <a:fillRect/>
          </a:stretch>
        </p:blipFill>
        <p:spPr>
          <a:xfrm>
            <a:off x="609600" y="1905000"/>
            <a:ext cx="7112000" cy="2806700"/>
          </a:xfrm>
          <a:prstGeom prst="rect">
            <a:avLst/>
          </a:prstGeom>
          <a:ln>
            <a:noFill/>
          </a:ln>
        </p:spPr>
      </p:pic>
      <p:sp>
        <p:nvSpPr>
          <p:cNvPr id="6" name="r2-label"/>
          <p:cNvSpPr txBox="1"/>
          <p:nvPr/>
        </p:nvSpPr>
        <p:spPr>
          <a:xfrm>
            <a:off x="8229600" y="2006600"/>
            <a:ext cx="33528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400" noProof="1" b="1">
                <a:solidFill>
                  <a:srgbClr val="173653"/>
                </a:solidFill>
                <a:latin typeface="MiSans"/>
                <a:ea typeface="MiSans"/>
              </a:rPr>
              <a:t>R² = 0.6631</a:t>
            </a:r>
            <a:endParaRPr lang="en-US" sz="3400" noProof="1"/>
          </a:p>
        </p:txBody>
      </p:sp>
      <p:sp>
        <p:nvSpPr>
          <p:cNvPr id="7" name="r2-caption"/>
          <p:cNvSpPr txBox="1"/>
          <p:nvPr/>
        </p:nvSpPr>
        <p:spPr>
          <a:xfrm>
            <a:off x="8229600" y="2667000"/>
            <a:ext cx="33528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263444"/>
                </a:solidFill>
                <a:latin typeface="MiSans"/>
                <a:ea typeface="MiSans"/>
              </a:rPr>
              <a:t>RandomForest / 独立测试集</a:t>
            </a:r>
            <a:endParaRPr lang="en-US" sz="1300" noProof="1"/>
          </a:p>
        </p:txBody>
      </p:sp>
      <p:sp>
        <p:nvSpPr>
          <p:cNvPr id="8" name="r2-others"/>
          <p:cNvSpPr txBox="1"/>
          <p:nvPr/>
        </p:nvSpPr>
        <p:spPr>
          <a:xfrm>
            <a:off x="8229600" y="3098800"/>
            <a:ext cx="33528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97788"/>
                </a:solidFill>
                <a:latin typeface="MiSans"/>
                <a:ea typeface="MiSans"/>
              </a:rPr>
              <a:t>Linear Regression 0.4177 · GBT 0.6313</a:t>
            </a:r>
            <a:endParaRPr lang="en-US" sz="1200" noProof="1"/>
          </a:p>
        </p:txBody>
      </p:sp>
      <p:sp>
        <p:nvSpPr>
          <p:cNvPr id="9" name="qual-bar"/>
          <p:cNvSpPr/>
          <p:nvPr/>
        </p:nvSpPr>
        <p:spPr>
          <a:xfrm>
            <a:off x="8229600" y="3759200"/>
            <a:ext cx="38100" cy="558800"/>
          </a:xfrm>
          <a:prstGeom prst="rect">
            <a:avLst/>
          </a:prstGeom>
          <a:solidFill>
            <a:srgbClr val="F3B945"/>
          </a:solidFill>
          <a:ln>
            <a:noFill/>
          </a:ln>
        </p:spPr>
      </p:sp>
      <p:sp>
        <p:nvSpPr>
          <p:cNvPr id="10" name="qual-text"/>
          <p:cNvSpPr txBox="1"/>
          <p:nvPr/>
        </p:nvSpPr>
        <p:spPr>
          <a:xfrm>
            <a:off x="8432800" y="3759200"/>
            <a:ext cx="31496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400" noProof="1" b="1">
                <a:solidFill>
                  <a:srgbClr val="173653"/>
                </a:solidFill>
                <a:latin typeface="MiSans"/>
                <a:ea typeface="MiSans"/>
              </a:rPr>
              <a:t>同期统计关联 ≠ 预测未来下载量</a:t>
            </a:r>
            <a:endParaRPr lang="en-US" sz="1400" noProof="1"/>
          </a:p>
        </p:txBody>
      </p:sp>
      <p:sp>
        <p:nvSpPr>
          <p:cNvPr id="11" name="fig-caption"/>
          <p:cNvSpPr txBox="1"/>
          <p:nvPr/>
        </p:nvSpPr>
        <p:spPr>
          <a:xfrm>
            <a:off x="609600" y="4978400"/>
            <a:ext cx="711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697788"/>
                </a:solidFill>
                <a:latin typeface="MiSans"/>
                <a:ea typeface="MiSans"/>
              </a:rPr>
              <a:t>左：随机森林特征重要性；右：独立测试集上的模型对比（RMSE 与 R²）</a:t>
            </a:r>
            <a:endParaRPr lang="en-US" sz="1100" noProof="1"/>
          </a:p>
        </p:txBody>
      </p:sp>
      <p:sp>
        <p:nvSpPr>
          <p:cNvPr id="12" name="bottom-rule"/>
          <p:cNvSpPr/>
          <p:nvPr>
            <p:extLst>
              <p:ext uri="{F5677B7D-0D2A-4D9B-9A5C-6D8D7D0E5A5D}">
                <pptd:line encoding="base64url">eyJ2aWV3Qm94IjpbODY0LDFdLCJwb2ludHMiOiIwLDAgODY0LDAiLCJjdXJ2ZSI6InNoYXJwIn0</pptd:line>
              </p:ext>
            </p:extLst>
          </p:nvPr>
        </p:nvSpPr>
        <p:spPr>
          <a:xfrm>
            <a:off x="609600" y="5740400"/>
            <a:ext cx="10972800" cy="12700"/>
          </a:xfrm>
          <a:custGeom>
            <a:avLst/>
            <a:gdLst/>
            <a:ahLst/>
            <a:cxnLst/>
            <a:rect l="l" t="t" r="r" b="b"/>
            <a:pathLst>
              <a:path w="864" h="1">
                <a:moveTo>
                  <a:pt x="0" y="0"/>
                </a:moveTo>
                <a:lnTo>
                  <a:pt x="864" y="0"/>
                </a:lnTo>
              </a:path>
            </a:pathLst>
          </a:custGeom>
          <a:noFill/>
          <a:ln w="12700">
            <a:solidFill>
              <a:srgbClr val="DCE5ED"/>
            </a:solidFill>
          </a:ln>
        </p:spPr>
      </p:sp>
      <p:sp>
        <p:nvSpPr>
          <p:cNvPr id="13" name="fig-note"/>
          <p:cNvSpPr txBox="1"/>
          <p:nvPr/>
        </p:nvSpPr>
        <p:spPr>
          <a:xfrm>
            <a:off x="609600" y="5918200"/>
            <a:ext cx="9906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697788"/>
                </a:solidFill>
                <a:latin typeface="MiSans"/>
                <a:ea typeface="MiSans"/>
              </a:rPr>
              <a:t>样本 626,269（确定性采样）；先划分训练 / 测试（约 8:2），仅在测试集评估；目标变量为 log(1 + downloads)。特征与下载量取自同一时点快照。</a:t>
            </a:r>
            <a:endParaRPr lang="en-US" sz="1100" noProof="1"/>
          </a:p>
        </p:txBody>
      </p:sp>
      <p:sp>
        <p:nvSpPr>
          <p:cNvPr id="14" name="page-num"/>
          <p:cNvSpPr txBox="1"/>
          <p:nvPr/>
        </p:nvSpPr>
        <p:spPr>
          <a:xfrm>
            <a:off x="10922000" y="6451600"/>
            <a:ext cx="660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100" noProof="1">
                <a:solidFill>
                  <a:srgbClr val="697788"/>
                </a:solidFill>
                <a:latin typeface="MiSans"/>
                <a:ea typeface="MiSans"/>
              </a:rPr>
              <a:t>07 / 14</a:t>
            </a:r>
            <a:endParaRPr lang="en-US" sz="110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-label"/>
          <p:cNvSpPr txBox="1"/>
          <p:nvPr/>
        </p:nvSpPr>
        <p:spPr>
          <a:xfrm>
            <a:off x="609600" y="4064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spc="300" kern="0">
                <a:solidFill>
                  <a:srgbClr val="697788"/>
                </a:solidFill>
                <a:latin typeface="Arial"/>
                <a:ea typeface="微软雅黑"/>
              </a:rPr>
              <a:t>07 / RQ5 · TASKS</a:t>
            </a:r>
            <a:endParaRPr lang="en-US" sz="1200" noProof="1"/>
          </a:p>
        </p:txBody>
      </p:sp>
      <p:sp>
        <p:nvSpPr>
          <p:cNvPr id="3" name="page-title"/>
          <p:cNvSpPr txBox="1"/>
          <p:nvPr/>
        </p:nvSpPr>
        <p:spPr>
          <a:xfrm>
            <a:off x="609600" y="685800"/>
            <a:ext cx="109728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700" noProof="1" b="1">
                <a:solidFill>
                  <a:srgbClr val="173653"/>
                </a:solidFill>
                <a:latin typeface="Arial"/>
                <a:ea typeface="微软雅黑"/>
              </a:rPr>
              <a:t>不同任务类型的模型数量和继承比例并不相同</a:t>
            </a:r>
            <a:endParaRPr lang="en-US" sz="2700" noProof="1"/>
          </a:p>
        </p:txBody>
      </p:sp>
      <p:sp>
        <p:nvSpPr>
          <p:cNvPr id="4" name="title-rule"/>
          <p:cNvSpPr/>
          <p:nvPr>
            <p:extLst>
              <p:ext uri="{F5677B7D-0D2A-4D9B-9A5C-6D8D7D0E5A5D}">
                <pptd:line encoding="base64url">eyJ2aWV3Qm94IjpbODY0LDFdLCJwb2ludHMiOiIwLDAgODY0LDAiLCJjdXJ2ZSI6InNoYXJwIn0</pptd:line>
              </p:ext>
            </p:extLst>
          </p:nvPr>
        </p:nvSpPr>
        <p:spPr>
          <a:xfrm>
            <a:off x="609600" y="1346200"/>
            <a:ext cx="10972800" cy="12700"/>
          </a:xfrm>
          <a:custGeom>
            <a:avLst/>
            <a:gdLst/>
            <a:ahLst/>
            <a:cxnLst/>
            <a:rect l="l" t="t" r="r" b="b"/>
            <a:pathLst>
              <a:path w="864" h="1">
                <a:moveTo>
                  <a:pt x="0" y="0"/>
                </a:moveTo>
                <a:lnTo>
                  <a:pt x="864" y="0"/>
                </a:lnTo>
              </a:path>
            </a:pathLst>
          </a:custGeom>
          <a:noFill/>
          <a:ln w="12700">
            <a:solidFill>
              <a:srgbClr val="DCE5ED"/>
            </a:solidFill>
          </a:ln>
        </p:spPr>
      </p:sp>
      <p:pic>
        <p:nvPicPr>
          <p:cNvPr id="5" name="fig04"/>
          <p:cNvPicPr/>
          <p:nvPr/>
        </p:nvPicPr>
        <p:blipFill>
          <a:blip r:embed="rId2"/>
          <a:srcRect t="-45" b="-45"/>
          <a:stretch>
            <a:fillRect/>
          </a:stretch>
        </p:blipFill>
        <p:spPr>
          <a:xfrm>
            <a:off x="1663700" y="1447800"/>
            <a:ext cx="8864600" cy="3810000"/>
          </a:xfrm>
          <a:prstGeom prst="rect">
            <a:avLst/>
          </a:prstGeom>
          <a:ln>
            <a:noFill/>
          </a:ln>
        </p:spPr>
      </p:pic>
      <p:graphicFrame>
        <p:nvGraphicFramePr>
          <p:cNvPr id="6" name="task-table"/>
          <p:cNvGraphicFramePr>
            <a:graphicFrameLocks noGrp="1"/>
          </p:cNvGraphicFramePr>
          <p:nvPr/>
        </p:nvGraphicFramePr>
        <p:xfrm>
          <a:off x="1663700" y="5384800"/>
          <a:ext cx="8864600" cy="838200"/>
        </p:xfrm>
        <a:graphic>
          <a:graphicData uri="http://schemas.openxmlformats.org/drawingml/2006/table">
            <a:tbl>
              <a:tblPr/>
              <a:tblGrid>
                <a:gridCol w="3545840"/>
                <a:gridCol w="2659380"/>
                <a:gridCol w="2659380"/>
              </a:tblGrid>
              <a:tr h="268224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 noProof="1" b="1">
                          <a:solidFill>
                            <a:srgbClr val="173653"/>
                          </a:solidFill>
                          <a:latin typeface="Arial"/>
                          <a:ea typeface="微软雅黑"/>
                        </a:rPr>
                        <a:t>任务类型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73653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 noProof="1" b="1">
                          <a:solidFill>
                            <a:srgbClr val="173653"/>
                          </a:solidFill>
                          <a:latin typeface="Arial"/>
                          <a:ea typeface="微软雅黑"/>
                        </a:rPr>
                        <a:t>快照可见模型数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73653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 noProof="1" b="1">
                          <a:solidFill>
                            <a:srgbClr val="173653"/>
                          </a:solidFill>
                          <a:latin typeface="Arial"/>
                          <a:ea typeface="微软雅黑"/>
                        </a:rPr>
                        <a:t>已声明底座关系比例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73653"/>
                      </a:solidFill>
                    </a:lnB>
                    <a:noFill/>
                  </a:tcPr>
                </a:tc>
              </a:tr>
              <a:tr h="284988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263444"/>
                          </a:solidFill>
                          <a:latin typeface="Arial"/>
                          <a:ea typeface="微软雅黑"/>
                        </a:rPr>
                        <a:t>Text Generation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CE5ED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263444"/>
                          </a:solidFill>
                          <a:latin typeface="Arial"/>
                          <a:ea typeface="微软雅黑"/>
                        </a:rPr>
                        <a:t>422,224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CE5ED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263444"/>
                          </a:solidFill>
                          <a:latin typeface="Arial"/>
                          <a:ea typeface="微软雅黑"/>
                        </a:rPr>
                        <a:t>46.38%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CE5ED"/>
                      </a:solidFill>
                    </a:lnB>
                    <a:noFill/>
                  </a:tcPr>
                </a:tc>
              </a:tr>
              <a:tr h="284988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263444"/>
                          </a:solidFill>
                          <a:latin typeface="Arial"/>
                          <a:ea typeface="微软雅黑"/>
                        </a:rPr>
                        <a:t>Text to Image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CE5ED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263444"/>
                          </a:solidFill>
                          <a:latin typeface="Arial"/>
                          <a:ea typeface="微软雅黑"/>
                        </a:rPr>
                        <a:t>111,444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CE5ED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263444"/>
                          </a:solidFill>
                          <a:latin typeface="Arial"/>
                          <a:ea typeface="微软雅黑"/>
                        </a:rPr>
                        <a:t>71.34%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CE5ED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fig-note"/>
          <p:cNvSpPr txBox="1"/>
          <p:nvPr/>
        </p:nvSpPr>
        <p:spPr>
          <a:xfrm>
            <a:off x="1663700" y="6324600"/>
            <a:ext cx="88646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697788"/>
                </a:solidFill>
                <a:latin typeface="MiSans"/>
                <a:ea typeface="MiSans"/>
              </a:rPr>
              <a:t>仅比较已标注任务；任务标签缺失 65.55%，统一视为 unknown，不参与任务间排序</a:t>
            </a:r>
            <a:endParaRPr lang="en-US" sz="1100" noProof="1"/>
          </a:p>
        </p:txBody>
      </p:sp>
      <p:sp>
        <p:nvSpPr>
          <p:cNvPr id="8" name="page-num"/>
          <p:cNvSpPr txBox="1"/>
          <p:nvPr/>
        </p:nvSpPr>
        <p:spPr>
          <a:xfrm>
            <a:off x="10922000" y="6451600"/>
            <a:ext cx="660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100" noProof="1">
                <a:solidFill>
                  <a:srgbClr val="697788"/>
                </a:solidFill>
                <a:latin typeface="MiSans"/>
                <a:ea typeface="MiSans"/>
              </a:rPr>
              <a:t>08 / 14</a:t>
            </a:r>
            <a:endParaRPr lang="en-US" sz="1100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-label"/>
          <p:cNvSpPr txBox="1"/>
          <p:nvPr/>
        </p:nvSpPr>
        <p:spPr>
          <a:xfrm>
            <a:off x="609600" y="4064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spc="300" kern="0">
                <a:solidFill>
                  <a:srgbClr val="697788"/>
                </a:solidFill>
                <a:latin typeface="Arial"/>
                <a:ea typeface="微软雅黑"/>
              </a:rPr>
              <a:t>08 / PERFORMANCE</a:t>
            </a:r>
            <a:endParaRPr lang="en-US" sz="1200" noProof="1"/>
          </a:p>
        </p:txBody>
      </p:sp>
      <p:sp>
        <p:nvSpPr>
          <p:cNvPr id="3" name="page-title"/>
          <p:cNvSpPr txBox="1"/>
          <p:nvPr/>
        </p:nvSpPr>
        <p:spPr>
          <a:xfrm>
            <a:off x="609600" y="685800"/>
            <a:ext cx="109728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700" noProof="1" b="1">
                <a:solidFill>
                  <a:srgbClr val="173653"/>
                </a:solidFill>
                <a:latin typeface="Arial"/>
                <a:ea typeface="微软雅黑"/>
              </a:rPr>
              <a:t>Spark 的性能差异来自算子和数据规模，不只是核数</a:t>
            </a:r>
            <a:endParaRPr lang="en-US" sz="2700" noProof="1"/>
          </a:p>
        </p:txBody>
      </p:sp>
      <p:sp>
        <p:nvSpPr>
          <p:cNvPr id="4" name="title-rule"/>
          <p:cNvSpPr/>
          <p:nvPr>
            <p:extLst>
              <p:ext uri="{F5677B7D-0D2A-4D9B-9A5C-6D8D7D0E5A5D}">
                <pptd:line encoding="base64url">eyJ2aWV3Qm94IjpbODY0LDFdLCJwb2ludHMiOiIwLDAgODY0LDAiLCJjdXJ2ZSI6InNoYXJwIn0</pptd:line>
              </p:ext>
            </p:extLst>
          </p:nvPr>
        </p:nvSpPr>
        <p:spPr>
          <a:xfrm>
            <a:off x="609600" y="1346200"/>
            <a:ext cx="10972800" cy="12700"/>
          </a:xfrm>
          <a:custGeom>
            <a:avLst/>
            <a:gdLst/>
            <a:ahLst/>
            <a:cxnLst/>
            <a:rect l="l" t="t" r="r" b="b"/>
            <a:pathLst>
              <a:path w="864" h="1">
                <a:moveTo>
                  <a:pt x="0" y="0"/>
                </a:moveTo>
                <a:lnTo>
                  <a:pt x="864" y="0"/>
                </a:lnTo>
              </a:path>
            </a:pathLst>
          </a:custGeom>
          <a:noFill/>
          <a:ln w="12700">
            <a:solidFill>
              <a:srgbClr val="DCE5ED"/>
            </a:solidFill>
          </a:ln>
        </p:spPr>
      </p:sp>
      <p:pic>
        <p:nvPicPr>
          <p:cNvPr id="5" name="fig10"/>
          <p:cNvPicPr/>
          <p:nvPr/>
        </p:nvPicPr>
        <p:blipFill>
          <a:blip r:embed="rId2"/>
          <a:srcRect l="-71" r="-71"/>
          <a:stretch>
            <a:fillRect/>
          </a:stretch>
        </p:blipFill>
        <p:spPr>
          <a:xfrm>
            <a:off x="609600" y="1549400"/>
            <a:ext cx="5270500" cy="3060700"/>
          </a:xfrm>
          <a:prstGeom prst="rect">
            <a:avLst/>
          </a:prstGeom>
          <a:ln>
            <a:noFill/>
          </a:ln>
        </p:spPr>
      </p:pic>
      <p:pic>
        <p:nvPicPr>
          <p:cNvPr id="6" name="fig11"/>
          <p:cNvPicPr/>
          <p:nvPr/>
        </p:nvPicPr>
        <p:blipFill>
          <a:blip r:embed="rId3"/>
          <a:srcRect t="-4" b="-4"/>
          <a:stretch>
            <a:fillRect/>
          </a:stretch>
        </p:blipFill>
        <p:spPr>
          <a:xfrm>
            <a:off x="6311900" y="1549400"/>
            <a:ext cx="5270500" cy="3060700"/>
          </a:xfrm>
          <a:prstGeom prst="rect">
            <a:avLst/>
          </a:prstGeom>
          <a:ln>
            <a:noFill/>
          </a:ln>
        </p:spPr>
      </p:pic>
      <p:sp>
        <p:nvSpPr>
          <p:cNvPr id="7" name="fig10-caption"/>
          <p:cNvSpPr txBox="1"/>
          <p:nvPr/>
        </p:nvSpPr>
        <p:spPr>
          <a:xfrm>
            <a:off x="609600" y="4724400"/>
            <a:ext cx="52705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263444"/>
                </a:solidFill>
                <a:latin typeface="MiSans"/>
                <a:ea typeface="MiSans"/>
              </a:rPr>
              <a:t>真实数据全列扫描：约 31 万条 0.797 s → 314 万条 4.891 s</a:t>
            </a:r>
            <a:endParaRPr lang="en-US" sz="1200" noProof="1"/>
          </a:p>
        </p:txBody>
      </p:sp>
      <p:sp>
        <p:nvSpPr>
          <p:cNvPr id="8" name="fig11-caption"/>
          <p:cNvSpPr txBox="1"/>
          <p:nvPr/>
        </p:nvSpPr>
        <p:spPr>
          <a:xfrm>
            <a:off x="6311900" y="4724400"/>
            <a:ext cx="52705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263444"/>
                </a:solidFill>
                <a:latin typeface="MiSans"/>
                <a:ea typeface="MiSans"/>
              </a:rPr>
              <a:t>分区数不一定越多越好：相同算子 16 分区 2.558 s，64 分区 5.105 s</a:t>
            </a:r>
            <a:endParaRPr lang="en-US" sz="1200" noProof="1"/>
          </a:p>
        </p:txBody>
      </p:sp>
      <p:sp>
        <p:nvSpPr>
          <p:cNvPr id="9" name="emph-rule"/>
          <p:cNvSpPr/>
          <p:nvPr>
            <p:extLst>
              <p:ext uri="{F5677B7D-0D2A-4D9B-9A5C-6D8D7D0E5A5D}">
                <pptd:line encoding="base64url">eyJ2aWV3Qm94IjpbODY0LDFdLCJwb2ludHMiOiIwLDAgODY0LDAiLCJjdXJ2ZSI6InNoYXJwIn0</pptd:line>
              </p:ext>
            </p:extLst>
          </p:nvPr>
        </p:nvSpPr>
        <p:spPr>
          <a:xfrm>
            <a:off x="609600" y="5384800"/>
            <a:ext cx="10972800" cy="12700"/>
          </a:xfrm>
          <a:custGeom>
            <a:avLst/>
            <a:gdLst/>
            <a:ahLst/>
            <a:cxnLst/>
            <a:rect l="l" t="t" r="r" b="b"/>
            <a:pathLst>
              <a:path w="864" h="1">
                <a:moveTo>
                  <a:pt x="0" y="0"/>
                </a:moveTo>
                <a:lnTo>
                  <a:pt x="864" y="0"/>
                </a:lnTo>
              </a:path>
            </a:pathLst>
          </a:custGeom>
          <a:noFill/>
          <a:ln w="12700">
            <a:solidFill>
              <a:srgbClr val="DCE5ED"/>
            </a:solidFill>
          </a:ln>
        </p:spPr>
      </p:sp>
      <p:sp>
        <p:nvSpPr>
          <p:cNvPr id="10" name="emph-text"/>
          <p:cNvSpPr txBox="1"/>
          <p:nvPr/>
        </p:nvSpPr>
        <p:spPr>
          <a:xfrm>
            <a:off x="609600" y="5562600"/>
            <a:ext cx="109728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>
                <a:solidFill>
                  <a:srgbClr val="173653"/>
                </a:solidFill>
                <a:latin typeface="MiSans"/>
                <a:ea typeface="MiSans"/>
              </a:rPr>
              <a:t>列裁剪对照（314 万行，同一计时算子口径）：解码全列约 </a:t>
            </a:r>
            <a:r>
              <a:rPr lang="en-US" sz="1500" noProof="1" b="1">
                <a:solidFill>
                  <a:srgbClr val="173653"/>
                </a:solidFill>
                <a:latin typeface="MiSans"/>
                <a:ea typeface="MiSans"/>
              </a:rPr>
              <a:t>4.891 s</a:t>
            </a:r>
            <a:r>
              <a:rPr lang="en-US" sz="1500" noProof="1">
                <a:solidFill>
                  <a:srgbClr val="173653"/>
                </a:solidFill>
                <a:latin typeface="MiSans"/>
                <a:ea typeface="MiSans"/>
              </a:rPr>
              <a:t> → 仅读 6 列约 </a:t>
            </a:r>
            <a:r>
              <a:rPr lang="en-US" sz="1500" noProof="1" b="1">
                <a:solidFill>
                  <a:srgbClr val="173653"/>
                </a:solidFill>
                <a:latin typeface="MiSans"/>
                <a:ea typeface="MiSans"/>
              </a:rPr>
              <a:t>0.567 s</a:t>
            </a:r>
            <a:r>
              <a:rPr lang="en-US" sz="1500" noProof="1">
                <a:solidFill>
                  <a:srgbClr val="173653"/>
                </a:solidFill>
                <a:latin typeface="MiSans"/>
                <a:ea typeface="MiSans"/>
              </a:rPr>
              <a:t>，约 </a:t>
            </a:r>
            <a:r>
              <a:rPr lang="en-US" sz="1500" noProof="1" b="1">
                <a:solidFill>
                  <a:srgbClr val="173653"/>
                </a:solidFill>
                <a:latin typeface="MiSans"/>
                <a:ea typeface="MiSans"/>
              </a:rPr>
              <a:t>8.6×</a:t>
            </a:r>
            <a:endParaRPr lang="en-US" sz="1500" noProof="1"/>
          </a:p>
        </p:txBody>
      </p:sp>
      <p:sp>
        <p:nvSpPr>
          <p:cNvPr id="11" name="fig-note"/>
          <p:cNvSpPr txBox="1"/>
          <p:nvPr/>
        </p:nvSpPr>
        <p:spPr>
          <a:xfrm>
            <a:off x="609600" y="61976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697788"/>
                </a:solidFill>
                <a:latin typeface="MiSans"/>
                <a:ea typeface="MiSans"/>
              </a:rPr>
              <a:t>注：图中秒数为算子基准测试（多次测量取中位数），不是 142.8 s 全量 ETL 耗时；本机 Windows / Spark local[6]，非多节点扩展</a:t>
            </a:r>
            <a:endParaRPr lang="en-US" sz="1100" noProof="1"/>
          </a:p>
        </p:txBody>
      </p:sp>
      <p:sp>
        <p:nvSpPr>
          <p:cNvPr id="12" name="page-num"/>
          <p:cNvSpPr txBox="1"/>
          <p:nvPr/>
        </p:nvSpPr>
        <p:spPr>
          <a:xfrm>
            <a:off x="10922000" y="6451600"/>
            <a:ext cx="660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100" noProof="1">
                <a:solidFill>
                  <a:srgbClr val="697788"/>
                </a:solidFill>
                <a:latin typeface="MiSans"/>
                <a:ea typeface="MiSans"/>
              </a:rPr>
              <a:t>09 / 14</a:t>
            </a:r>
            <a:endParaRPr lang="en-US" sz="1100" noProof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-label"/>
          <p:cNvSpPr txBox="1"/>
          <p:nvPr/>
        </p:nvSpPr>
        <p:spPr>
          <a:xfrm>
            <a:off x="609600" y="4064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spc="300" kern="0">
                <a:solidFill>
                  <a:srgbClr val="697788"/>
                </a:solidFill>
                <a:latin typeface="Arial"/>
                <a:ea typeface="微软雅黑"/>
              </a:rPr>
              <a:t>09 / ENGINEERING</a:t>
            </a:r>
            <a:endParaRPr lang="en-US" sz="1200" noProof="1"/>
          </a:p>
        </p:txBody>
      </p:sp>
      <p:sp>
        <p:nvSpPr>
          <p:cNvPr id="3" name="page-title"/>
          <p:cNvSpPr txBox="1"/>
          <p:nvPr/>
        </p:nvSpPr>
        <p:spPr>
          <a:xfrm>
            <a:off x="609600" y="685800"/>
            <a:ext cx="109728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700" noProof="1" b="1">
                <a:solidFill>
                  <a:srgbClr val="173653"/>
                </a:solidFill>
                <a:latin typeface="Arial"/>
                <a:ea typeface="微软雅黑"/>
              </a:rPr>
              <a:t>比“跑通”更重要：优化瓶颈并核对结果</a:t>
            </a:r>
            <a:endParaRPr lang="en-US" sz="2700" noProof="1"/>
          </a:p>
        </p:txBody>
      </p:sp>
      <p:sp>
        <p:nvSpPr>
          <p:cNvPr id="4" name="title-rule"/>
          <p:cNvSpPr/>
          <p:nvPr>
            <p:extLst>
              <p:ext uri="{F5677B7D-0D2A-4D9B-9A5C-6D8D7D0E5A5D}">
                <pptd:line encoding="base64url">eyJ2aWV3Qm94IjpbODY0LDFdLCJwb2ludHMiOiIwLDAgODY0LDAiLCJjdXJ2ZSI6InNoYXJwIn0</pptd:line>
              </p:ext>
            </p:extLst>
          </p:nvPr>
        </p:nvSpPr>
        <p:spPr>
          <a:xfrm>
            <a:off x="609600" y="1346200"/>
            <a:ext cx="10972800" cy="12700"/>
          </a:xfrm>
          <a:custGeom>
            <a:avLst/>
            <a:gdLst/>
            <a:ahLst/>
            <a:cxnLst/>
            <a:rect l="l" t="t" r="r" b="b"/>
            <a:pathLst>
              <a:path w="864" h="1">
                <a:moveTo>
                  <a:pt x="0" y="0"/>
                </a:moveTo>
                <a:lnTo>
                  <a:pt x="864" y="0"/>
                </a:lnTo>
              </a:path>
            </a:pathLst>
          </a:custGeom>
          <a:noFill/>
          <a:ln w="12700">
            <a:solidFill>
              <a:srgbClr val="DCE5ED"/>
            </a:solidFill>
          </a:ln>
        </p:spPr>
      </p:sp>
      <p:sp>
        <p:nvSpPr>
          <p:cNvPr id="5" name="col1-head"/>
          <p:cNvSpPr txBox="1"/>
          <p:nvPr/>
        </p:nvSpPr>
        <p:spPr>
          <a:xfrm>
            <a:off x="609600" y="1498600"/>
            <a:ext cx="2946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3778B3"/>
                </a:solidFill>
                <a:latin typeface="MiSans"/>
                <a:ea typeface="MiSans"/>
              </a:rPr>
              <a:t>问题</a:t>
            </a:r>
            <a:endParaRPr lang="en-US" sz="1200" noProof="1"/>
          </a:p>
        </p:txBody>
      </p:sp>
      <p:sp>
        <p:nvSpPr>
          <p:cNvPr id="6" name="col2-head"/>
          <p:cNvSpPr txBox="1"/>
          <p:nvPr/>
        </p:nvSpPr>
        <p:spPr>
          <a:xfrm>
            <a:off x="4013200" y="1498600"/>
            <a:ext cx="44196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3778B3"/>
                </a:solidFill>
                <a:latin typeface="MiSans"/>
                <a:ea typeface="MiSans"/>
              </a:rPr>
              <a:t>调整</a:t>
            </a:r>
            <a:endParaRPr lang="en-US" sz="1200" noProof="1"/>
          </a:p>
        </p:txBody>
      </p:sp>
      <p:sp>
        <p:nvSpPr>
          <p:cNvPr id="7" name="col3-head"/>
          <p:cNvSpPr txBox="1"/>
          <p:nvPr/>
        </p:nvSpPr>
        <p:spPr>
          <a:xfrm>
            <a:off x="8890000" y="1498600"/>
            <a:ext cx="2692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3778B3"/>
                </a:solidFill>
                <a:latin typeface="MiSans"/>
                <a:ea typeface="MiSans"/>
              </a:rPr>
              <a:t>验证结果</a:t>
            </a:r>
            <a:endParaRPr lang="en-US" sz="1200" noProof="1"/>
          </a:p>
        </p:txBody>
      </p:sp>
      <p:sp>
        <p:nvSpPr>
          <p:cNvPr id="8" name="row1-rule"/>
          <p:cNvSpPr/>
          <p:nvPr>
            <p:extLst>
              <p:ext uri="{F5677B7D-0D2A-4D9B-9A5C-6D8D7D0E5A5D}">
                <pptd:line encoding="base64url">eyJ2aWV3Qm94IjpbODY0LDFdLCJwb2ludHMiOiIwLDAgODY0LDAiLCJjdXJ2ZSI6InNoYXJwIn0</pptd:line>
              </p:ext>
            </p:extLst>
          </p:nvPr>
        </p:nvSpPr>
        <p:spPr>
          <a:xfrm>
            <a:off x="609600" y="1828800"/>
            <a:ext cx="10972800" cy="12700"/>
          </a:xfrm>
          <a:custGeom>
            <a:avLst/>
            <a:gdLst/>
            <a:ahLst/>
            <a:cxnLst/>
            <a:rect l="l" t="t" r="r" b="b"/>
            <a:pathLst>
              <a:path w="864" h="1">
                <a:moveTo>
                  <a:pt x="0" y="0"/>
                </a:moveTo>
                <a:lnTo>
                  <a:pt x="864" y="0"/>
                </a:lnTo>
              </a:path>
            </a:pathLst>
          </a:custGeom>
          <a:noFill/>
          <a:ln w="12700">
            <a:solidFill>
              <a:srgbClr val="DCE5ED"/>
            </a:solidFill>
          </a:ln>
        </p:spPr>
      </p:sp>
      <p:sp>
        <p:nvSpPr>
          <p:cNvPr id="9" name="row1-title"/>
          <p:cNvSpPr txBox="1"/>
          <p:nvPr/>
        </p:nvSpPr>
        <p:spPr>
          <a:xfrm>
            <a:off x="609600" y="1981200"/>
            <a:ext cx="29464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173653"/>
                </a:solidFill>
                <a:latin typeface="MiSans"/>
                <a:ea typeface="MiSans"/>
              </a:rPr>
              <a:t>① 全局排序压到单分区</a:t>
            </a:r>
            <a:endParaRPr lang="en-US" sz="1500" noProof="1"/>
          </a:p>
        </p:txBody>
      </p:sp>
      <p:sp>
        <p:nvSpPr>
          <p:cNvPr id="10" name="row1-problem"/>
          <p:cNvSpPr txBox="1"/>
          <p:nvPr/>
        </p:nvSpPr>
        <p:spPr>
          <a:xfrm>
            <a:off x="609600" y="2336800"/>
            <a:ext cx="29464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697788"/>
                </a:solidFill>
                <a:latin typeface="MiSans"/>
                <a:ea typeface="MiSans"/>
              </a:rPr>
              <a:t>对 314 万条模型使用全局窗口排名，数据被压到单个分区</a:t>
            </a:r>
            <a:endParaRPr lang="en-US" sz="1250" noProof="1"/>
          </a:p>
        </p:txBody>
      </p:sp>
      <p:sp>
        <p:nvSpPr>
          <p:cNvPr id="11" name="row1-arrow1"/>
          <p:cNvSpPr/>
          <p:nvPr>
            <p:extLst>
              <p:ext uri="{F5677B7D-0D2A-4D9B-9A5C-6D8D7D0E5A5D}">
                <pptd:line encoding="base64url">eyJ2aWV3Qm94IjpbMjIsOF0sInBvaW50cyI6IjAsNCAyMiw0IiwiY3VydmUiOiJzaGFycCJ9</pptd:line>
              </p:ext>
            </p:extLst>
          </p:nvPr>
        </p:nvSpPr>
        <p:spPr>
          <a:xfrm>
            <a:off x="3632200" y="2540000"/>
            <a:ext cx="279400" cy="101600"/>
          </a:xfrm>
          <a:custGeom>
            <a:avLst/>
            <a:gdLst/>
            <a:ahLst/>
            <a:cxnLst/>
            <a:rect l="l" t="t" r="r" b="b"/>
            <a:pathLst>
              <a:path w="22" h="8">
                <a:moveTo>
                  <a:pt x="0" y="4"/>
                </a:moveTo>
                <a:lnTo>
                  <a:pt x="22" y="4"/>
                </a:lnTo>
              </a:path>
            </a:pathLst>
          </a:custGeom>
          <a:noFill/>
          <a:ln w="19050">
            <a:solidFill>
              <a:srgbClr val="8AB8DC"/>
            </a:solidFill>
            <a:tailEnd type="arrow"/>
          </a:ln>
        </p:spPr>
      </p:sp>
      <p:sp>
        <p:nvSpPr>
          <p:cNvPr id="12" name="row1-fix"/>
          <p:cNvSpPr txBox="1"/>
          <p:nvPr/>
        </p:nvSpPr>
        <p:spPr>
          <a:xfrm>
            <a:off x="4013200" y="2133600"/>
            <a:ext cx="44196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63444"/>
                </a:solidFill>
                <a:latin typeface="MiSans"/>
                <a:ea typeface="MiSans"/>
              </a:rPr>
              <a:t>改为下载量频数聚合，再并行恢复排名，避免全局单点排序</a:t>
            </a:r>
            <a:endParaRPr lang="en-US" sz="1250" noProof="1"/>
          </a:p>
        </p:txBody>
      </p:sp>
      <p:sp>
        <p:nvSpPr>
          <p:cNvPr id="13" name="row1-arrow2"/>
          <p:cNvSpPr/>
          <p:nvPr>
            <p:extLst>
              <p:ext uri="{F5677B7D-0D2A-4D9B-9A5C-6D8D7D0E5A5D}">
                <pptd:line encoding="base64url">eyJ2aWV3Qm94IjpbMjIsOF0sInBvaW50cyI6IjAsNCAyMiw0IiwiY3VydmUiOiJzaGFycCJ9</pptd:line>
              </p:ext>
            </p:extLst>
          </p:nvPr>
        </p:nvSpPr>
        <p:spPr>
          <a:xfrm>
            <a:off x="8509000" y="2540000"/>
            <a:ext cx="279400" cy="101600"/>
          </a:xfrm>
          <a:custGeom>
            <a:avLst/>
            <a:gdLst/>
            <a:ahLst/>
            <a:cxnLst/>
            <a:rect l="l" t="t" r="r" b="b"/>
            <a:pathLst>
              <a:path w="22" h="8">
                <a:moveTo>
                  <a:pt x="0" y="4"/>
                </a:moveTo>
                <a:lnTo>
                  <a:pt x="22" y="4"/>
                </a:lnTo>
              </a:path>
            </a:pathLst>
          </a:custGeom>
          <a:noFill/>
          <a:ln w="19050">
            <a:solidFill>
              <a:srgbClr val="8AB8DC"/>
            </a:solidFill>
            <a:tailEnd type="arrow"/>
          </a:ln>
        </p:spPr>
      </p:sp>
      <p:sp>
        <p:nvSpPr>
          <p:cNvPr id="14" name="row1-verify"/>
          <p:cNvSpPr txBox="1"/>
          <p:nvPr/>
        </p:nvSpPr>
        <p:spPr>
          <a:xfrm>
            <a:off x="8890000" y="2133600"/>
            <a:ext cx="26924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63444"/>
                </a:solidFill>
                <a:latin typeface="MiSans"/>
                <a:ea typeface="MiSans"/>
              </a:rPr>
              <a:t>与旧算法逐行等价对照通过</a:t>
            </a:r>
            <a:endParaRPr lang="en-US" sz="1250" noProof="1"/>
          </a:p>
        </p:txBody>
      </p:sp>
      <p:sp>
        <p:nvSpPr>
          <p:cNvPr id="15" name="row2-rule"/>
          <p:cNvSpPr/>
          <p:nvPr>
            <p:extLst>
              <p:ext uri="{F5677B7D-0D2A-4D9B-9A5C-6D8D7D0E5A5D}">
                <pptd:line encoding="base64url">eyJ2aWV3Qm94IjpbODY0LDFdLCJwb2ludHMiOiIwLDAgODY0LDAiLCJjdXJ2ZSI6InNoYXJwIn0</pptd:line>
              </p:ext>
            </p:extLst>
          </p:nvPr>
        </p:nvSpPr>
        <p:spPr>
          <a:xfrm>
            <a:off x="609600" y="3251200"/>
            <a:ext cx="10972800" cy="12700"/>
          </a:xfrm>
          <a:custGeom>
            <a:avLst/>
            <a:gdLst/>
            <a:ahLst/>
            <a:cxnLst/>
            <a:rect l="l" t="t" r="r" b="b"/>
            <a:pathLst>
              <a:path w="864" h="1">
                <a:moveTo>
                  <a:pt x="0" y="0"/>
                </a:moveTo>
                <a:lnTo>
                  <a:pt x="864" y="0"/>
                </a:lnTo>
              </a:path>
            </a:pathLst>
          </a:custGeom>
          <a:noFill/>
          <a:ln w="12700">
            <a:solidFill>
              <a:srgbClr val="DCE5ED"/>
            </a:solidFill>
          </a:ln>
        </p:spPr>
      </p:sp>
      <p:sp>
        <p:nvSpPr>
          <p:cNvPr id="16" name="row2-title"/>
          <p:cNvSpPr txBox="1"/>
          <p:nvPr/>
        </p:nvSpPr>
        <p:spPr>
          <a:xfrm>
            <a:off x="609600" y="3403600"/>
            <a:ext cx="29464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173653"/>
                </a:solidFill>
                <a:latin typeface="MiSans"/>
                <a:ea typeface="MiSans"/>
              </a:rPr>
              <a:t>② 反复重算原始数据</a:t>
            </a:r>
            <a:endParaRPr lang="en-US" sz="1500" noProof="1"/>
          </a:p>
        </p:txBody>
      </p:sp>
      <p:sp>
        <p:nvSpPr>
          <p:cNvPr id="17" name="row2-problem"/>
          <p:cNvSpPr txBox="1"/>
          <p:nvPr/>
        </p:nvSpPr>
        <p:spPr>
          <a:xfrm>
            <a:off x="609600" y="3759200"/>
            <a:ext cx="29464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697788"/>
                </a:solidFill>
                <a:latin typeface="MiSans"/>
                <a:ea typeface="MiSans"/>
              </a:rPr>
              <a:t>多张 Gold 表重复读取 Bronze 原始数据</a:t>
            </a:r>
            <a:endParaRPr lang="en-US" sz="1250" noProof="1"/>
          </a:p>
        </p:txBody>
      </p:sp>
      <p:sp>
        <p:nvSpPr>
          <p:cNvPr id="18" name="row2-arrow1"/>
          <p:cNvSpPr/>
          <p:nvPr>
            <p:extLst>
              <p:ext uri="{F5677B7D-0D2A-4D9B-9A5C-6D8D7D0E5A5D}">
                <pptd:line encoding="base64url">eyJ2aWV3Qm94IjpbMjIsOF0sInBvaW50cyI6IjAsNCAyMiw0IiwiY3VydmUiOiJzaGFycCJ9</pptd:line>
              </p:ext>
            </p:extLst>
          </p:nvPr>
        </p:nvSpPr>
        <p:spPr>
          <a:xfrm>
            <a:off x="3632200" y="3962400"/>
            <a:ext cx="279400" cy="101600"/>
          </a:xfrm>
          <a:custGeom>
            <a:avLst/>
            <a:gdLst/>
            <a:ahLst/>
            <a:cxnLst/>
            <a:rect l="l" t="t" r="r" b="b"/>
            <a:pathLst>
              <a:path w="22" h="8">
                <a:moveTo>
                  <a:pt x="0" y="4"/>
                </a:moveTo>
                <a:lnTo>
                  <a:pt x="22" y="4"/>
                </a:lnTo>
              </a:path>
            </a:pathLst>
          </a:custGeom>
          <a:noFill/>
          <a:ln w="19050">
            <a:solidFill>
              <a:srgbClr val="8AB8DC"/>
            </a:solidFill>
            <a:tailEnd type="arrow"/>
          </a:ln>
        </p:spPr>
      </p:sp>
      <p:sp>
        <p:nvSpPr>
          <p:cNvPr id="19" name="row2-fix"/>
          <p:cNvSpPr txBox="1"/>
          <p:nvPr/>
        </p:nvSpPr>
        <p:spPr>
          <a:xfrm>
            <a:off x="4013200" y="3556000"/>
            <a:ext cx="44196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63444"/>
                </a:solidFill>
                <a:latin typeface="MiSans"/>
                <a:ea typeface="MiSans"/>
              </a:rPr>
              <a:t>Bronze 只读一次、写出 Silver，后续统计统一从磁盘回读</a:t>
            </a:r>
            <a:endParaRPr lang="en-US" sz="1250" noProof="1"/>
          </a:p>
        </p:txBody>
      </p:sp>
      <p:sp>
        <p:nvSpPr>
          <p:cNvPr id="20" name="row2-arrow2"/>
          <p:cNvSpPr/>
          <p:nvPr>
            <p:extLst>
              <p:ext uri="{F5677B7D-0D2A-4D9B-9A5C-6D8D7D0E5A5D}">
                <pptd:line encoding="base64url">eyJ2aWV3Qm94IjpbMjIsOF0sInBvaW50cyI6IjAsNCAyMiw0IiwiY3VydmUiOiJzaGFycCJ9</pptd:line>
              </p:ext>
            </p:extLst>
          </p:nvPr>
        </p:nvSpPr>
        <p:spPr>
          <a:xfrm>
            <a:off x="8509000" y="3962400"/>
            <a:ext cx="279400" cy="101600"/>
          </a:xfrm>
          <a:custGeom>
            <a:avLst/>
            <a:gdLst/>
            <a:ahLst/>
            <a:cxnLst/>
            <a:rect l="l" t="t" r="r" b="b"/>
            <a:pathLst>
              <a:path w="22" h="8">
                <a:moveTo>
                  <a:pt x="0" y="4"/>
                </a:moveTo>
                <a:lnTo>
                  <a:pt x="22" y="4"/>
                </a:lnTo>
              </a:path>
            </a:pathLst>
          </a:custGeom>
          <a:noFill/>
          <a:ln w="19050">
            <a:solidFill>
              <a:srgbClr val="8AB8DC"/>
            </a:solidFill>
            <a:tailEnd type="arrow"/>
          </a:ln>
        </p:spPr>
      </p:sp>
      <p:sp>
        <p:nvSpPr>
          <p:cNvPr id="21" name="row2-verify"/>
          <p:cNvSpPr txBox="1"/>
          <p:nvPr/>
        </p:nvSpPr>
        <p:spPr>
          <a:xfrm>
            <a:off x="8890000" y="3556000"/>
            <a:ext cx="26924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63444"/>
                </a:solidFill>
                <a:latin typeface="MiSans"/>
                <a:ea typeface="MiSans"/>
              </a:rPr>
              <a:t>样本 ETL </a:t>
            </a:r>
            <a:r>
              <a:rPr lang="en-US" sz="1250" noProof="1" b="1">
                <a:solidFill>
                  <a:srgbClr val="263444"/>
                </a:solidFill>
                <a:latin typeface="MiSans"/>
                <a:ea typeface="MiSans"/>
              </a:rPr>
              <a:t>193 s → 50.7 s</a:t>
            </a:r>
            <a:r>
              <a:rPr lang="en-US" sz="1250" noProof="1">
                <a:solidFill>
                  <a:srgbClr val="263444"/>
                </a:solidFill>
                <a:latin typeface="MiSans"/>
                <a:ea typeface="MiSans"/>
              </a:rPr>
              <a:t>（同一项目改造前后对照）</a:t>
            </a:r>
            <a:endParaRPr lang="en-US" sz="1250" noProof="1"/>
          </a:p>
        </p:txBody>
      </p:sp>
      <p:sp>
        <p:nvSpPr>
          <p:cNvPr id="22" name="row3-rule"/>
          <p:cNvSpPr/>
          <p:nvPr>
            <p:extLst>
              <p:ext uri="{F5677B7D-0D2A-4D9B-9A5C-6D8D7D0E5A5D}">
                <pptd:line encoding="base64url">eyJ2aWV3Qm94IjpbODY0LDFdLCJwb2ludHMiOiIwLDAgODY0LDAiLCJjdXJ2ZSI6InNoYXJwIn0</pptd:line>
              </p:ext>
            </p:extLst>
          </p:nvPr>
        </p:nvSpPr>
        <p:spPr>
          <a:xfrm>
            <a:off x="609600" y="4673600"/>
            <a:ext cx="10972800" cy="12700"/>
          </a:xfrm>
          <a:custGeom>
            <a:avLst/>
            <a:gdLst/>
            <a:ahLst/>
            <a:cxnLst/>
            <a:rect l="l" t="t" r="r" b="b"/>
            <a:pathLst>
              <a:path w="864" h="1">
                <a:moveTo>
                  <a:pt x="0" y="0"/>
                </a:moveTo>
                <a:lnTo>
                  <a:pt x="864" y="0"/>
                </a:lnTo>
              </a:path>
            </a:pathLst>
          </a:custGeom>
          <a:noFill/>
          <a:ln w="12700">
            <a:solidFill>
              <a:srgbClr val="DCE5ED"/>
            </a:solidFill>
          </a:ln>
        </p:spPr>
      </p:sp>
      <p:sp>
        <p:nvSpPr>
          <p:cNvPr id="23" name="row3-title"/>
          <p:cNvSpPr txBox="1"/>
          <p:nvPr/>
        </p:nvSpPr>
        <p:spPr>
          <a:xfrm>
            <a:off x="609600" y="4826000"/>
            <a:ext cx="29464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173653"/>
                </a:solidFill>
                <a:latin typeface="MiSans"/>
                <a:ea typeface="MiSans"/>
              </a:rPr>
              <a:t>③ 大图迭代计算开销</a:t>
            </a:r>
            <a:endParaRPr lang="en-US" sz="1500" noProof="1"/>
          </a:p>
        </p:txBody>
      </p:sp>
      <p:sp>
        <p:nvSpPr>
          <p:cNvPr id="24" name="row3-problem"/>
          <p:cNvSpPr txBox="1"/>
          <p:nvPr/>
        </p:nvSpPr>
        <p:spPr>
          <a:xfrm>
            <a:off x="609600" y="5181600"/>
            <a:ext cx="29464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697788"/>
                </a:solidFill>
                <a:latin typeface="MiSans"/>
                <a:ea typeface="MiSans"/>
              </a:rPr>
              <a:t>近百万节点下迭代图算法计算成本高</a:t>
            </a:r>
            <a:endParaRPr lang="en-US" sz="1250" noProof="1"/>
          </a:p>
        </p:txBody>
      </p:sp>
      <p:sp>
        <p:nvSpPr>
          <p:cNvPr id="25" name="row3-arrow1"/>
          <p:cNvSpPr/>
          <p:nvPr>
            <p:extLst>
              <p:ext uri="{F5677B7D-0D2A-4D9B-9A5C-6D8D7D0E5A5D}">
                <pptd:line encoding="base64url">eyJ2aWV3Qm94IjpbMjIsOF0sInBvaW50cyI6IjAsNCAyMiw0IiwiY3VydmUiOiJzaGFycCJ9</pptd:line>
              </p:ext>
            </p:extLst>
          </p:nvPr>
        </p:nvSpPr>
        <p:spPr>
          <a:xfrm>
            <a:off x="3632200" y="5384800"/>
            <a:ext cx="279400" cy="101600"/>
          </a:xfrm>
          <a:custGeom>
            <a:avLst/>
            <a:gdLst/>
            <a:ahLst/>
            <a:cxnLst/>
            <a:rect l="l" t="t" r="r" b="b"/>
            <a:pathLst>
              <a:path w="22" h="8">
                <a:moveTo>
                  <a:pt x="0" y="4"/>
                </a:moveTo>
                <a:lnTo>
                  <a:pt x="22" y="4"/>
                </a:lnTo>
              </a:path>
            </a:pathLst>
          </a:custGeom>
          <a:noFill/>
          <a:ln w="19050">
            <a:solidFill>
              <a:srgbClr val="8AB8DC"/>
            </a:solidFill>
            <a:tailEnd type="arrow"/>
          </a:ln>
        </p:spPr>
      </p:sp>
      <p:sp>
        <p:nvSpPr>
          <p:cNvPr id="26" name="row3-fix"/>
          <p:cNvSpPr txBox="1"/>
          <p:nvPr/>
        </p:nvSpPr>
        <p:spPr>
          <a:xfrm>
            <a:off x="4013200" y="4978400"/>
            <a:ext cx="44196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63444"/>
                </a:solidFill>
                <a:latin typeface="MiSans"/>
                <a:ea typeface="MiSans"/>
              </a:rPr>
              <a:t>GraphFrames 独立脚本运行，加超时看门狗，中间结果分步骤持久化</a:t>
            </a:r>
            <a:endParaRPr lang="en-US" sz="1250" noProof="1"/>
          </a:p>
        </p:txBody>
      </p:sp>
      <p:sp>
        <p:nvSpPr>
          <p:cNvPr id="27" name="row3-arrow2"/>
          <p:cNvSpPr/>
          <p:nvPr>
            <p:extLst>
              <p:ext uri="{F5677B7D-0D2A-4D9B-9A5C-6D8D7D0E5A5D}">
                <pptd:line encoding="base64url">eyJ2aWV3Qm94IjpbMjIsOF0sInBvaW50cyI6IjAsNCAyMiw0IiwiY3VydmUiOiJzaGFycCJ9</pptd:line>
              </p:ext>
            </p:extLst>
          </p:nvPr>
        </p:nvSpPr>
        <p:spPr>
          <a:xfrm>
            <a:off x="8509000" y="5384800"/>
            <a:ext cx="279400" cy="101600"/>
          </a:xfrm>
          <a:custGeom>
            <a:avLst/>
            <a:gdLst/>
            <a:ahLst/>
            <a:cxnLst/>
            <a:rect l="l" t="t" r="r" b="b"/>
            <a:pathLst>
              <a:path w="22" h="8">
                <a:moveTo>
                  <a:pt x="0" y="4"/>
                </a:moveTo>
                <a:lnTo>
                  <a:pt x="22" y="4"/>
                </a:lnTo>
              </a:path>
            </a:pathLst>
          </a:custGeom>
          <a:noFill/>
          <a:ln w="19050">
            <a:solidFill>
              <a:srgbClr val="8AB8DC"/>
            </a:solidFill>
            <a:tailEnd type="arrow"/>
          </a:ln>
        </p:spPr>
      </p:sp>
      <p:sp>
        <p:nvSpPr>
          <p:cNvPr id="28" name="row3-verify"/>
          <p:cNvSpPr txBox="1"/>
          <p:nvPr/>
        </p:nvSpPr>
        <p:spPr>
          <a:xfrm>
            <a:off x="8890000" y="4978400"/>
            <a:ext cx="26924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63444"/>
                </a:solidFill>
                <a:latin typeface="MiSans"/>
                <a:ea typeface="MiSans"/>
              </a:rPr>
              <a:t>6 个迭代步骤最终全部运行完成</a:t>
            </a:r>
            <a:endParaRPr lang="en-US" sz="1250" noProof="1"/>
          </a:p>
        </p:txBody>
      </p:sp>
      <p:sp>
        <p:nvSpPr>
          <p:cNvPr id="29" name="bottom-rule"/>
          <p:cNvSpPr/>
          <p:nvPr>
            <p:extLst>
              <p:ext uri="{F5677B7D-0D2A-4D9B-9A5C-6D8D7D0E5A5D}">
                <pptd:line encoding="base64url">eyJ2aWV3Qm94IjpbODY0LDFdLCJwb2ludHMiOiIwLDAgODY0LDAiLCJjdXJ2ZSI6InNoYXJwIn0</pptd:line>
              </p:ext>
            </p:extLst>
          </p:nvPr>
        </p:nvSpPr>
        <p:spPr>
          <a:xfrm>
            <a:off x="609600" y="6019800"/>
            <a:ext cx="10972800" cy="12700"/>
          </a:xfrm>
          <a:custGeom>
            <a:avLst/>
            <a:gdLst/>
            <a:ahLst/>
            <a:cxnLst/>
            <a:rect l="l" t="t" r="r" b="b"/>
            <a:pathLst>
              <a:path w="864" h="1">
                <a:moveTo>
                  <a:pt x="0" y="0"/>
                </a:moveTo>
                <a:lnTo>
                  <a:pt x="864" y="0"/>
                </a:lnTo>
              </a:path>
            </a:pathLst>
          </a:custGeom>
          <a:noFill/>
          <a:ln w="12700">
            <a:solidFill>
              <a:srgbClr val="DCE5ED"/>
            </a:solidFill>
          </a:ln>
        </p:spPr>
      </p:sp>
      <p:sp>
        <p:nvSpPr>
          <p:cNvPr id="30" name="bottom-note"/>
          <p:cNvSpPr txBox="1"/>
          <p:nvPr/>
        </p:nvSpPr>
        <p:spPr>
          <a:xfrm>
            <a:off x="609600" y="6172200"/>
            <a:ext cx="1016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97788"/>
                </a:solidFill>
                <a:latin typeface="MiSans"/>
                <a:ea typeface="MiSans"/>
              </a:rPr>
              <a:t>可信度补充：约 5 万条确定性样本完成 13 项 Spark 与 pandas 的 ETL 对照测试；正式结果由统一结果清单（results_manifest.json）驱动</a:t>
            </a:r>
            <a:endParaRPr lang="en-US" sz="1200" noProof="1"/>
          </a:p>
        </p:txBody>
      </p:sp>
      <p:sp>
        <p:nvSpPr>
          <p:cNvPr id="31" name="page-num"/>
          <p:cNvSpPr txBox="1"/>
          <p:nvPr/>
        </p:nvSpPr>
        <p:spPr>
          <a:xfrm>
            <a:off x="10922000" y="6451600"/>
            <a:ext cx="660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100" noProof="1">
                <a:solidFill>
                  <a:srgbClr val="697788"/>
                </a:solidFill>
                <a:latin typeface="MiSans"/>
                <a:ea typeface="MiSans"/>
              </a:rPr>
              <a:t>10 / 14</a:t>
            </a:r>
            <a:endParaRPr lang="en-US" sz="1100" noProof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-label"/>
          <p:cNvSpPr txBox="1"/>
          <p:nvPr/>
        </p:nvSpPr>
        <p:spPr>
          <a:xfrm>
            <a:off x="609600" y="4064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spc="300" kern="0">
                <a:solidFill>
                  <a:srgbClr val="697788"/>
                </a:solidFill>
                <a:latin typeface="Arial"/>
                <a:ea typeface="微软雅黑"/>
              </a:rPr>
              <a:t>10 / CONCLUSION</a:t>
            </a:r>
            <a:endParaRPr lang="en-US" sz="1200" noProof="1"/>
          </a:p>
        </p:txBody>
      </p:sp>
      <p:sp>
        <p:nvSpPr>
          <p:cNvPr id="3" name="page-title"/>
          <p:cNvSpPr txBox="1"/>
          <p:nvPr/>
        </p:nvSpPr>
        <p:spPr>
          <a:xfrm>
            <a:off x="609600" y="685800"/>
            <a:ext cx="109728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700" noProof="1" b="1">
                <a:solidFill>
                  <a:srgbClr val="173653"/>
                </a:solidFill>
                <a:latin typeface="Arial"/>
                <a:ea typeface="微软雅黑"/>
              </a:rPr>
              <a:t>结论与边界：规模、集中、继承</a:t>
            </a:r>
            <a:endParaRPr lang="en-US" sz="2700" noProof="1"/>
          </a:p>
        </p:txBody>
      </p:sp>
      <p:sp>
        <p:nvSpPr>
          <p:cNvPr id="4" name="title-rule"/>
          <p:cNvSpPr/>
          <p:nvPr>
            <p:extLst>
              <p:ext uri="{F5677B7D-0D2A-4D9B-9A5C-6D8D7D0E5A5D}">
                <pptd:line encoding="base64url">eyJ2aWV3Qm94IjpbODY0LDFdLCJwb2ludHMiOiIwLDAgODY0LDAiLCJjdXJ2ZSI6InNoYXJwIn0</pptd:line>
              </p:ext>
            </p:extLst>
          </p:nvPr>
        </p:nvSpPr>
        <p:spPr>
          <a:xfrm>
            <a:off x="609600" y="1346200"/>
            <a:ext cx="10972800" cy="12700"/>
          </a:xfrm>
          <a:custGeom>
            <a:avLst/>
            <a:gdLst/>
            <a:ahLst/>
            <a:cxnLst/>
            <a:rect l="l" t="t" r="r" b="b"/>
            <a:pathLst>
              <a:path w="864" h="1">
                <a:moveTo>
                  <a:pt x="0" y="0"/>
                </a:moveTo>
                <a:lnTo>
                  <a:pt x="864" y="0"/>
                </a:lnTo>
              </a:path>
            </a:pathLst>
          </a:custGeom>
          <a:noFill/>
          <a:ln w="12700">
            <a:solidFill>
              <a:srgbClr val="DCE5ED"/>
            </a:solidFill>
          </a:ln>
        </p:spPr>
      </p:sp>
      <p:sp>
        <p:nvSpPr>
          <p:cNvPr id="5" name="c1-num"/>
          <p:cNvSpPr txBox="1"/>
          <p:nvPr/>
        </p:nvSpPr>
        <p:spPr>
          <a:xfrm>
            <a:off x="609600" y="1727200"/>
            <a:ext cx="1905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 b="1">
                <a:solidFill>
                  <a:srgbClr val="173653"/>
                </a:solidFill>
                <a:latin typeface="MiSans"/>
                <a:ea typeface="MiSans"/>
              </a:rPr>
              <a:t>314 万</a:t>
            </a:r>
            <a:endParaRPr lang="en-US" sz="3000" noProof="1"/>
          </a:p>
        </p:txBody>
      </p:sp>
      <p:sp>
        <p:nvSpPr>
          <p:cNvPr id="6" name="c1-text"/>
          <p:cNvSpPr txBox="1"/>
          <p:nvPr/>
        </p:nvSpPr>
        <p:spPr>
          <a:xfrm>
            <a:off x="2641600" y="1752600"/>
            <a:ext cx="4826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400" noProof="1">
                <a:solidFill>
                  <a:srgbClr val="263444"/>
                </a:solidFill>
                <a:latin typeface="MiSans"/>
                <a:ea typeface="MiSans"/>
              </a:rPr>
              <a:t>规模可观：快照可见模型 3,138,954 个，近年创建量持续增长</a:t>
            </a:r>
            <a:endParaRPr lang="en-US" sz="1400" noProof="1"/>
          </a:p>
        </p:txBody>
      </p:sp>
      <p:sp>
        <p:nvSpPr>
          <p:cNvPr id="7" name="c1-rule"/>
          <p:cNvSpPr/>
          <p:nvPr>
            <p:extLst>
              <p:ext uri="{F5677B7D-0D2A-4D9B-9A5C-6D8D7D0E5A5D}">
                <pptd:line encoding="base64url">eyJ2aWV3Qm94IjpbNTQwLDFdLCJwb2ludHMiOiIwLDAgNTQwLDAiLCJjdXJ2ZSI6InNoYXJwIn0</pptd:line>
              </p:ext>
            </p:extLst>
          </p:nvPr>
        </p:nvSpPr>
        <p:spPr>
          <a:xfrm>
            <a:off x="609600" y="2540000"/>
            <a:ext cx="6858000" cy="12700"/>
          </a:xfrm>
          <a:custGeom>
            <a:avLst/>
            <a:gdLst/>
            <a:ahLst/>
            <a:cxnLst/>
            <a:rect l="l" t="t" r="r" b="b"/>
            <a:pathLst>
              <a:path w="540" h="1">
                <a:moveTo>
                  <a:pt x="0" y="0"/>
                </a:moveTo>
                <a:lnTo>
                  <a:pt x="540" y="0"/>
                </a:lnTo>
              </a:path>
            </a:pathLst>
          </a:custGeom>
          <a:noFill/>
          <a:ln w="12700">
            <a:solidFill>
              <a:srgbClr val="DCE5ED"/>
            </a:solidFill>
          </a:ln>
        </p:spPr>
      </p:sp>
      <p:sp>
        <p:nvSpPr>
          <p:cNvPr id="8" name="c2-num"/>
          <p:cNvSpPr txBox="1"/>
          <p:nvPr/>
        </p:nvSpPr>
        <p:spPr>
          <a:xfrm>
            <a:off x="609600" y="2794000"/>
            <a:ext cx="1905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 b="1">
                <a:solidFill>
                  <a:srgbClr val="173653"/>
                </a:solidFill>
                <a:latin typeface="MiSans"/>
                <a:ea typeface="MiSans"/>
              </a:rPr>
              <a:t>97.13%</a:t>
            </a:r>
            <a:endParaRPr lang="en-US" sz="3000" noProof="1"/>
          </a:p>
        </p:txBody>
      </p:sp>
      <p:sp>
        <p:nvSpPr>
          <p:cNvPr id="9" name="c2-text"/>
          <p:cNvSpPr txBox="1"/>
          <p:nvPr/>
        </p:nvSpPr>
        <p:spPr>
          <a:xfrm>
            <a:off x="2641600" y="2819400"/>
            <a:ext cx="4826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400" noProof="1">
                <a:solidFill>
                  <a:srgbClr val="263444"/>
                </a:solidFill>
                <a:latin typeface="MiSans"/>
                <a:ea typeface="MiSans"/>
              </a:rPr>
              <a:t>关注集中：前 1% 的模型获得近 30 天下载量的 97.13%</a:t>
            </a:r>
            <a:endParaRPr lang="en-US" sz="1400" noProof="1"/>
          </a:p>
        </p:txBody>
      </p:sp>
      <p:sp>
        <p:nvSpPr>
          <p:cNvPr id="10" name="c2-rule"/>
          <p:cNvSpPr/>
          <p:nvPr>
            <p:extLst>
              <p:ext uri="{F5677B7D-0D2A-4D9B-9A5C-6D8D7D0E5A5D}">
                <pptd:line encoding="base64url">eyJ2aWV3Qm94IjpbNTQwLDFdLCJwb2ludHMiOiIwLDAgNTQwLDAiLCJjdXJ2ZSI6InNoYXJwIn0</pptd:line>
              </p:ext>
            </p:extLst>
          </p:nvPr>
        </p:nvSpPr>
        <p:spPr>
          <a:xfrm>
            <a:off x="609600" y="3606800"/>
            <a:ext cx="6858000" cy="12700"/>
          </a:xfrm>
          <a:custGeom>
            <a:avLst/>
            <a:gdLst/>
            <a:ahLst/>
            <a:cxnLst/>
            <a:rect l="l" t="t" r="r" b="b"/>
            <a:pathLst>
              <a:path w="540" h="1">
                <a:moveTo>
                  <a:pt x="0" y="0"/>
                </a:moveTo>
                <a:lnTo>
                  <a:pt x="540" y="0"/>
                </a:lnTo>
              </a:path>
            </a:pathLst>
          </a:custGeom>
          <a:noFill/>
          <a:ln w="12700">
            <a:solidFill>
              <a:srgbClr val="DCE5ED"/>
            </a:solidFill>
          </a:ln>
        </p:spPr>
      </p:sp>
      <p:sp>
        <p:nvSpPr>
          <p:cNvPr id="11" name="c3-num"/>
          <p:cNvSpPr txBox="1"/>
          <p:nvPr/>
        </p:nvSpPr>
        <p:spPr>
          <a:xfrm>
            <a:off x="609600" y="3860800"/>
            <a:ext cx="1905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 b="1">
                <a:solidFill>
                  <a:srgbClr val="173653"/>
                </a:solidFill>
                <a:latin typeface="MiSans"/>
                <a:ea typeface="MiSans"/>
              </a:rPr>
              <a:t>91.98 万</a:t>
            </a:r>
            <a:endParaRPr lang="en-US" sz="3000" noProof="1"/>
          </a:p>
        </p:txBody>
      </p:sp>
      <p:sp>
        <p:nvSpPr>
          <p:cNvPr id="12" name="c3-text"/>
          <p:cNvSpPr txBox="1"/>
          <p:nvPr/>
        </p:nvSpPr>
        <p:spPr>
          <a:xfrm>
            <a:off x="2641600" y="3886200"/>
            <a:ext cx="4826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400" noProof="1">
                <a:solidFill>
                  <a:srgbClr val="263444"/>
                </a:solidFill>
                <a:latin typeface="MiSans"/>
                <a:ea typeface="MiSans"/>
              </a:rPr>
              <a:t>底座复用：919,839 条公开声明的继承边连接出模型复用网络</a:t>
            </a:r>
            <a:endParaRPr lang="en-US" sz="1400" noProof="1"/>
          </a:p>
        </p:txBody>
      </p:sp>
      <p:sp>
        <p:nvSpPr>
          <p:cNvPr id="13" name="v-divider"/>
          <p:cNvSpPr/>
          <p:nvPr>
            <p:extLst>
              <p:ext uri="{F5677B7D-0D2A-4D9B-9A5C-6D8D7D0E5A5D}">
                <pptd:line encoding="base64url">eyJ2aWV3Qm94IjpbMSwyNDBdLCJwb2ludHMiOiIwLDAgMCwyNDAiLCJjdXJ2ZSI6InNoYXJwIn0</pptd:line>
              </p:ext>
            </p:extLst>
          </p:nvPr>
        </p:nvSpPr>
        <p:spPr>
          <a:xfrm>
            <a:off x="7874000" y="1651000"/>
            <a:ext cx="12700" cy="3048000"/>
          </a:xfrm>
          <a:custGeom>
            <a:avLst/>
            <a:gdLst/>
            <a:ahLst/>
            <a:cxnLst/>
            <a:rect l="l" t="t" r="r" b="b"/>
            <a:pathLst>
              <a:path w="1" h="240">
                <a:moveTo>
                  <a:pt x="0" y="0"/>
                </a:moveTo>
                <a:lnTo>
                  <a:pt x="0" y="240"/>
                </a:lnTo>
              </a:path>
            </a:pathLst>
          </a:custGeom>
          <a:noFill/>
          <a:ln w="12700">
            <a:solidFill>
              <a:srgbClr val="DCE5ED"/>
            </a:solidFill>
          </a:ln>
        </p:spPr>
      </p:sp>
      <p:sp>
        <p:nvSpPr>
          <p:cNvPr id="14" name="limit-head"/>
          <p:cNvSpPr txBox="1"/>
          <p:nvPr/>
        </p:nvSpPr>
        <p:spPr>
          <a:xfrm>
            <a:off x="8280400" y="1727200"/>
            <a:ext cx="3302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173653"/>
                </a:solidFill>
                <a:latin typeface="MiSans"/>
                <a:ea typeface="MiSans"/>
              </a:rPr>
              <a:t>结果的适用范围</a:t>
            </a:r>
            <a:endParaRPr lang="en-US" sz="1500" noProof="1"/>
          </a:p>
        </p:txBody>
      </p:sp>
      <p:sp>
        <p:nvSpPr>
          <p:cNvPr id="15" name="limit-rule"/>
          <p:cNvSpPr/>
          <p:nvPr/>
        </p:nvSpPr>
        <p:spPr>
          <a:xfrm>
            <a:off x="8280400" y="2108200"/>
            <a:ext cx="508000" cy="25400"/>
          </a:xfrm>
          <a:prstGeom prst="rect">
            <a:avLst/>
          </a:prstGeom>
          <a:solidFill>
            <a:srgbClr val="3778B3"/>
          </a:solidFill>
          <a:ln>
            <a:noFill/>
          </a:ln>
        </p:spPr>
      </p:sp>
      <p:sp>
        <p:nvSpPr>
          <p:cNvPr id="16" name="limit-list"/>
          <p:cNvSpPr txBox="1"/>
          <p:nvPr/>
        </p:nvSpPr>
        <p:spPr>
          <a:xfrm>
            <a:off x="8280400" y="2286000"/>
            <a:ext cx="3302000" cy="241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250" noProof="1">
                <a:solidFill>
                  <a:srgbClr val="263444"/>
                </a:solidFill>
                <a:latin typeface="MiSans"/>
                <a:ea typeface="MiSans"/>
              </a:rPr>
              <a:t>· 仅为固定快照，不能覆盖历史上已下架的模型</a:t>
            </a:r>
            <a:endParaRPr lang="en-US" sz="1250" noProof="1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250" noProof="1">
                <a:solidFill>
                  <a:srgbClr val="263444"/>
                </a:solidFill>
                <a:latin typeface="MiSans"/>
                <a:ea typeface="MiSans"/>
              </a:rPr>
              <a:t>· 任务标签（65.55%）与底座信息（71.74%）存在较高缺失</a:t>
            </a:r>
            <a:endParaRPr lang="en-US" sz="1250" noProof="1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250" noProof="1">
                <a:solidFill>
                  <a:srgbClr val="263444"/>
                </a:solidFill>
                <a:latin typeface="MiSans"/>
                <a:ea typeface="MiSans"/>
              </a:rPr>
              <a:t>· 单机 Spark 测试不能证明多节点扩展性能</a:t>
            </a:r>
            <a:endParaRPr lang="en-US" sz="1250" noProof="1"/>
          </a:p>
        </p:txBody>
      </p:sp>
      <p:sp>
        <p:nvSpPr>
          <p:cNvPr id="17" name="bottom-rule"/>
          <p:cNvSpPr/>
          <p:nvPr>
            <p:extLst>
              <p:ext uri="{F5677B7D-0D2A-4D9B-9A5C-6D8D7D0E5A5D}">
                <pptd:line encoding="base64url">eyJ2aWV3Qm94IjpbODY0LDFdLCJwb2ludHMiOiIwLDAgODY0LDAiLCJjdXJ2ZSI6InNoYXJwIn0</pptd:line>
              </p:ext>
            </p:extLst>
          </p:nvPr>
        </p:nvSpPr>
        <p:spPr>
          <a:xfrm>
            <a:off x="609600" y="5334000"/>
            <a:ext cx="10972800" cy="12700"/>
          </a:xfrm>
          <a:custGeom>
            <a:avLst/>
            <a:gdLst/>
            <a:ahLst/>
            <a:cxnLst/>
            <a:rect l="l" t="t" r="r" b="b"/>
            <a:pathLst>
              <a:path w="864" h="1">
                <a:moveTo>
                  <a:pt x="0" y="0"/>
                </a:moveTo>
                <a:lnTo>
                  <a:pt x="864" y="0"/>
                </a:lnTo>
              </a:path>
            </a:pathLst>
          </a:custGeom>
          <a:noFill/>
          <a:ln w="12700">
            <a:solidFill>
              <a:srgbClr val="DCE5ED"/>
            </a:solidFill>
          </a:ln>
        </p:spPr>
      </p:sp>
      <p:sp>
        <p:nvSpPr>
          <p:cNvPr id="18" name="thanks"/>
          <p:cNvSpPr txBox="1"/>
          <p:nvPr/>
        </p:nvSpPr>
        <p:spPr>
          <a:xfrm>
            <a:off x="609600" y="5638800"/>
            <a:ext cx="3810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000" noProof="1" b="1">
                <a:solidFill>
                  <a:srgbClr val="173653"/>
                </a:solidFill>
                <a:latin typeface="MiSans"/>
                <a:ea typeface="MiSans"/>
              </a:rPr>
              <a:t>感谢聆听 · Q&amp;A</a:t>
            </a:r>
            <a:endParaRPr lang="en-US" sz="2000" noProof="1"/>
          </a:p>
        </p:txBody>
      </p:sp>
      <p:sp>
        <p:nvSpPr>
          <p:cNvPr id="19" name="repo-icon"/>
          <p:cNvSpPr/>
          <p:nvPr>
            <p:extLst>
              <p:ext uri="{F5677B7D-0D2A-4D9B-9A5C-6D8D7D0E5A5D}">
                <pptd:icon encoding="base64url">eyJpY29uTmFtZSI6ImZhYjpnaXRodWIifQ</pptd:icon>
              </p:ext>
            </p:extLst>
          </p:nvPr>
        </p:nvSpPr>
        <p:spPr>
          <a:xfrm>
            <a:off x="4572000" y="56896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174" y="397"/>
                </a:moveTo>
                <a:cubicBezTo>
                  <a:pt x="174" y="399"/>
                  <a:pt x="172" y="401"/>
                  <a:pt x="169" y="401"/>
                </a:cubicBezTo>
                <a:cubicBezTo>
                  <a:pt x="165" y="401"/>
                  <a:pt x="163" y="400"/>
                  <a:pt x="163" y="397"/>
                </a:cubicBezTo>
                <a:cubicBezTo>
                  <a:pt x="163" y="395"/>
                  <a:pt x="165" y="394"/>
                  <a:pt x="168" y="394"/>
                </a:cubicBezTo>
                <a:cubicBezTo>
                  <a:pt x="171" y="393"/>
                  <a:pt x="174" y="395"/>
                  <a:pt x="174" y="397"/>
                </a:cubicBezTo>
                <a:close/>
              </a:path>
              <a:path w="512" h="512">
                <a:moveTo>
                  <a:pt x="143" y="393"/>
                </a:moveTo>
                <a:cubicBezTo>
                  <a:pt x="142" y="395"/>
                  <a:pt x="144" y="397"/>
                  <a:pt x="147" y="398"/>
                </a:cubicBezTo>
                <a:cubicBezTo>
                  <a:pt x="150" y="399"/>
                  <a:pt x="153" y="398"/>
                  <a:pt x="153" y="396"/>
                </a:cubicBezTo>
                <a:cubicBezTo>
                  <a:pt x="154" y="394"/>
                  <a:pt x="152" y="391"/>
                  <a:pt x="149" y="391"/>
                </a:cubicBezTo>
                <a:cubicBezTo>
                  <a:pt x="146" y="390"/>
                  <a:pt x="144" y="391"/>
                  <a:pt x="143" y="393"/>
                </a:cubicBezTo>
                <a:close/>
              </a:path>
              <a:path w="512" h="512">
                <a:moveTo>
                  <a:pt x="187" y="391"/>
                </a:moveTo>
                <a:cubicBezTo>
                  <a:pt x="184" y="392"/>
                  <a:pt x="182" y="394"/>
                  <a:pt x="182" y="396"/>
                </a:cubicBezTo>
                <a:cubicBezTo>
                  <a:pt x="183" y="398"/>
                  <a:pt x="185" y="399"/>
                  <a:pt x="188" y="399"/>
                </a:cubicBezTo>
                <a:cubicBezTo>
                  <a:pt x="191" y="398"/>
                  <a:pt x="193" y="396"/>
                  <a:pt x="193" y="394"/>
                </a:cubicBezTo>
                <a:cubicBezTo>
                  <a:pt x="193" y="392"/>
                  <a:pt x="190" y="391"/>
                  <a:pt x="187" y="391"/>
                </a:cubicBezTo>
                <a:close/>
              </a:path>
              <a:path w="512" h="512">
                <a:moveTo>
                  <a:pt x="253" y="8"/>
                </a:moveTo>
                <a:cubicBezTo>
                  <a:pt x="114" y="8"/>
                  <a:pt x="8" y="113"/>
                  <a:pt x="8" y="252"/>
                </a:cubicBezTo>
                <a:cubicBezTo>
                  <a:pt x="8" y="363"/>
                  <a:pt x="78" y="458"/>
                  <a:pt x="178" y="491"/>
                </a:cubicBezTo>
                <a:cubicBezTo>
                  <a:pt x="190" y="494"/>
                  <a:pt x="195" y="486"/>
                  <a:pt x="195" y="479"/>
                </a:cubicBezTo>
                <a:cubicBezTo>
                  <a:pt x="195" y="473"/>
                  <a:pt x="195" y="439"/>
                  <a:pt x="195" y="418"/>
                </a:cubicBezTo>
                <a:cubicBezTo>
                  <a:pt x="195" y="418"/>
                  <a:pt x="125" y="433"/>
                  <a:pt x="110" y="388"/>
                </a:cubicBezTo>
                <a:cubicBezTo>
                  <a:pt x="110" y="388"/>
                  <a:pt x="98" y="359"/>
                  <a:pt x="82" y="351"/>
                </a:cubicBezTo>
                <a:cubicBezTo>
                  <a:pt x="82" y="351"/>
                  <a:pt x="59" y="336"/>
                  <a:pt x="84" y="336"/>
                </a:cubicBezTo>
                <a:cubicBezTo>
                  <a:pt x="84" y="336"/>
                  <a:pt x="109" y="338"/>
                  <a:pt x="122" y="362"/>
                </a:cubicBezTo>
                <a:cubicBezTo>
                  <a:pt x="144" y="400"/>
                  <a:pt x="181" y="389"/>
                  <a:pt x="195" y="383"/>
                </a:cubicBezTo>
                <a:cubicBezTo>
                  <a:pt x="197" y="367"/>
                  <a:pt x="204" y="355"/>
                  <a:pt x="211" y="349"/>
                </a:cubicBezTo>
                <a:cubicBezTo>
                  <a:pt x="155" y="343"/>
                  <a:pt x="99" y="335"/>
                  <a:pt x="99" y="238"/>
                </a:cubicBezTo>
                <a:cubicBezTo>
                  <a:pt x="99" y="211"/>
                  <a:pt x="106" y="197"/>
                  <a:pt x="122" y="179"/>
                </a:cubicBezTo>
                <a:cubicBezTo>
                  <a:pt x="120" y="173"/>
                  <a:pt x="111" y="146"/>
                  <a:pt x="125" y="112"/>
                </a:cubicBezTo>
                <a:cubicBezTo>
                  <a:pt x="146" y="105"/>
                  <a:pt x="194" y="139"/>
                  <a:pt x="194" y="139"/>
                </a:cubicBezTo>
                <a:cubicBezTo>
                  <a:pt x="214" y="133"/>
                  <a:pt x="236" y="130"/>
                  <a:pt x="257" y="130"/>
                </a:cubicBezTo>
                <a:cubicBezTo>
                  <a:pt x="278" y="130"/>
                  <a:pt x="300" y="133"/>
                  <a:pt x="320" y="139"/>
                </a:cubicBezTo>
                <a:cubicBezTo>
                  <a:pt x="320" y="139"/>
                  <a:pt x="368" y="105"/>
                  <a:pt x="389" y="112"/>
                </a:cubicBezTo>
                <a:cubicBezTo>
                  <a:pt x="402" y="146"/>
                  <a:pt x="394" y="173"/>
                  <a:pt x="391" y="179"/>
                </a:cubicBezTo>
                <a:cubicBezTo>
                  <a:pt x="407" y="197"/>
                  <a:pt x="417" y="211"/>
                  <a:pt x="417" y="238"/>
                </a:cubicBezTo>
                <a:cubicBezTo>
                  <a:pt x="417" y="335"/>
                  <a:pt x="358" y="343"/>
                  <a:pt x="302" y="349"/>
                </a:cubicBezTo>
                <a:cubicBezTo>
                  <a:pt x="311" y="357"/>
                  <a:pt x="319" y="372"/>
                  <a:pt x="319" y="395"/>
                </a:cubicBezTo>
                <a:cubicBezTo>
                  <a:pt x="319" y="429"/>
                  <a:pt x="319" y="471"/>
                  <a:pt x="319" y="479"/>
                </a:cubicBezTo>
                <a:cubicBezTo>
                  <a:pt x="319" y="485"/>
                  <a:pt x="324" y="493"/>
                  <a:pt x="336" y="491"/>
                </a:cubicBezTo>
                <a:cubicBezTo>
                  <a:pt x="436" y="458"/>
                  <a:pt x="504" y="363"/>
                  <a:pt x="504" y="252"/>
                </a:cubicBezTo>
                <a:cubicBezTo>
                  <a:pt x="504" y="113"/>
                  <a:pt x="392" y="8"/>
                  <a:pt x="253" y="8"/>
                </a:cubicBezTo>
                <a:close/>
              </a:path>
              <a:path w="512" h="512">
                <a:moveTo>
                  <a:pt x="105" y="353"/>
                </a:moveTo>
                <a:cubicBezTo>
                  <a:pt x="104" y="354"/>
                  <a:pt x="104" y="356"/>
                  <a:pt x="106" y="358"/>
                </a:cubicBezTo>
                <a:cubicBezTo>
                  <a:pt x="108" y="360"/>
                  <a:pt x="110" y="360"/>
                  <a:pt x="111" y="359"/>
                </a:cubicBezTo>
                <a:cubicBezTo>
                  <a:pt x="112" y="358"/>
                  <a:pt x="112" y="356"/>
                  <a:pt x="110" y="354"/>
                </a:cubicBezTo>
                <a:cubicBezTo>
                  <a:pt x="109" y="352"/>
                  <a:pt x="107" y="352"/>
                  <a:pt x="105" y="353"/>
                </a:cubicBezTo>
                <a:close/>
              </a:path>
              <a:path w="512" h="512">
                <a:moveTo>
                  <a:pt x="94" y="345"/>
                </a:moveTo>
                <a:cubicBezTo>
                  <a:pt x="94" y="346"/>
                  <a:pt x="95" y="348"/>
                  <a:pt x="97" y="349"/>
                </a:cubicBezTo>
                <a:cubicBezTo>
                  <a:pt x="98" y="350"/>
                  <a:pt x="100" y="349"/>
                  <a:pt x="101" y="348"/>
                </a:cubicBezTo>
                <a:cubicBezTo>
                  <a:pt x="102" y="347"/>
                  <a:pt x="101" y="345"/>
                  <a:pt x="99" y="344"/>
                </a:cubicBezTo>
                <a:cubicBezTo>
                  <a:pt x="97" y="343"/>
                  <a:pt x="95" y="344"/>
                  <a:pt x="94" y="345"/>
                </a:cubicBezTo>
                <a:close/>
              </a:path>
              <a:path w="512" h="512">
                <a:moveTo>
                  <a:pt x="127" y="380"/>
                </a:moveTo>
                <a:cubicBezTo>
                  <a:pt x="125" y="382"/>
                  <a:pt x="126" y="385"/>
                  <a:pt x="128" y="387"/>
                </a:cubicBezTo>
                <a:cubicBezTo>
                  <a:pt x="130" y="389"/>
                  <a:pt x="133" y="389"/>
                  <a:pt x="135" y="388"/>
                </a:cubicBezTo>
                <a:cubicBezTo>
                  <a:pt x="136" y="386"/>
                  <a:pt x="135" y="383"/>
                  <a:pt x="133" y="381"/>
                </a:cubicBezTo>
                <a:cubicBezTo>
                  <a:pt x="131" y="379"/>
                  <a:pt x="128" y="379"/>
                  <a:pt x="127" y="380"/>
                </a:cubicBezTo>
                <a:close/>
              </a:path>
              <a:path w="512" h="512">
                <a:moveTo>
                  <a:pt x="115" y="366"/>
                </a:moveTo>
                <a:cubicBezTo>
                  <a:pt x="114" y="367"/>
                  <a:pt x="114" y="369"/>
                  <a:pt x="115" y="372"/>
                </a:cubicBezTo>
                <a:cubicBezTo>
                  <a:pt x="117" y="374"/>
                  <a:pt x="120" y="375"/>
                  <a:pt x="121" y="374"/>
                </a:cubicBezTo>
                <a:cubicBezTo>
                  <a:pt x="123" y="373"/>
                  <a:pt x="123" y="370"/>
                  <a:pt x="121" y="368"/>
                </a:cubicBezTo>
                <a:cubicBezTo>
                  <a:pt x="120" y="365"/>
                  <a:pt x="117" y="364"/>
                  <a:pt x="115" y="366"/>
                </a:cubicBezTo>
                <a:close/>
              </a:path>
            </a:pathLst>
          </a:custGeom>
          <a:solidFill>
            <a:srgbClr val="697788"/>
          </a:solidFill>
          <a:ln>
            <a:noFill/>
          </a:ln>
        </p:spPr>
      </p:sp>
      <p:sp>
        <p:nvSpPr>
          <p:cNvPr id="20" name="repo-link"/>
          <p:cNvSpPr txBox="1"/>
          <p:nvPr/>
        </p:nvSpPr>
        <p:spPr>
          <a:xfrm>
            <a:off x="4927600" y="5689600"/>
            <a:ext cx="5334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97788"/>
                </a:solidFill>
                <a:latin typeface="MiSans"/>
                <a:ea typeface="MiSans"/>
              </a:rPr>
              <a:t>项目仓库：</a:t>
            </a:r>
            <a:r>
              <a:rPr lang="en-US" sz="1300" noProof="1" u="sng">
                <a:solidFill>
                  <a:srgbClr val="0563C1"/>
                </a:solidFill>
                <a:latin typeface="MiSans"/>
                <a:ea typeface="MiSans"/>
                <a:hlinkClick r:id="rId2"/>
              </a:rPr>
              <a:t>github.com/Wanru-P/HUST-</a:t>
            </a:r>
            <a:r>
              <a:rPr lang="en-US" sz="1300" noProof="1">
                <a:solidFill>
                  <a:srgbClr val="697788"/>
                </a:solidFill>
                <a:latin typeface="MiSans"/>
                <a:ea typeface="MiSans"/>
              </a:rPr>
              <a:t>（含数据清单与全部图表）</a:t>
            </a:r>
            <a:endParaRPr lang="en-US" sz="1300" noProof="1"/>
          </a:p>
        </p:txBody>
      </p:sp>
      <p:sp>
        <p:nvSpPr>
          <p:cNvPr id="21" name="page-num"/>
          <p:cNvSpPr txBox="1"/>
          <p:nvPr/>
        </p:nvSpPr>
        <p:spPr>
          <a:xfrm>
            <a:off x="10922000" y="6451600"/>
            <a:ext cx="660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100" noProof="1">
                <a:solidFill>
                  <a:srgbClr val="697788"/>
                </a:solidFill>
                <a:latin typeface="MiSans"/>
                <a:ea typeface="MiSans"/>
              </a:rPr>
              <a:t>11 / 14</a:t>
            </a:r>
            <a:endParaRPr lang="en-US" sz="1100" noProof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-label"/>
          <p:cNvSpPr txBox="1"/>
          <p:nvPr/>
        </p:nvSpPr>
        <p:spPr>
          <a:xfrm>
            <a:off x="609600" y="4064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spc="300" kern="0">
                <a:solidFill>
                  <a:srgbClr val="697788"/>
                </a:solidFill>
                <a:latin typeface="Arial"/>
                <a:ea typeface="微软雅黑"/>
              </a:rPr>
              <a:t>BACKUP A / DATA SCOPE</a:t>
            </a:r>
            <a:endParaRPr lang="en-US" sz="1200" noProof="1"/>
          </a:p>
        </p:txBody>
      </p:sp>
      <p:sp>
        <p:nvSpPr>
          <p:cNvPr id="3" name="page-title"/>
          <p:cNvSpPr txBox="1"/>
          <p:nvPr/>
        </p:nvSpPr>
        <p:spPr>
          <a:xfrm>
            <a:off x="609600" y="685800"/>
            <a:ext cx="109728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700" noProof="1" b="1">
                <a:solidFill>
                  <a:srgbClr val="173653"/>
                </a:solidFill>
                <a:latin typeface="Arial"/>
                <a:ea typeface="微软雅黑"/>
              </a:rPr>
              <a:t>我们究竟统计了哪些模型？</a:t>
            </a:r>
            <a:endParaRPr lang="en-US" sz="2700" noProof="1"/>
          </a:p>
        </p:txBody>
      </p:sp>
      <p:sp>
        <p:nvSpPr>
          <p:cNvPr id="4" name="title-rule"/>
          <p:cNvSpPr/>
          <p:nvPr>
            <p:extLst>
              <p:ext uri="{F5677B7D-0D2A-4D9B-9A5C-6D8D7D0E5A5D}">
                <pptd:line encoding="base64url">eyJ2aWV3Qm94IjpbODY0LDFdLCJwb2ludHMiOiIwLDAgODY0LDAiLCJjdXJ2ZSI6InNoYXJwIn0</pptd:line>
              </p:ext>
            </p:extLst>
          </p:nvPr>
        </p:nvSpPr>
        <p:spPr>
          <a:xfrm>
            <a:off x="609600" y="1346200"/>
            <a:ext cx="10972800" cy="12700"/>
          </a:xfrm>
          <a:custGeom>
            <a:avLst/>
            <a:gdLst/>
            <a:ahLst/>
            <a:cxnLst/>
            <a:rect l="l" t="t" r="r" b="b"/>
            <a:pathLst>
              <a:path w="864" h="1">
                <a:moveTo>
                  <a:pt x="0" y="0"/>
                </a:moveTo>
                <a:lnTo>
                  <a:pt x="864" y="0"/>
                </a:lnTo>
              </a:path>
            </a:pathLst>
          </a:custGeom>
          <a:noFill/>
          <a:ln w="12700">
            <a:solidFill>
              <a:srgbClr val="DCE5ED"/>
            </a:solidFill>
          </a:ln>
        </p:spPr>
      </p:sp>
      <p:sp>
        <p:nvSpPr>
          <p:cNvPr id="5" name="tl-caption"/>
          <p:cNvSpPr txBox="1"/>
          <p:nvPr/>
        </p:nvSpPr>
        <p:spPr>
          <a:xfrm>
            <a:off x="609600" y="1778000"/>
            <a:ext cx="5334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173653"/>
                </a:solidFill>
                <a:latin typeface="MiSans"/>
                <a:ea typeface="MiSans"/>
              </a:rPr>
              <a:t>统计口径：快照中仍可见模型的 createdAt</a:t>
            </a:r>
            <a:endParaRPr lang="en-US" sz="1400" noProof="1"/>
          </a:p>
        </p:txBody>
      </p:sp>
      <p:sp>
        <p:nvSpPr>
          <p:cNvPr id="6" name="tl-line"/>
          <p:cNvSpPr/>
          <p:nvPr>
            <p:extLst>
              <p:ext uri="{F5677B7D-0D2A-4D9B-9A5C-6D8D7D0E5A5D}">
                <pptd:line encoding="base64url">eyJ2aWV3Qm94IjpbMzcyLDJdLCJwb2ludHMiOiIwLDEgMzcyLDEiLCJjdXJ2ZSI6InNoYXJwIn0</pptd:line>
              </p:ext>
            </p:extLst>
          </p:nvPr>
        </p:nvSpPr>
        <p:spPr>
          <a:xfrm>
            <a:off x="914400" y="2794000"/>
            <a:ext cx="4724400" cy="25400"/>
          </a:xfrm>
          <a:custGeom>
            <a:avLst/>
            <a:gdLst/>
            <a:ahLst/>
            <a:cxnLst/>
            <a:rect l="l" t="t" r="r" b="b"/>
            <a:pathLst>
              <a:path w="372" h="2">
                <a:moveTo>
                  <a:pt x="0" y="1"/>
                </a:moveTo>
                <a:lnTo>
                  <a:pt x="372" y="1"/>
                </a:lnTo>
              </a:path>
            </a:pathLst>
          </a:custGeom>
          <a:noFill/>
          <a:ln w="25400">
            <a:solidFill>
              <a:srgbClr val="8AB8DC"/>
            </a:solidFill>
          </a:ln>
        </p:spPr>
      </p:sp>
      <p:sp>
        <p:nvSpPr>
          <p:cNvPr id="7" name="tl-dot1"/>
          <p:cNvSpPr/>
          <p:nvPr/>
        </p:nvSpPr>
        <p:spPr>
          <a:xfrm>
            <a:off x="838200" y="2717800"/>
            <a:ext cx="177800" cy="177800"/>
          </a:xfrm>
          <a:prstGeom prst="ellipse">
            <a:avLst/>
          </a:prstGeom>
          <a:solidFill>
            <a:srgbClr val="173653"/>
          </a:solidFill>
          <a:ln>
            <a:noFill/>
          </a:ln>
        </p:spPr>
      </p:sp>
      <p:sp>
        <p:nvSpPr>
          <p:cNvPr id="8" name="tl-dot2"/>
          <p:cNvSpPr/>
          <p:nvPr/>
        </p:nvSpPr>
        <p:spPr>
          <a:xfrm>
            <a:off x="5537200" y="2717800"/>
            <a:ext cx="177800" cy="177800"/>
          </a:xfrm>
          <a:prstGeom prst="ellipse">
            <a:avLst/>
          </a:prstGeom>
          <a:solidFill>
            <a:srgbClr val="F3B945"/>
          </a:solidFill>
          <a:ln>
            <a:noFill/>
          </a:ln>
        </p:spPr>
      </p:sp>
      <p:sp>
        <p:nvSpPr>
          <p:cNvPr id="9" name="tl-label1"/>
          <p:cNvSpPr txBox="1"/>
          <p:nvPr/>
        </p:nvSpPr>
        <p:spPr>
          <a:xfrm>
            <a:off x="609600" y="3098800"/>
            <a:ext cx="2413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00" noProof="1" b="1">
                <a:solidFill>
                  <a:srgbClr val="263444"/>
                </a:solidFill>
                <a:latin typeface="MiSans"/>
                <a:ea typeface="MiSans"/>
              </a:rPr>
              <a:t>2022-03</a:t>
            </a:r>
            <a:endParaRPr lang="en-US" sz="1200" noProof="1"/>
          </a:p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697788"/>
                </a:solidFill>
                <a:latin typeface="MiSans"/>
                <a:ea typeface="MiSans"/>
              </a:rPr>
              <a:t>最早创建月（存在时间戳异常聚集）</a:t>
            </a:r>
            <a:endParaRPr lang="en-US" sz="1200" noProof="1"/>
          </a:p>
        </p:txBody>
      </p:sp>
      <p:sp>
        <p:nvSpPr>
          <p:cNvPr id="10" name="tl-label2"/>
          <p:cNvSpPr txBox="1"/>
          <p:nvPr/>
        </p:nvSpPr>
        <p:spPr>
          <a:xfrm>
            <a:off x="3810000" y="3098800"/>
            <a:ext cx="2159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45000"/>
              </a:lnSpc>
            </a:pPr>
            <a:r>
              <a:rPr lang="en-US" sz="1200" noProof="1" b="1">
                <a:solidFill>
                  <a:srgbClr val="263444"/>
                </a:solidFill>
                <a:latin typeface="MiSans"/>
                <a:ea typeface="MiSans"/>
              </a:rPr>
              <a:t>2026-10-10</a:t>
            </a:r>
            <a:endParaRPr lang="en-US" sz="1200" noProof="1"/>
          </a:p>
          <a:p>
            <a:pPr algn="r">
              <a:lnSpc>
                <a:spcPct val="145000"/>
              </a:lnSpc>
            </a:pPr>
            <a:r>
              <a:rPr lang="en-US" sz="1200" noProof="1">
                <a:solidFill>
                  <a:srgbClr val="697788"/>
                </a:solidFill>
                <a:latin typeface="MiSans"/>
                <a:ea typeface="MiSans"/>
              </a:rPr>
              <a:t>快照截取时的可见状态</a:t>
            </a:r>
            <a:endParaRPr lang="en-US" sz="1200" noProof="1"/>
          </a:p>
        </p:txBody>
      </p:sp>
      <p:sp>
        <p:nvSpPr>
          <p:cNvPr id="11" name="tl-note"/>
          <p:cNvSpPr txBox="1"/>
          <p:nvPr/>
        </p:nvSpPr>
        <p:spPr>
          <a:xfrm>
            <a:off x="609600" y="4191000"/>
            <a:ext cx="5334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250" noProof="1">
                <a:solidFill>
                  <a:srgbClr val="697788"/>
                </a:solidFill>
                <a:latin typeface="MiSans"/>
                <a:ea typeface="MiSans"/>
              </a:rPr>
              <a:t>该口径统计的是“当前仍能看到的模型何时被创建”，不是平台完整历史发行量；已下架、删除或转为私有的模型不在其中。</a:t>
            </a:r>
            <a:endParaRPr lang="en-US" sz="1250" noProof="1"/>
          </a:p>
        </p:txBody>
      </p:sp>
      <p:sp>
        <p:nvSpPr>
          <p:cNvPr id="12" name="v-divider"/>
          <p:cNvSpPr/>
          <p:nvPr>
            <p:extLst>
              <p:ext uri="{F5677B7D-0D2A-4D9B-9A5C-6D8D7D0E5A5D}">
                <pptd:line encoding="base64url">eyJ2aWV3Qm94IjpbMSwyNzBdLCJwb2ludHMiOiIwLDAgMCwyNzAiLCJjdXJ2ZSI6InNoYXJwIn0</pptd:line>
              </p:ext>
            </p:extLst>
          </p:nvPr>
        </p:nvSpPr>
        <p:spPr>
          <a:xfrm>
            <a:off x="6350000" y="1778000"/>
            <a:ext cx="12700" cy="3429000"/>
          </a:xfrm>
          <a:custGeom>
            <a:avLst/>
            <a:gdLst/>
            <a:ahLst/>
            <a:cxnLst/>
            <a:rect l="l" t="t" r="r" b="b"/>
            <a:pathLst>
              <a:path w="1" h="270">
                <a:moveTo>
                  <a:pt x="0" y="0"/>
                </a:moveTo>
                <a:lnTo>
                  <a:pt x="0" y="270"/>
                </a:lnTo>
              </a:path>
            </a:pathLst>
          </a:custGeom>
          <a:noFill/>
          <a:ln w="12700">
            <a:solidFill>
              <a:srgbClr val="DCE5ED"/>
            </a:solidFill>
          </a:ln>
        </p:spPr>
      </p:sp>
      <p:sp>
        <p:nvSpPr>
          <p:cNvPr id="13" name="lim-head"/>
          <p:cNvSpPr txBox="1"/>
          <p:nvPr/>
        </p:nvSpPr>
        <p:spPr>
          <a:xfrm>
            <a:off x="6756400" y="17780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173653"/>
                </a:solidFill>
                <a:latin typeface="MiSans"/>
                <a:ea typeface="MiSans"/>
              </a:rPr>
              <a:t>解读时必须记住的三个限制</a:t>
            </a:r>
            <a:endParaRPr lang="en-US" sz="1400" noProof="1"/>
          </a:p>
        </p:txBody>
      </p:sp>
      <p:sp>
        <p:nvSpPr>
          <p:cNvPr id="14" name="lim1-num"/>
          <p:cNvSpPr txBox="1"/>
          <p:nvPr/>
        </p:nvSpPr>
        <p:spPr>
          <a:xfrm>
            <a:off x="6756400" y="2260600"/>
            <a:ext cx="1524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173653"/>
                </a:solidFill>
                <a:latin typeface="MiSans"/>
                <a:ea typeface="MiSans"/>
              </a:rPr>
              <a:t>65.55%</a:t>
            </a:r>
            <a:endParaRPr lang="en-US" sz="2400" noProof="1"/>
          </a:p>
        </p:txBody>
      </p:sp>
      <p:sp>
        <p:nvSpPr>
          <p:cNvPr id="15" name="lim1-text"/>
          <p:cNvSpPr txBox="1"/>
          <p:nvPr/>
        </p:nvSpPr>
        <p:spPr>
          <a:xfrm>
            <a:off x="8382000" y="2311400"/>
            <a:ext cx="32004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50" noProof="1">
                <a:solidFill>
                  <a:srgbClr val="263444"/>
                </a:solidFill>
                <a:latin typeface="MiSans"/>
                <a:ea typeface="MiSans"/>
              </a:rPr>
              <a:t>模型缺少 pipeline_tag 任务标签</a:t>
            </a:r>
            <a:endParaRPr lang="en-US" sz="1250" noProof="1"/>
          </a:p>
        </p:txBody>
      </p:sp>
      <p:sp>
        <p:nvSpPr>
          <p:cNvPr id="16" name="lim1-rule"/>
          <p:cNvSpPr/>
          <p:nvPr>
            <p:extLst>
              <p:ext uri="{F5677B7D-0D2A-4D9B-9A5C-6D8D7D0E5A5D}">
                <pptd:line encoding="base64url">eyJ2aWV3Qm94IjpbMzgwLDFdLCJwb2ludHMiOiIwLDAgMzgwLDAiLCJjdXJ2ZSI6InNoYXJwIn0</pptd:line>
              </p:ext>
            </p:extLst>
          </p:nvPr>
        </p:nvSpPr>
        <p:spPr>
          <a:xfrm>
            <a:off x="6756400" y="2844800"/>
            <a:ext cx="4826000" cy="12700"/>
          </a:xfrm>
          <a:custGeom>
            <a:avLst/>
            <a:gdLst/>
            <a:ahLst/>
            <a:cxnLst/>
            <a:rect l="l" t="t" r="r" b="b"/>
            <a:pathLst>
              <a:path w="380" h="1">
                <a:moveTo>
                  <a:pt x="0" y="0"/>
                </a:moveTo>
                <a:lnTo>
                  <a:pt x="380" y="0"/>
                </a:lnTo>
              </a:path>
            </a:pathLst>
          </a:custGeom>
          <a:noFill/>
          <a:ln w="12700">
            <a:solidFill>
              <a:srgbClr val="DCE5ED"/>
            </a:solidFill>
          </a:ln>
        </p:spPr>
      </p:sp>
      <p:sp>
        <p:nvSpPr>
          <p:cNvPr id="17" name="lim2-num"/>
          <p:cNvSpPr txBox="1"/>
          <p:nvPr/>
        </p:nvSpPr>
        <p:spPr>
          <a:xfrm>
            <a:off x="6756400" y="3048000"/>
            <a:ext cx="1524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173653"/>
                </a:solidFill>
                <a:latin typeface="MiSans"/>
                <a:ea typeface="MiSans"/>
              </a:rPr>
              <a:t>71.74%</a:t>
            </a:r>
            <a:endParaRPr lang="en-US" sz="2400" noProof="1"/>
          </a:p>
        </p:txBody>
      </p:sp>
      <p:sp>
        <p:nvSpPr>
          <p:cNvPr id="18" name="lim2-text"/>
          <p:cNvSpPr txBox="1"/>
          <p:nvPr/>
        </p:nvSpPr>
        <p:spPr>
          <a:xfrm>
            <a:off x="8382000" y="3098800"/>
            <a:ext cx="32004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50" noProof="1">
                <a:solidFill>
                  <a:srgbClr val="263444"/>
                </a:solidFill>
                <a:latin typeface="MiSans"/>
                <a:ea typeface="MiSans"/>
              </a:rPr>
              <a:t>模型缺少 baseModels 底座信息</a:t>
            </a:r>
            <a:endParaRPr lang="en-US" sz="1250" noProof="1"/>
          </a:p>
        </p:txBody>
      </p:sp>
      <p:sp>
        <p:nvSpPr>
          <p:cNvPr id="19" name="lim2-rule"/>
          <p:cNvSpPr/>
          <p:nvPr>
            <p:extLst>
              <p:ext uri="{F5677B7D-0D2A-4D9B-9A5C-6D8D7D0E5A5D}">
                <pptd:line encoding="base64url">eyJ2aWV3Qm94IjpbMzgwLDFdLCJwb2ludHMiOiIwLDAgMzgwLDAiLCJjdXJ2ZSI6InNoYXJwIn0</pptd:line>
              </p:ext>
            </p:extLst>
          </p:nvPr>
        </p:nvSpPr>
        <p:spPr>
          <a:xfrm>
            <a:off x="6756400" y="3632200"/>
            <a:ext cx="4826000" cy="12700"/>
          </a:xfrm>
          <a:custGeom>
            <a:avLst/>
            <a:gdLst/>
            <a:ahLst/>
            <a:cxnLst/>
            <a:rect l="l" t="t" r="r" b="b"/>
            <a:pathLst>
              <a:path w="380" h="1">
                <a:moveTo>
                  <a:pt x="0" y="0"/>
                </a:moveTo>
                <a:lnTo>
                  <a:pt x="380" y="0"/>
                </a:lnTo>
              </a:path>
            </a:pathLst>
          </a:custGeom>
          <a:noFill/>
          <a:ln w="12700">
            <a:solidFill>
              <a:srgbClr val="DCE5ED"/>
            </a:solidFill>
          </a:ln>
        </p:spPr>
      </p:sp>
      <p:sp>
        <p:nvSpPr>
          <p:cNvPr id="20" name="lim3-num"/>
          <p:cNvSpPr txBox="1"/>
          <p:nvPr/>
        </p:nvSpPr>
        <p:spPr>
          <a:xfrm>
            <a:off x="6756400" y="3835400"/>
            <a:ext cx="1524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173653"/>
                </a:solidFill>
                <a:latin typeface="MiSans"/>
                <a:ea typeface="MiSans"/>
              </a:rPr>
              <a:t>2022-03</a:t>
            </a:r>
            <a:endParaRPr lang="en-US" sz="2400" noProof="1"/>
          </a:p>
        </p:txBody>
      </p:sp>
      <p:sp>
        <p:nvSpPr>
          <p:cNvPr id="21" name="lim3-text"/>
          <p:cNvSpPr txBox="1"/>
          <p:nvPr/>
        </p:nvSpPr>
        <p:spPr>
          <a:xfrm>
            <a:off x="8382000" y="3886200"/>
            <a:ext cx="32004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50" noProof="1">
                <a:solidFill>
                  <a:srgbClr val="263444"/>
                </a:solidFill>
                <a:latin typeface="MiSans"/>
                <a:ea typeface="MiSans"/>
              </a:rPr>
              <a:t>存在时间戳聚集异常，根因未证实</a:t>
            </a:r>
            <a:endParaRPr lang="en-US" sz="1250" noProof="1"/>
          </a:p>
        </p:txBody>
      </p:sp>
      <p:sp>
        <p:nvSpPr>
          <p:cNvPr id="22" name="qa-rule"/>
          <p:cNvSpPr/>
          <p:nvPr>
            <p:extLst>
              <p:ext uri="{F5677B7D-0D2A-4D9B-9A5C-6D8D7D0E5A5D}">
                <pptd:line encoding="base64url">eyJ2aWV3Qm94IjpbODY0LDFdLCJwb2ludHMiOiIwLDAgODY0LDAiLCJjdXJ2ZSI6InNoYXJwIn0</pptd:line>
              </p:ext>
            </p:extLst>
          </p:nvPr>
        </p:nvSpPr>
        <p:spPr>
          <a:xfrm>
            <a:off x="609600" y="5435600"/>
            <a:ext cx="10972800" cy="12700"/>
          </a:xfrm>
          <a:custGeom>
            <a:avLst/>
            <a:gdLst/>
            <a:ahLst/>
            <a:cxnLst/>
            <a:rect l="l" t="t" r="r" b="b"/>
            <a:pathLst>
              <a:path w="864" h="1">
                <a:moveTo>
                  <a:pt x="0" y="0"/>
                </a:moveTo>
                <a:lnTo>
                  <a:pt x="864" y="0"/>
                </a:lnTo>
              </a:path>
            </a:pathLst>
          </a:custGeom>
          <a:noFill/>
          <a:ln w="12700">
            <a:solidFill>
              <a:srgbClr val="DCE5ED"/>
            </a:solidFill>
          </a:ln>
        </p:spPr>
      </p:sp>
      <p:sp>
        <p:nvSpPr>
          <p:cNvPr id="23" name="qa-text"/>
          <p:cNvSpPr txBox="1"/>
          <p:nvPr/>
        </p:nvSpPr>
        <p:spPr>
          <a:xfrm>
            <a:off x="609600" y="5638800"/>
            <a:ext cx="109728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250" noProof="1" b="1">
                <a:solidFill>
                  <a:srgbClr val="173653"/>
                </a:solidFill>
                <a:latin typeface="MiSans"/>
                <a:ea typeface="MiSans"/>
              </a:rPr>
              <a:t>备问：为什么 2022 年第一个月异常？</a:t>
            </a:r>
            <a:endParaRPr lang="en-US" sz="1250" noProof="1"/>
          </a:p>
          <a:p>
            <a:pPr>
              <a:lnSpc>
                <a:spcPct val="155000"/>
              </a:lnSpc>
            </a:pPr>
            <a:r>
              <a:rPr lang="en-US" sz="1250" noProof="1">
                <a:solidFill>
                  <a:srgbClr val="697788"/>
                </a:solidFill>
                <a:latin typeface="MiSans"/>
                <a:ea typeface="MiSans"/>
              </a:rPr>
              <a:t>我们确认了时间戳聚集现象，但没有证据能确定根因，因此没有把它当作正常发布高峰来解读。</a:t>
            </a:r>
            <a:endParaRPr lang="en-US" sz="1250" noProof="1"/>
          </a:p>
        </p:txBody>
      </p:sp>
      <p:sp>
        <p:nvSpPr>
          <p:cNvPr id="24" name="page-num"/>
          <p:cNvSpPr txBox="1"/>
          <p:nvPr/>
        </p:nvSpPr>
        <p:spPr>
          <a:xfrm>
            <a:off x="10922000" y="6451600"/>
            <a:ext cx="660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100" noProof="1">
                <a:solidFill>
                  <a:srgbClr val="697788"/>
                </a:solidFill>
                <a:latin typeface="MiSans"/>
                <a:ea typeface="MiSans"/>
              </a:rPr>
              <a:t>12 / 14</a:t>
            </a:r>
            <a:endParaRPr lang="en-US" sz="1100" noProof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-label"/>
          <p:cNvSpPr txBox="1"/>
          <p:nvPr/>
        </p:nvSpPr>
        <p:spPr>
          <a:xfrm>
            <a:off x="609600" y="406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spc="300" kern="0">
                <a:solidFill>
                  <a:srgbClr val="697788"/>
                </a:solidFill>
                <a:latin typeface="Arial"/>
                <a:ea typeface="微软雅黑"/>
              </a:rPr>
              <a:t>BACKUP B / ROBUSTNESS</a:t>
            </a:r>
            <a:endParaRPr lang="en-US" sz="1200" noProof="1"/>
          </a:p>
        </p:txBody>
      </p:sp>
      <p:sp>
        <p:nvSpPr>
          <p:cNvPr id="3" name="page-title"/>
          <p:cNvSpPr txBox="1"/>
          <p:nvPr/>
        </p:nvSpPr>
        <p:spPr>
          <a:xfrm>
            <a:off x="609600" y="685800"/>
            <a:ext cx="109728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700" noProof="1" b="1">
                <a:solidFill>
                  <a:srgbClr val="173653"/>
                </a:solidFill>
                <a:latin typeface="Arial"/>
                <a:ea typeface="微软雅黑"/>
              </a:rPr>
              <a:t>剔除零下载模型，集中度仍然很高</a:t>
            </a:r>
            <a:endParaRPr lang="en-US" sz="2700" noProof="1"/>
          </a:p>
        </p:txBody>
      </p:sp>
      <p:sp>
        <p:nvSpPr>
          <p:cNvPr id="4" name="title-rule"/>
          <p:cNvSpPr/>
          <p:nvPr>
            <p:extLst>
              <p:ext uri="{F5677B7D-0D2A-4D9B-9A5C-6D8D7D0E5A5D}">
                <pptd:line encoding="base64url">eyJ2aWV3Qm94IjpbODY0LDFdLCJwb2ludHMiOiIwLDAgODY0LDAiLCJjdXJ2ZSI6InNoYXJwIn0</pptd:line>
              </p:ext>
            </p:extLst>
          </p:nvPr>
        </p:nvSpPr>
        <p:spPr>
          <a:xfrm>
            <a:off x="609600" y="1346200"/>
            <a:ext cx="10972800" cy="12700"/>
          </a:xfrm>
          <a:custGeom>
            <a:avLst/>
            <a:gdLst/>
            <a:ahLst/>
            <a:cxnLst/>
            <a:rect l="l" t="t" r="r" b="b"/>
            <a:pathLst>
              <a:path w="864" h="1">
                <a:moveTo>
                  <a:pt x="0" y="0"/>
                </a:moveTo>
                <a:lnTo>
                  <a:pt x="864" y="0"/>
                </a:lnTo>
              </a:path>
            </a:pathLst>
          </a:custGeom>
          <a:noFill/>
          <a:ln w="12700">
            <a:solidFill>
              <a:srgbClr val="DCE5ED"/>
            </a:solidFill>
          </a:ln>
        </p:spPr>
      </p:sp>
      <p:pic>
        <p:nvPicPr>
          <p:cNvPr id="5" name="figs1"/>
          <p:cNvPicPr/>
          <p:nvPr/>
        </p:nvPicPr>
        <p:blipFill>
          <a:blip r:embed="rId2"/>
          <a:srcRect t="-3" b="-3"/>
          <a:stretch>
            <a:fillRect/>
          </a:stretch>
        </p:blipFill>
        <p:spPr>
          <a:xfrm>
            <a:off x="609600" y="1651000"/>
            <a:ext cx="6604000" cy="3759200"/>
          </a:xfrm>
          <a:prstGeom prst="rect">
            <a:avLst/>
          </a:prstGeom>
          <a:ln>
            <a:noFill/>
          </a:ln>
        </p:spPr>
      </p:pic>
      <p:sp>
        <p:nvSpPr>
          <p:cNvPr id="6" name="fig-caption"/>
          <p:cNvSpPr txBox="1"/>
          <p:nvPr/>
        </p:nvSpPr>
        <p:spPr>
          <a:xfrm>
            <a:off x="609600" y="5511800"/>
            <a:ext cx="6604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697788"/>
                </a:solidFill>
                <a:latin typeface="MiSans"/>
                <a:ea typeface="MiSans"/>
              </a:rPr>
              <a:t>Figure S1：Gini 稳健性（全部模型 vs 剔除零下载，figures_supp）</a:t>
            </a:r>
            <a:endParaRPr lang="en-US" sz="1100" noProof="1"/>
          </a:p>
        </p:txBody>
      </p:sp>
      <p:sp>
        <p:nvSpPr>
          <p:cNvPr id="7" name="g1-num"/>
          <p:cNvSpPr txBox="1"/>
          <p:nvPr/>
        </p:nvSpPr>
        <p:spPr>
          <a:xfrm>
            <a:off x="7823200" y="1879600"/>
            <a:ext cx="37592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800" noProof="1" b="1">
                <a:solidFill>
                  <a:srgbClr val="173653"/>
                </a:solidFill>
                <a:latin typeface="MiSans"/>
                <a:ea typeface="MiSans"/>
              </a:rPr>
              <a:t>0.995355</a:t>
            </a:r>
            <a:endParaRPr lang="en-US" sz="2800" noProof="1"/>
          </a:p>
        </p:txBody>
      </p:sp>
      <p:sp>
        <p:nvSpPr>
          <p:cNvPr id="8" name="g1-cap"/>
          <p:cNvSpPr txBox="1"/>
          <p:nvPr/>
        </p:nvSpPr>
        <p:spPr>
          <a:xfrm>
            <a:off x="7823200" y="2387600"/>
            <a:ext cx="37592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97788"/>
                </a:solidFill>
                <a:latin typeface="MiSans"/>
                <a:ea typeface="MiSans"/>
              </a:rPr>
              <a:t>全部模型 · 近 30 天下载 Gini</a:t>
            </a:r>
            <a:endParaRPr lang="en-US" sz="1200" noProof="1"/>
          </a:p>
        </p:txBody>
      </p:sp>
      <p:sp>
        <p:nvSpPr>
          <p:cNvPr id="9" name="g1-rule"/>
          <p:cNvSpPr/>
          <p:nvPr>
            <p:extLst>
              <p:ext uri="{F5677B7D-0D2A-4D9B-9A5C-6D8D7D0E5A5D}">
                <pptd:line encoding="base64url">eyJ2aWV3Qm94IjpbMjk2LDFdLCJwb2ludHMiOiIwLDAgMjk2LDAiLCJjdXJ2ZSI6InNoYXJwIn0</pptd:line>
              </p:ext>
            </p:extLst>
          </p:nvPr>
        </p:nvSpPr>
        <p:spPr>
          <a:xfrm>
            <a:off x="7823200" y="2794000"/>
            <a:ext cx="3759200" cy="12700"/>
          </a:xfrm>
          <a:custGeom>
            <a:avLst/>
            <a:gdLst/>
            <a:ahLst/>
            <a:cxnLst/>
            <a:rect l="l" t="t" r="r" b="b"/>
            <a:pathLst>
              <a:path w="296" h="1">
                <a:moveTo>
                  <a:pt x="0" y="0"/>
                </a:moveTo>
                <a:lnTo>
                  <a:pt x="296" y="0"/>
                </a:lnTo>
              </a:path>
            </a:pathLst>
          </a:custGeom>
          <a:noFill/>
          <a:ln w="12700">
            <a:solidFill>
              <a:srgbClr val="DCE5ED"/>
            </a:solidFill>
          </a:ln>
        </p:spPr>
      </p:sp>
      <p:sp>
        <p:nvSpPr>
          <p:cNvPr id="10" name="g2-num"/>
          <p:cNvSpPr txBox="1"/>
          <p:nvPr/>
        </p:nvSpPr>
        <p:spPr>
          <a:xfrm>
            <a:off x="7823200" y="3022600"/>
            <a:ext cx="37592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800" noProof="1" b="1">
                <a:solidFill>
                  <a:srgbClr val="173653"/>
                </a:solidFill>
                <a:latin typeface="MiSans"/>
                <a:ea typeface="MiSans"/>
              </a:rPr>
              <a:t>0.991773</a:t>
            </a:r>
            <a:endParaRPr lang="en-US" sz="2800" noProof="1"/>
          </a:p>
        </p:txBody>
      </p:sp>
      <p:sp>
        <p:nvSpPr>
          <p:cNvPr id="11" name="g2-cap"/>
          <p:cNvSpPr txBox="1"/>
          <p:nvPr/>
        </p:nvSpPr>
        <p:spPr>
          <a:xfrm>
            <a:off x="7823200" y="3530600"/>
            <a:ext cx="37592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97788"/>
                </a:solidFill>
                <a:latin typeface="MiSans"/>
                <a:ea typeface="MiSans"/>
              </a:rPr>
              <a:t>剔除零下载后 · 近 30 天下载 Gini</a:t>
            </a:r>
            <a:endParaRPr lang="en-US" sz="1200" noProof="1"/>
          </a:p>
        </p:txBody>
      </p:sp>
      <p:sp>
        <p:nvSpPr>
          <p:cNvPr id="12" name="g2-rule"/>
          <p:cNvSpPr/>
          <p:nvPr>
            <p:extLst>
              <p:ext uri="{F5677B7D-0D2A-4D9B-9A5C-6D8D7D0E5A5D}">
                <pptd:line encoding="base64url">eyJ2aWV3Qm94IjpbMjk2LDFdLCJwb2ludHMiOiIwLDAgMjk2LDAiLCJjdXJ2ZSI6InNoYXJwIn0</pptd:line>
              </p:ext>
            </p:extLst>
          </p:nvPr>
        </p:nvSpPr>
        <p:spPr>
          <a:xfrm>
            <a:off x="7823200" y="3937000"/>
            <a:ext cx="3759200" cy="12700"/>
          </a:xfrm>
          <a:custGeom>
            <a:avLst/>
            <a:gdLst/>
            <a:ahLst/>
            <a:cxnLst/>
            <a:rect l="l" t="t" r="r" b="b"/>
            <a:pathLst>
              <a:path w="296" h="1">
                <a:moveTo>
                  <a:pt x="0" y="0"/>
                </a:moveTo>
                <a:lnTo>
                  <a:pt x="296" y="0"/>
                </a:lnTo>
              </a:path>
            </a:pathLst>
          </a:custGeom>
          <a:noFill/>
          <a:ln w="12700">
            <a:solidFill>
              <a:srgbClr val="DCE5ED"/>
            </a:solidFill>
          </a:ln>
        </p:spPr>
      </p:sp>
      <p:sp>
        <p:nvSpPr>
          <p:cNvPr id="13" name="g3-num"/>
          <p:cNvSpPr txBox="1"/>
          <p:nvPr/>
        </p:nvSpPr>
        <p:spPr>
          <a:xfrm>
            <a:off x="7823200" y="4165600"/>
            <a:ext cx="37592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800" noProof="1" b="1">
                <a:solidFill>
                  <a:srgbClr val="173653"/>
                </a:solidFill>
                <a:latin typeface="MiSans"/>
                <a:ea typeface="MiSans"/>
              </a:rPr>
              <a:t>43.54%</a:t>
            </a:r>
            <a:endParaRPr lang="en-US" sz="2800" noProof="1"/>
          </a:p>
        </p:txBody>
      </p:sp>
      <p:sp>
        <p:nvSpPr>
          <p:cNvPr id="14" name="g3-cap"/>
          <p:cNvSpPr txBox="1"/>
          <p:nvPr/>
        </p:nvSpPr>
        <p:spPr>
          <a:xfrm>
            <a:off x="7823200" y="4673600"/>
            <a:ext cx="37592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97788"/>
                </a:solidFill>
                <a:latin typeface="MiSans"/>
                <a:ea typeface="MiSans"/>
              </a:rPr>
              <a:t>近 30 天下载量为零的模型比例</a:t>
            </a:r>
            <a:endParaRPr lang="en-US" sz="1200" noProof="1"/>
          </a:p>
        </p:txBody>
      </p:sp>
      <p:sp>
        <p:nvSpPr>
          <p:cNvPr id="15" name="ans-rule"/>
          <p:cNvSpPr/>
          <p:nvPr>
            <p:extLst>
              <p:ext uri="{F5677B7D-0D2A-4D9B-9A5C-6D8D7D0E5A5D}">
                <pptd:line encoding="base64url">eyJ2aWV3Qm94IjpbODY0LDFdLCJwb2ludHMiOiIwLDAgODY0LDAiLCJjdXJ2ZSI6InNoYXJwIn0</pptd:line>
              </p:ext>
            </p:extLst>
          </p:nvPr>
        </p:nvSpPr>
        <p:spPr>
          <a:xfrm>
            <a:off x="609600" y="5918200"/>
            <a:ext cx="10972800" cy="12700"/>
          </a:xfrm>
          <a:custGeom>
            <a:avLst/>
            <a:gdLst/>
            <a:ahLst/>
            <a:cxnLst/>
            <a:rect l="l" t="t" r="r" b="b"/>
            <a:pathLst>
              <a:path w="864" h="1">
                <a:moveTo>
                  <a:pt x="0" y="0"/>
                </a:moveTo>
                <a:lnTo>
                  <a:pt x="864" y="0"/>
                </a:lnTo>
              </a:path>
            </a:pathLst>
          </a:custGeom>
          <a:noFill/>
          <a:ln w="12700">
            <a:solidFill>
              <a:srgbClr val="DCE5ED"/>
            </a:solidFill>
          </a:ln>
        </p:spPr>
      </p:sp>
      <p:sp>
        <p:nvSpPr>
          <p:cNvPr id="16" name="ans-text"/>
          <p:cNvSpPr txBox="1"/>
          <p:nvPr/>
        </p:nvSpPr>
        <p:spPr>
          <a:xfrm>
            <a:off x="609600" y="6096000"/>
            <a:ext cx="109728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noProof="1">
                <a:solidFill>
                  <a:srgbClr val="697788"/>
                </a:solidFill>
                <a:latin typeface="MiSans"/>
                <a:ea typeface="MiSans"/>
              </a:rPr>
              <a:t>回答口径：集中现象并非完全由零下载记录导致；但我们没有做严格的幂律拟合，不能据此判定为幂律分布</a:t>
            </a:r>
            <a:endParaRPr lang="en-US" sz="1250" noProof="1"/>
          </a:p>
        </p:txBody>
      </p:sp>
      <p:sp>
        <p:nvSpPr>
          <p:cNvPr id="17" name="page-num"/>
          <p:cNvSpPr txBox="1"/>
          <p:nvPr/>
        </p:nvSpPr>
        <p:spPr>
          <a:xfrm>
            <a:off x="10922000" y="6451600"/>
            <a:ext cx="660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100" noProof="1">
                <a:solidFill>
                  <a:srgbClr val="697788"/>
                </a:solidFill>
                <a:latin typeface="MiSans"/>
                <a:ea typeface="MiSans"/>
              </a:rPr>
              <a:t>13 / 14</a:t>
            </a:r>
            <a:endParaRPr lang="en-US" sz="1100" noProof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-label"/>
          <p:cNvSpPr txBox="1"/>
          <p:nvPr/>
        </p:nvSpPr>
        <p:spPr>
          <a:xfrm>
            <a:off x="609600" y="406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spc="300" kern="0">
                <a:solidFill>
                  <a:srgbClr val="697788"/>
                </a:solidFill>
                <a:latin typeface="Arial"/>
                <a:ea typeface="微软雅黑"/>
              </a:rPr>
              <a:t>BACKUP C / ML VALIDITY</a:t>
            </a:r>
            <a:endParaRPr lang="en-US" sz="1200" noProof="1"/>
          </a:p>
        </p:txBody>
      </p:sp>
      <p:sp>
        <p:nvSpPr>
          <p:cNvPr id="3" name="page-title"/>
          <p:cNvSpPr txBox="1"/>
          <p:nvPr/>
        </p:nvSpPr>
        <p:spPr>
          <a:xfrm>
            <a:off x="609600" y="685800"/>
            <a:ext cx="109728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700" noProof="1" b="1">
                <a:solidFill>
                  <a:srgbClr val="173653"/>
                </a:solidFill>
                <a:latin typeface="Arial"/>
                <a:ea typeface="微软雅黑"/>
              </a:rPr>
              <a:t>训练 / 测试怎样划分？结果是不是对未来有效？</a:t>
            </a:r>
            <a:endParaRPr lang="en-US" sz="2700" noProof="1"/>
          </a:p>
        </p:txBody>
      </p:sp>
      <p:sp>
        <p:nvSpPr>
          <p:cNvPr id="4" name="title-rule"/>
          <p:cNvSpPr/>
          <p:nvPr>
            <p:extLst>
              <p:ext uri="{F5677B7D-0D2A-4D9B-9A5C-6D8D7D0E5A5D}">
                <pptd:line encoding="base64url">eyJ2aWV3Qm94IjpbODY0LDFdLCJwb2ludHMiOiIwLDAgODY0LDAiLCJjdXJ2ZSI6InNoYXJwIn0</pptd:line>
              </p:ext>
            </p:extLst>
          </p:nvPr>
        </p:nvSpPr>
        <p:spPr>
          <a:xfrm>
            <a:off x="609600" y="1346200"/>
            <a:ext cx="10972800" cy="12700"/>
          </a:xfrm>
          <a:custGeom>
            <a:avLst/>
            <a:gdLst/>
            <a:ahLst/>
            <a:cxnLst/>
            <a:rect l="l" t="t" r="r" b="b"/>
            <a:pathLst>
              <a:path w="864" h="1">
                <a:moveTo>
                  <a:pt x="0" y="0"/>
                </a:moveTo>
                <a:lnTo>
                  <a:pt x="864" y="0"/>
                </a:lnTo>
              </a:path>
            </a:pathLst>
          </a:custGeom>
          <a:noFill/>
          <a:ln w="12700">
            <a:solidFill>
              <a:srgbClr val="DCE5ED"/>
            </a:solidFill>
          </a:ln>
        </p:spPr>
      </p:sp>
      <p:sp>
        <p:nvSpPr>
          <p:cNvPr id="5" name="step1-box"/>
          <p:cNvSpPr/>
          <p:nvPr/>
        </p:nvSpPr>
        <p:spPr>
          <a:xfrm>
            <a:off x="609600" y="1625600"/>
            <a:ext cx="1651000" cy="558800"/>
          </a:xfrm>
          <a:prstGeom prst="rect">
            <a:avLst/>
          </a:prstGeom>
          <a:noFill/>
          <a:ln w="12700">
            <a:solidFill>
              <a:srgbClr val="8AB8DC"/>
            </a:solidFill>
          </a:ln>
        </p:spPr>
      </p:sp>
      <p:sp>
        <p:nvSpPr>
          <p:cNvPr id="6" name="step1"/>
          <p:cNvSpPr txBox="1"/>
          <p:nvPr/>
        </p:nvSpPr>
        <p:spPr>
          <a:xfrm>
            <a:off x="609600" y="1625600"/>
            <a:ext cx="1651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40000"/>
              </a:lnSpc>
            </a:pPr>
            <a:r>
              <a:rPr lang="en-US" sz="1250" noProof="1">
                <a:solidFill>
                  <a:srgbClr val="263444"/>
                </a:solidFill>
                <a:latin typeface="MiSans"/>
                <a:ea typeface="MiSans"/>
              </a:rPr>
              <a:t>626,269 确定性采样</a:t>
            </a:r>
            <a:endParaRPr lang="en-US" sz="1250" noProof="1"/>
          </a:p>
        </p:txBody>
      </p:sp>
      <p:sp>
        <p:nvSpPr>
          <p:cNvPr id="7" name="step-arrow1"/>
          <p:cNvSpPr/>
          <p:nvPr>
            <p:extLst>
              <p:ext uri="{F5677B7D-0D2A-4D9B-9A5C-6D8D7D0E5A5D}">
                <pptd:line encoding="base64url">eyJ2aWV3Qm94IjpbMjAsOF0sInBvaW50cyI6IjAsNCAyMCw0IiwiY3VydmUiOiJzaGFycCJ9</pptd:line>
              </p:ext>
            </p:extLst>
          </p:nvPr>
        </p:nvSpPr>
        <p:spPr>
          <a:xfrm>
            <a:off x="2311400" y="1854200"/>
            <a:ext cx="254000" cy="101600"/>
          </a:xfrm>
          <a:custGeom>
            <a:avLst/>
            <a:gdLst/>
            <a:ahLst/>
            <a:cxnLst/>
            <a:rect l="l" t="t" r="r" b="b"/>
            <a:pathLst>
              <a:path w="20" h="8">
                <a:moveTo>
                  <a:pt x="0" y="4"/>
                </a:moveTo>
                <a:lnTo>
                  <a:pt x="20" y="4"/>
                </a:lnTo>
              </a:path>
            </a:pathLst>
          </a:custGeom>
          <a:noFill/>
          <a:ln w="19050">
            <a:solidFill>
              <a:srgbClr val="8AB8DC"/>
            </a:solidFill>
            <a:tailEnd type="arrow"/>
          </a:ln>
        </p:spPr>
      </p:sp>
      <p:sp>
        <p:nvSpPr>
          <p:cNvPr id="8" name="step2-box"/>
          <p:cNvSpPr/>
          <p:nvPr/>
        </p:nvSpPr>
        <p:spPr>
          <a:xfrm>
            <a:off x="2616200" y="1625600"/>
            <a:ext cx="1397000" cy="558800"/>
          </a:xfrm>
          <a:prstGeom prst="rect">
            <a:avLst/>
          </a:prstGeom>
          <a:noFill/>
          <a:ln w="12700">
            <a:solidFill>
              <a:srgbClr val="8AB8DC"/>
            </a:solidFill>
          </a:ln>
        </p:spPr>
      </p:sp>
      <p:sp>
        <p:nvSpPr>
          <p:cNvPr id="9" name="step2"/>
          <p:cNvSpPr txBox="1"/>
          <p:nvPr/>
        </p:nvSpPr>
        <p:spPr>
          <a:xfrm>
            <a:off x="2616200" y="1625600"/>
            <a:ext cx="1397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40000"/>
              </a:lnSpc>
            </a:pPr>
            <a:r>
              <a:rPr lang="en-US" sz="1250" noProof="1">
                <a:solidFill>
                  <a:srgbClr val="263444"/>
                </a:solidFill>
                <a:latin typeface="MiSans"/>
                <a:ea typeface="MiSans"/>
              </a:rPr>
              <a:t>8 : 2 划分</a:t>
            </a:r>
            <a:endParaRPr lang="en-US" sz="1250" noProof="1"/>
          </a:p>
        </p:txBody>
      </p:sp>
      <p:sp>
        <p:nvSpPr>
          <p:cNvPr id="10" name="step-arrow2"/>
          <p:cNvSpPr/>
          <p:nvPr>
            <p:extLst>
              <p:ext uri="{F5677B7D-0D2A-4D9B-9A5C-6D8D7D0E5A5D}">
                <pptd:line encoding="base64url">eyJ2aWV3Qm94IjpbMjAsOF0sInBvaW50cyI6IjAsNCAyMCw0IiwiY3VydmUiOiJzaGFycCJ9</pptd:line>
              </p:ext>
            </p:extLst>
          </p:nvPr>
        </p:nvSpPr>
        <p:spPr>
          <a:xfrm>
            <a:off x="4064000" y="1854200"/>
            <a:ext cx="254000" cy="101600"/>
          </a:xfrm>
          <a:custGeom>
            <a:avLst/>
            <a:gdLst/>
            <a:ahLst/>
            <a:cxnLst/>
            <a:rect l="l" t="t" r="r" b="b"/>
            <a:pathLst>
              <a:path w="20" h="8">
                <a:moveTo>
                  <a:pt x="0" y="4"/>
                </a:moveTo>
                <a:lnTo>
                  <a:pt x="20" y="4"/>
                </a:lnTo>
              </a:path>
            </a:pathLst>
          </a:custGeom>
          <a:noFill/>
          <a:ln w="19050">
            <a:solidFill>
              <a:srgbClr val="8AB8DC"/>
            </a:solidFill>
            <a:tailEnd type="arrow"/>
          </a:ln>
        </p:spPr>
      </p:sp>
      <p:sp>
        <p:nvSpPr>
          <p:cNvPr id="11" name="step3-box"/>
          <p:cNvSpPr/>
          <p:nvPr/>
        </p:nvSpPr>
        <p:spPr>
          <a:xfrm>
            <a:off x="4368800" y="1625600"/>
            <a:ext cx="1905000" cy="558800"/>
          </a:xfrm>
          <a:prstGeom prst="rect">
            <a:avLst/>
          </a:prstGeom>
          <a:noFill/>
          <a:ln w="12700">
            <a:solidFill>
              <a:srgbClr val="8AB8DC"/>
            </a:solidFill>
          </a:ln>
        </p:spPr>
      </p:sp>
      <p:sp>
        <p:nvSpPr>
          <p:cNvPr id="12" name="step3"/>
          <p:cNvSpPr txBox="1"/>
          <p:nvPr/>
        </p:nvSpPr>
        <p:spPr>
          <a:xfrm>
            <a:off x="4368800" y="1625600"/>
            <a:ext cx="1905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40000"/>
              </a:lnSpc>
            </a:pPr>
            <a:r>
              <a:rPr lang="en-US" sz="1250" noProof="1">
                <a:solidFill>
                  <a:srgbClr val="263444"/>
                </a:solidFill>
                <a:latin typeface="MiSans"/>
                <a:ea typeface="MiSans"/>
              </a:rPr>
              <a:t>仅在训练集 fit 预处理</a:t>
            </a:r>
            <a:endParaRPr lang="en-US" sz="1250" noProof="1"/>
          </a:p>
        </p:txBody>
      </p:sp>
      <p:sp>
        <p:nvSpPr>
          <p:cNvPr id="13" name="step-arrow3"/>
          <p:cNvSpPr/>
          <p:nvPr>
            <p:extLst>
              <p:ext uri="{F5677B7D-0D2A-4D9B-9A5C-6D8D7D0E5A5D}">
                <pptd:line encoding="base64url">eyJ2aWV3Qm94IjpbMjAsOF0sInBvaW50cyI6IjAsNCAyMCw0IiwiY3VydmUiOiJzaGFycCJ9</pptd:line>
              </p:ext>
            </p:extLst>
          </p:nvPr>
        </p:nvSpPr>
        <p:spPr>
          <a:xfrm>
            <a:off x="6324600" y="1854200"/>
            <a:ext cx="254000" cy="101600"/>
          </a:xfrm>
          <a:custGeom>
            <a:avLst/>
            <a:gdLst/>
            <a:ahLst/>
            <a:cxnLst/>
            <a:rect l="l" t="t" r="r" b="b"/>
            <a:pathLst>
              <a:path w="20" h="8">
                <a:moveTo>
                  <a:pt x="0" y="4"/>
                </a:moveTo>
                <a:lnTo>
                  <a:pt x="20" y="4"/>
                </a:lnTo>
              </a:path>
            </a:pathLst>
          </a:custGeom>
          <a:noFill/>
          <a:ln w="19050">
            <a:solidFill>
              <a:srgbClr val="8AB8DC"/>
            </a:solidFill>
            <a:tailEnd type="arrow"/>
          </a:ln>
        </p:spPr>
      </p:sp>
      <p:sp>
        <p:nvSpPr>
          <p:cNvPr id="14" name="step4-box"/>
          <p:cNvSpPr/>
          <p:nvPr/>
        </p:nvSpPr>
        <p:spPr>
          <a:xfrm>
            <a:off x="6629400" y="1625600"/>
            <a:ext cx="1651000" cy="558800"/>
          </a:xfrm>
          <a:prstGeom prst="rect">
            <a:avLst/>
          </a:prstGeom>
          <a:noFill/>
          <a:ln w="12700">
            <a:solidFill>
              <a:srgbClr val="8AB8DC"/>
            </a:solidFill>
          </a:ln>
        </p:spPr>
      </p:sp>
      <p:sp>
        <p:nvSpPr>
          <p:cNvPr id="15" name="step4"/>
          <p:cNvSpPr txBox="1"/>
          <p:nvPr/>
        </p:nvSpPr>
        <p:spPr>
          <a:xfrm>
            <a:off x="6629400" y="1625600"/>
            <a:ext cx="1651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40000"/>
              </a:lnSpc>
            </a:pPr>
            <a:r>
              <a:rPr lang="en-US" sz="1250" noProof="1">
                <a:solidFill>
                  <a:srgbClr val="263444"/>
                </a:solidFill>
                <a:latin typeface="MiSans"/>
                <a:ea typeface="MiSans"/>
              </a:rPr>
              <a:t>测试集计算 R²</a:t>
            </a:r>
            <a:endParaRPr lang="en-US" sz="1250" noProof="1"/>
          </a:p>
        </p:txBody>
      </p:sp>
      <p:pic>
        <p:nvPicPr>
          <p:cNvPr id="16" name="figs2"/>
          <p:cNvPicPr/>
          <p:nvPr/>
        </p:nvPicPr>
        <p:blipFill>
          <a:blip r:embed="rId2"/>
          <a:srcRect l="-94" r="-94"/>
          <a:stretch>
            <a:fillRect/>
          </a:stretch>
        </p:blipFill>
        <p:spPr>
          <a:xfrm>
            <a:off x="609600" y="2540000"/>
            <a:ext cx="5588000" cy="2819400"/>
          </a:xfrm>
          <a:prstGeom prst="rect">
            <a:avLst/>
          </a:prstGeom>
          <a:ln>
            <a:noFill/>
          </a:ln>
        </p:spPr>
      </p:pic>
      <p:sp>
        <p:nvSpPr>
          <p:cNvPr id="17" name="fig-caption"/>
          <p:cNvSpPr txBox="1"/>
          <p:nvPr/>
        </p:nvSpPr>
        <p:spPr>
          <a:xfrm>
            <a:off x="609600" y="5461000"/>
            <a:ext cx="558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697788"/>
                </a:solidFill>
                <a:latin typeface="MiSans"/>
                <a:ea typeface="MiSans"/>
              </a:rPr>
              <a:t>Figure S2：创建时间切分对结果的影响（figures_supp）</a:t>
            </a:r>
            <a:endParaRPr lang="en-US" sz="1100" noProof="1"/>
          </a:p>
        </p:txBody>
      </p:sp>
      <p:sp>
        <p:nvSpPr>
          <p:cNvPr id="18" name="m1"/>
          <p:cNvSpPr txBox="1"/>
          <p:nvPr/>
        </p:nvSpPr>
        <p:spPr>
          <a:xfrm>
            <a:off x="8890000" y="1676400"/>
            <a:ext cx="26924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200" noProof="1" b="1">
                <a:solidFill>
                  <a:srgbClr val="173653"/>
                </a:solidFill>
                <a:latin typeface="MiSans"/>
                <a:ea typeface="MiSans"/>
              </a:rPr>
              <a:t>R² = 0.6631</a:t>
            </a:r>
            <a:endParaRPr lang="en-US" sz="2200" noProof="1"/>
          </a:p>
        </p:txBody>
      </p:sp>
      <p:sp>
        <p:nvSpPr>
          <p:cNvPr id="19" name="m1-cap"/>
          <p:cNvSpPr txBox="1"/>
          <p:nvPr/>
        </p:nvSpPr>
        <p:spPr>
          <a:xfrm>
            <a:off x="8890000" y="2082800"/>
            <a:ext cx="26924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150" noProof="1">
                <a:solidFill>
                  <a:srgbClr val="697788"/>
                </a:solidFill>
                <a:latin typeface="MiSans"/>
                <a:ea typeface="MiSans"/>
              </a:rPr>
              <a:t>Spark MLlib RandomForest，独立测试集</a:t>
            </a:r>
            <a:endParaRPr lang="en-US" sz="1150" noProof="1"/>
          </a:p>
        </p:txBody>
      </p:sp>
      <p:sp>
        <p:nvSpPr>
          <p:cNvPr id="20" name="m1-rule"/>
          <p:cNvSpPr/>
          <p:nvPr>
            <p:extLst>
              <p:ext uri="{F5677B7D-0D2A-4D9B-9A5C-6D8D7D0E5A5D}">
                <pptd:line encoding="base64url">eyJ2aWV3Qm94IjpbMjEyLDFdLCJwb2ludHMiOiIwLDAgMjEyLDAiLCJjdXJ2ZSI6InNoYXJwIn0</pptd:line>
              </p:ext>
            </p:extLst>
          </p:nvPr>
        </p:nvSpPr>
        <p:spPr>
          <a:xfrm>
            <a:off x="8890000" y="2667000"/>
            <a:ext cx="2692400" cy="12700"/>
          </a:xfrm>
          <a:custGeom>
            <a:avLst/>
            <a:gdLst/>
            <a:ahLst/>
            <a:cxnLst/>
            <a:rect l="l" t="t" r="r" b="b"/>
            <a:pathLst>
              <a:path w="212" h="1">
                <a:moveTo>
                  <a:pt x="0" y="0"/>
                </a:moveTo>
                <a:lnTo>
                  <a:pt x="212" y="0"/>
                </a:lnTo>
              </a:path>
            </a:pathLst>
          </a:custGeom>
          <a:noFill/>
          <a:ln w="12700">
            <a:solidFill>
              <a:srgbClr val="DCE5ED"/>
            </a:solidFill>
          </a:ln>
        </p:spPr>
      </p:sp>
      <p:sp>
        <p:nvSpPr>
          <p:cNvPr id="21" name="m2"/>
          <p:cNvSpPr txBox="1"/>
          <p:nvPr/>
        </p:nvSpPr>
        <p:spPr>
          <a:xfrm>
            <a:off x="8890000" y="2844800"/>
            <a:ext cx="26924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200" noProof="1" b="1">
                <a:solidFill>
                  <a:srgbClr val="173653"/>
                </a:solidFill>
                <a:latin typeface="MiSans"/>
                <a:ea typeface="MiSans"/>
              </a:rPr>
              <a:t>0.6779</a:t>
            </a:r>
            <a:endParaRPr lang="en-US" sz="2200" noProof="1"/>
          </a:p>
        </p:txBody>
      </p:sp>
      <p:sp>
        <p:nvSpPr>
          <p:cNvPr id="22" name="m2-cap"/>
          <p:cNvSpPr txBox="1"/>
          <p:nvPr/>
        </p:nvSpPr>
        <p:spPr>
          <a:xfrm>
            <a:off x="8890000" y="3251200"/>
            <a:ext cx="26924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150" noProof="1">
                <a:solidFill>
                  <a:srgbClr val="697788"/>
                </a:solidFill>
                <a:latin typeface="MiSans"/>
                <a:ea typeface="MiSans"/>
              </a:rPr>
              <a:t>sklearn 同一口径复验 · 随机切分</a:t>
            </a:r>
            <a:endParaRPr lang="en-US" sz="1150" noProof="1"/>
          </a:p>
        </p:txBody>
      </p:sp>
      <p:sp>
        <p:nvSpPr>
          <p:cNvPr id="23" name="m2-rule"/>
          <p:cNvSpPr/>
          <p:nvPr>
            <p:extLst>
              <p:ext uri="{F5677B7D-0D2A-4D9B-9A5C-6D8D7D0E5A5D}">
                <pptd:line encoding="base64url">eyJ2aWV3Qm94IjpbMjEyLDFdLCJwb2ludHMiOiIwLDAgMjEyLDAiLCJjdXJ2ZSI6InNoYXJwIn0</pptd:line>
              </p:ext>
            </p:extLst>
          </p:nvPr>
        </p:nvSpPr>
        <p:spPr>
          <a:xfrm>
            <a:off x="8890000" y="3759200"/>
            <a:ext cx="2692400" cy="12700"/>
          </a:xfrm>
          <a:custGeom>
            <a:avLst/>
            <a:gdLst/>
            <a:ahLst/>
            <a:cxnLst/>
            <a:rect l="l" t="t" r="r" b="b"/>
            <a:pathLst>
              <a:path w="212" h="1">
                <a:moveTo>
                  <a:pt x="0" y="0"/>
                </a:moveTo>
                <a:lnTo>
                  <a:pt x="212" y="0"/>
                </a:lnTo>
              </a:path>
            </a:pathLst>
          </a:custGeom>
          <a:noFill/>
          <a:ln w="12700">
            <a:solidFill>
              <a:srgbClr val="DCE5ED"/>
            </a:solidFill>
          </a:ln>
        </p:spPr>
      </p:sp>
      <p:sp>
        <p:nvSpPr>
          <p:cNvPr id="24" name="m3"/>
          <p:cNvSpPr txBox="1"/>
          <p:nvPr/>
        </p:nvSpPr>
        <p:spPr>
          <a:xfrm>
            <a:off x="8890000" y="3937000"/>
            <a:ext cx="26924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200" noProof="1" b="1">
                <a:solidFill>
                  <a:srgbClr val="173653"/>
                </a:solidFill>
                <a:latin typeface="MiSans"/>
                <a:ea typeface="MiSans"/>
              </a:rPr>
              <a:t>0.5034</a:t>
            </a:r>
            <a:endParaRPr lang="en-US" sz="2200" noProof="1"/>
          </a:p>
        </p:txBody>
      </p:sp>
      <p:sp>
        <p:nvSpPr>
          <p:cNvPr id="25" name="m3-cap"/>
          <p:cNvSpPr txBox="1"/>
          <p:nvPr/>
        </p:nvSpPr>
        <p:spPr>
          <a:xfrm>
            <a:off x="8890000" y="4343400"/>
            <a:ext cx="26924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150" noProof="1">
                <a:solidFill>
                  <a:srgbClr val="697788"/>
                </a:solidFill>
                <a:latin typeface="MiSans"/>
                <a:ea typeface="MiSans"/>
              </a:rPr>
              <a:t>sklearn 同一口径复验 · 按创建时间切分</a:t>
            </a:r>
            <a:endParaRPr lang="en-US" sz="1150" noProof="1"/>
          </a:p>
        </p:txBody>
      </p:sp>
      <p:sp>
        <p:nvSpPr>
          <p:cNvPr id="26" name="concl-rule"/>
          <p:cNvSpPr/>
          <p:nvPr>
            <p:extLst>
              <p:ext uri="{F5677B7D-0D2A-4D9B-9A5C-6D8D7D0E5A5D}">
                <pptd:line encoding="base64url">eyJ2aWV3Qm94IjpbODY0LDFdLCJwb2ludHMiOiIwLDAgODY0LDAiLCJjdXJ2ZSI6InNoYXJwIn0</pptd:line>
              </p:ext>
            </p:extLst>
          </p:nvPr>
        </p:nvSpPr>
        <p:spPr>
          <a:xfrm>
            <a:off x="609600" y="5918200"/>
            <a:ext cx="10972800" cy="12700"/>
          </a:xfrm>
          <a:custGeom>
            <a:avLst/>
            <a:gdLst/>
            <a:ahLst/>
            <a:cxnLst/>
            <a:rect l="l" t="t" r="r" b="b"/>
            <a:pathLst>
              <a:path w="864" h="1">
                <a:moveTo>
                  <a:pt x="0" y="0"/>
                </a:moveTo>
                <a:lnTo>
                  <a:pt x="864" y="0"/>
                </a:lnTo>
              </a:path>
            </a:pathLst>
          </a:custGeom>
          <a:noFill/>
          <a:ln w="12700">
            <a:solidFill>
              <a:srgbClr val="DCE5ED"/>
            </a:solidFill>
          </a:ln>
        </p:spPr>
      </p:sp>
      <p:sp>
        <p:nvSpPr>
          <p:cNvPr id="27" name="concl-text"/>
          <p:cNvSpPr txBox="1"/>
          <p:nvPr/>
        </p:nvSpPr>
        <p:spPr>
          <a:xfrm>
            <a:off x="609600" y="6096000"/>
            <a:ext cx="109728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noProof="1">
                <a:solidFill>
                  <a:srgbClr val="697788"/>
                </a:solidFill>
                <a:latin typeface="MiSans"/>
                <a:ea typeface="MiSans"/>
              </a:rPr>
              <a:t>结论：同快照属性与下载量存在统计关联；时间切分结果下降提示对数据分布变化敏感，但不是未来下载热度的可靠预测</a:t>
            </a:r>
            <a:endParaRPr lang="en-US" sz="1250" noProof="1"/>
          </a:p>
        </p:txBody>
      </p:sp>
      <p:sp>
        <p:nvSpPr>
          <p:cNvPr id="28" name="page-num"/>
          <p:cNvSpPr txBox="1"/>
          <p:nvPr/>
        </p:nvSpPr>
        <p:spPr>
          <a:xfrm>
            <a:off x="10922000" y="6451600"/>
            <a:ext cx="660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100" noProof="1">
                <a:solidFill>
                  <a:srgbClr val="697788"/>
                </a:solidFill>
                <a:latin typeface="MiSans"/>
                <a:ea typeface="MiSans"/>
              </a:rPr>
              <a:t>14 / 14</a:t>
            </a:r>
            <a:endParaRPr lang="en-US" sz="11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customXml/provenance.xml><?xml version="1.0" encoding="utf-8"?>
<provenance xmlns="urn:kimi:pptd:provenance">
  <producer>Kimi Slides/Design</producer>
  <statement>Built by Kimi Slides/Design with PPTD</statement>
</provenance>
</file>

<file path=docProps/app.xml><?xml version="1.0" encoding="utf-8"?>
<Properties xmlns="http://schemas.openxmlformats.org/officeDocument/2006/extended-properties">
  <Application>Neo Design</Application>
  <Slides>14</Slides>
</Properties>
</file>

<file path=docProps/core.xml><?xml version="1.0" encoding="utf-8"?>
<cp:coreProperties xmlns:dc="http://purl.org/dc/elements/1.1/" xmlns:cp="http://schemas.openxmlformats.org/package/2006/metadata/core-properties">
  <dc:title>开源人工智能模型生态的数据分析</dc:title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4" name="AIGC">
    <vt:lpwstr/>
  </property>
</Properties>
</file>
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harts/chart3_1.xml" ContentType="application/vnd.openxmlformats-officedocument.drawingml.chart+xml"/>
  <Override PartName="/ppt/charts/chart11_1.xml" ContentType="application/vnd.openxmlformats-officedocument.drawingml.chart+xml"/>
  <Override PartName="/ppt/charts/chart12_1.xml" ContentType="application/vnd.openxmlformats-officedocument.drawingml.chart+xml"/>
  <Override PartName="/ppt/charts/chart14_1.xml" ContentType="application/vnd.openxmlformats-officedocument.drawingml.chart+xml"/>
  <Override PartName="/ppt/charts/chart16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custom"/>
  <p:notesSz cx="12192000" cy="6858000"/>
  <p:embeddedFontLst>
    <p:embeddedFont>
      <p:font typeface="Oranienbaum" charset="-122" pitchFamily="34"/>
      <p:regular r:id="rId23"/>
    </p:embeddedFont>
    <p:embeddedFont>
      <p:font typeface="MiSans" charset="-122" pitchFamily="34"/>
      <p:regular r:id="rId24"/>
    </p:embeddedFont>
    <p:embeddedFont>
      <p:font typeface="LXGW Bright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charts/chart3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年度新增模型数（万个）</c:v>
          </c:tx>
          <c:spPr>
            <a:solidFill>
              <a:srgbClr val="C0651F"/>
            </a:solidFill>
          </c:spPr>
          <c:dLbls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F9F4E9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10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CBBFA9"/>
            </a:solidFill>
          </a:ln>
        </c:spPr>
        <c:txPr>
          <a:bodyPr/>
          <a:lstStyle/>
          <a:p>
            <a:pPr>
              <a:defRPr sz="1050" noProof="1" b="0" i="0" u="none" strike="noStrike">
                <a:solidFill>
                  <a:srgbClr val="7A6A56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000000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年度新增模型数（万个）</c:v>
          </c:tx>
          <c:spPr>
            <a:solidFill>
              <a:srgbClr val="C0651F"/>
            </a:solidFill>
          </c:spPr>
          <c:dLbls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F9F4E9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10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CBBFA9"/>
            </a:solidFill>
          </a:ln>
        </c:spPr>
        <c:txPr>
          <a:bodyPr/>
          <a:lstStyle/>
          <a:p>
            <a:pPr>
              <a:defRPr sz="1050" noProof="1" b="0" i="0" u="none" strike="noStrike">
                <a:solidFill>
                  <a:srgbClr val="7A6A56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000000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2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近 30 天下载份额（%）</c:v>
          </c:tx>
          <c:spPr>
            <a:solidFill>
              <a:srgbClr val="C0651F"/>
            </a:solidFill>
          </c:spPr>
          <c:cat>
            <c:strLit>
              <c:ptCount val="2"/>
              <c:pt idx="0">
                <c:v>Top-1% 模型</c:v>
              </c:pt>
              <c:pt idx="1">
                <c:v>其余 99% 模型</c:v>
              </c:pt>
            </c:strLit>
          </c:cat>
          <c:val>
            <c:numLit>
              <c:formatCode>General</c:formatCode>
              <c:ptCount val="2"/>
              <c:pt idx="0">
                <c:v>97.13</c:v>
              </c:pt>
              <c:pt idx="1">
                <c:v>2.87</c:v>
              </c:pt>
            </c:numLit>
          </c:val>
        </c:ser>
        <c:gapWidth val="12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CBBFA9"/>
            </a:solidFill>
          </a:ln>
        </c:spPr>
        <c:txPr>
          <a:bodyPr/>
          <a:lstStyle/>
          <a:p>
            <a:pPr>
              <a:defRPr sz="1050" noProof="1" b="0" i="0" u="none" strike="noStrike">
                <a:solidFill>
                  <a:srgbClr val="7A6A56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00"/>
          <c:min val="0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000000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4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特征重要性</c:v>
          </c:tx>
          <c:spPr>
            <a:solidFill>
              <a:srgbClr val="C0651F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F9F4E9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tag_count 标签数量</c:v>
              </c:pt>
              <c:pt idx="1">
                <c:v>library_top 用什么库</c:v>
              </c:pt>
              <c:pt idx="2">
                <c:v>likes_log 点赞数</c:v>
              </c:pt>
            </c:strLit>
          </c:cat>
          <c:val>
            <c:numLit>
              <c:formatCode>General</c:formatCode>
              <c:ptCount val="3"/>
              <c:pt idx="0">
                <c:v>0.413</c:v>
              </c:pt>
              <c:pt idx="1">
                <c:v>0.194</c:v>
              </c:pt>
              <c:pt idx="2">
                <c:v>0.151</c:v>
              </c:pt>
            </c:numLit>
          </c:val>
        </c:ser>
        <c:gapWidth val="10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CBBFA9"/>
            </a:solidFill>
          </a:ln>
        </c:spPr>
        <c:txPr>
          <a:bodyPr/>
          <a:lstStyle/>
          <a:p>
            <a:pPr>
              <a:defRPr sz="1050" noProof="1" b="0" i="0" u="none" strike="noStrike">
                <a:solidFill>
                  <a:srgbClr val="7A6A56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0.5"/>
          <c:min val="0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000000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0.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charts/chart16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相对数据量（%）</c:v>
          </c:tx>
          <c:spPr>
            <a:solidFill>
              <a:srgbClr val="C0651F"/>
            </a:solidFill>
          </c:spPr>
          <c:dLbls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F9F4E9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10%</c:v>
              </c:pt>
              <c:pt idx="1">
                <c:v>25%</c:v>
              </c:pt>
              <c:pt idx="2">
                <c:v>50%</c:v>
              </c:pt>
              <c:pt idx="3">
                <c:v>100%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25</c:v>
              </c:pt>
              <c:pt idx="2">
                <c:v>50</c:v>
              </c:pt>
              <c:pt idx="3">
                <c:v>100</c:v>
              </c:pt>
            </c:numLit>
          </c:val>
        </c:ser>
        <c:gapWidth val="10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CBBFA9"/>
            </a:solidFill>
          </a:ln>
        </c:spPr>
        <c:txPr>
          <a:bodyPr/>
          <a:lstStyle/>
          <a:p>
            <a:pPr>
              <a:defRPr sz="1050" noProof="1" b="0" i="0" u="none" strike="noStrike">
                <a:solidFill>
                  <a:srgbClr val="7A6A56"/>
                </a:solidFill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00"/>
          <c:min val="0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 noProof="1" b="0" i="0" u="none" strike="noStrike">
                <a:solidFill>
                  <a:srgbClr val="000000"/>
                </a:solidFill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_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_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_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_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_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l-solid"/>
          <p:cNvSpPr/>
          <p:nvPr/>
        </p:nvSpPr>
        <p:spPr>
          <a:xfrm>
            <a:off x="-660400" y="-660400"/>
            <a:ext cx="1574800" cy="15748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3" name="orn-tl-ring"/>
          <p:cNvSpPr/>
          <p:nvPr/>
        </p:nvSpPr>
        <p:spPr>
          <a:xfrm>
            <a:off x="-228600" y="-228600"/>
            <a:ext cx="1066800" cy="1066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orn-tr-solid"/>
          <p:cNvSpPr/>
          <p:nvPr/>
        </p:nvSpPr>
        <p:spPr>
          <a:xfrm>
            <a:off x="11430000" y="-558800"/>
            <a:ext cx="1320800" cy="1320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5" name="orn-tr-ring"/>
          <p:cNvSpPr/>
          <p:nvPr/>
        </p:nvSpPr>
        <p:spPr>
          <a:xfrm>
            <a:off x="10896600" y="25400"/>
            <a:ext cx="889000" cy="889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6" name="orn-bl-solid"/>
          <p:cNvSpPr/>
          <p:nvPr/>
        </p:nvSpPr>
        <p:spPr>
          <a:xfrm>
            <a:off x="-558800" y="5943600"/>
            <a:ext cx="1320800" cy="1320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7" name="orn-bl-ring"/>
          <p:cNvSpPr/>
          <p:nvPr/>
        </p:nvSpPr>
        <p:spPr>
          <a:xfrm>
            <a:off x="101600" y="5537200"/>
            <a:ext cx="787400" cy="7874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8" name="orn-br-solid"/>
          <p:cNvSpPr/>
          <p:nvPr/>
        </p:nvSpPr>
        <p:spPr>
          <a:xfrm>
            <a:off x="11531600" y="5994400"/>
            <a:ext cx="1219200" cy="12192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9" name="orn-br-ring"/>
          <p:cNvSpPr/>
          <p:nvPr/>
        </p:nvSpPr>
        <p:spPr>
          <a:xfrm>
            <a:off x="11074400" y="5664200"/>
            <a:ext cx="736600" cy="7366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10" name="photo-backing"/>
          <p:cNvSpPr/>
          <p:nvPr/>
        </p:nvSpPr>
        <p:spPr>
          <a:xfrm>
            <a:off x="7899400" y="1219200"/>
            <a:ext cx="3429000" cy="4318000"/>
          </a:xfrm>
          <a:prstGeom prst="rect">
            <a:avLst/>
          </a:prstGeom>
          <a:solidFill>
            <a:srgbClr val="F2DCD4"/>
          </a:solidFill>
          <a:ln>
            <a:noFill/>
          </a:ln>
        </p:spPr>
      </p:sp>
      <p:pic>
        <p:nvPicPr>
          <p:cNvPr id="11" name="photo"/>
          <p:cNvPicPr/>
          <p:nvPr/>
        </p:nvPicPr>
        <p:blipFill>
          <a:blip r:embed="rId2"/>
          <a:srcRect l="3470" r="3470"/>
          <a:stretch>
            <a:fillRect/>
          </a:stretch>
        </p:blipFill>
        <p:spPr>
          <a:xfrm>
            <a:off x="8153400" y="1473200"/>
            <a:ext cx="3429000" cy="4318000"/>
          </a:xfrm>
          <a:prstGeom prst="rect">
            <a:avLst/>
          </a:prstGeom>
          <a:ln>
            <a:noFill/>
          </a:ln>
        </p:spPr>
      </p:pic>
      <p:sp>
        <p:nvSpPr>
          <p:cNvPr id="12" name="kicker"/>
          <p:cNvSpPr txBox="1"/>
          <p:nvPr/>
        </p:nvSpPr>
        <p:spPr>
          <a:xfrm>
            <a:off x="1244600" y="11176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大数据项目汇报 · 计算机专业</a:t>
            </a:r>
            <a:endParaRPr lang="en-US" sz="1200" noProof="1"/>
          </a:p>
        </p:txBody>
      </p:sp>
      <p:sp>
        <p:nvSpPr>
          <p:cNvPr id="13" name="main-title"/>
          <p:cNvSpPr txBox="1"/>
          <p:nvPr/>
        </p:nvSpPr>
        <p:spPr>
          <a:xfrm>
            <a:off x="1244600" y="1498600"/>
            <a:ext cx="635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30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开源 AI 模型生态，</a:t>
            </a:r>
            <a:endParaRPr lang="en-US" sz="3000" noProof="1"/>
          </a:p>
          <a:p>
            <a:pPr algn="l">
              <a:lnSpc>
                <a:spcPct val="145000"/>
              </a:lnSpc>
            </a:pPr>
            <a:r>
              <a:rPr lang="en-US" sz="30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比你想的更"卷"</a:t>
            </a:r>
            <a:endParaRPr lang="en-US" sz="3000" noProof="1"/>
          </a:p>
        </p:txBody>
      </p:sp>
      <p:sp>
        <p:nvSpPr>
          <p:cNvPr id="14" name="cover-rule"/>
          <p:cNvSpPr/>
          <p:nvPr/>
        </p:nvSpPr>
        <p:spPr>
          <a:xfrm>
            <a:off x="1244600" y="2946400"/>
            <a:ext cx="508000" cy="381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5" name="quote-line"/>
          <p:cNvSpPr txBox="1"/>
          <p:nvPr/>
        </p:nvSpPr>
        <p:spPr>
          <a:xfrm>
            <a:off x="1244600" y="32004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C4630"/>
                </a:solidFill>
                <a:latin typeface="MiSans"/>
                <a:ea typeface="MiSans"/>
              </a:rPr>
              <a:t>用 Spark 分析了 Hugging Face 上的 314 万个模型</a:t>
            </a:r>
            <a:endParaRPr lang="en-US" sz="1300" noProof="1"/>
          </a:p>
        </p:txBody>
      </p:sp>
      <p:sp>
        <p:nvSpPr>
          <p:cNvPr id="16" name="desc-line"/>
          <p:cNvSpPr txBox="1"/>
          <p:nvPr/>
        </p:nvSpPr>
        <p:spPr>
          <a:xfrm>
            <a:off x="1244600" y="3530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一次可复现、可校验的大数据课程项目汇报</a:t>
            </a:r>
            <a:endParaRPr lang="en-US" sz="1100" noProof="1"/>
          </a:p>
        </p:txBody>
      </p:sp>
      <p:sp>
        <p:nvSpPr>
          <p:cNvPr id="17" name="bn1-num"/>
          <p:cNvSpPr txBox="1"/>
          <p:nvPr/>
        </p:nvSpPr>
        <p:spPr>
          <a:xfrm>
            <a:off x="1244600" y="4191000"/>
            <a:ext cx="241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C0651F"/>
                </a:solidFill>
                <a:latin typeface="Oranienbaum"/>
                <a:ea typeface="LXGW Bright"/>
              </a:rPr>
              <a:t>3,138,954</a:t>
            </a:r>
            <a:endParaRPr lang="en-US" sz="3000" noProof="1"/>
          </a:p>
        </p:txBody>
      </p:sp>
      <p:sp>
        <p:nvSpPr>
          <p:cNvPr id="18" name="bn1-label"/>
          <p:cNvSpPr txBox="1"/>
          <p:nvPr/>
        </p:nvSpPr>
        <p:spPr>
          <a:xfrm>
            <a:off x="1244600" y="47498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去重模型总数（个）</a:t>
            </a:r>
            <a:endParaRPr lang="en-US" sz="950" noProof="1"/>
          </a:p>
        </p:txBody>
      </p:sp>
      <p:sp>
        <p:nvSpPr>
          <p:cNvPr id="19" name="bn-div1"/>
          <p:cNvSpPr/>
          <p:nvPr/>
        </p:nvSpPr>
        <p:spPr>
          <a:xfrm>
            <a:off x="3810000" y="4241800"/>
            <a:ext cx="12700" cy="6858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20" name="bn2-num"/>
          <p:cNvSpPr txBox="1"/>
          <p:nvPr/>
        </p:nvSpPr>
        <p:spPr>
          <a:xfrm>
            <a:off x="4038600" y="4191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5C4630"/>
                </a:solidFill>
                <a:latin typeface="Oranienbaum"/>
                <a:ea typeface="LXGW Bright"/>
              </a:rPr>
              <a:t>97.13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 %</a:t>
            </a:r>
            <a:endParaRPr lang="en-US" sz="3000" noProof="1"/>
          </a:p>
        </p:txBody>
      </p:sp>
      <p:sp>
        <p:nvSpPr>
          <p:cNvPr id="21" name="bn2-label"/>
          <p:cNvSpPr txBox="1"/>
          <p:nvPr/>
        </p:nvSpPr>
        <p:spPr>
          <a:xfrm>
            <a:off x="4038600" y="47498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Top-1% 模型下载占比 · 近 30 天</a:t>
            </a:r>
            <a:endParaRPr lang="en-US" sz="950" noProof="1"/>
          </a:p>
        </p:txBody>
      </p:sp>
      <p:sp>
        <p:nvSpPr>
          <p:cNvPr id="22" name="bn-div2"/>
          <p:cNvSpPr/>
          <p:nvPr/>
        </p:nvSpPr>
        <p:spPr>
          <a:xfrm>
            <a:off x="6172200" y="4241800"/>
            <a:ext cx="12700" cy="6858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23" name="bn3-num"/>
          <p:cNvSpPr txBox="1"/>
          <p:nvPr/>
        </p:nvSpPr>
        <p:spPr>
          <a:xfrm>
            <a:off x="6400800" y="4191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5C4630"/>
                </a:solidFill>
                <a:latin typeface="Oranienbaum"/>
                <a:ea typeface="LXGW Bright"/>
              </a:rPr>
              <a:t>43,419</a:t>
            </a:r>
            <a:endParaRPr lang="en-US" sz="3000" noProof="1"/>
          </a:p>
        </p:txBody>
      </p:sp>
      <p:sp>
        <p:nvSpPr>
          <p:cNvPr id="24" name="bn3-label"/>
          <p:cNvSpPr txBox="1"/>
          <p:nvPr/>
        </p:nvSpPr>
        <p:spPr>
          <a:xfrm>
            <a:off x="6400800" y="4749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最大底座直接派生数</a:t>
            </a:r>
            <a:endParaRPr lang="en-US" sz="950" noProof="1"/>
          </a:p>
        </p:txBody>
      </p:sp>
      <p:sp>
        <p:nvSpPr>
          <p:cNvPr id="25" name="footnote"/>
          <p:cNvSpPr txBox="1"/>
          <p:nvPr/>
        </p:nvSpPr>
        <p:spPr>
          <a:xfrm>
            <a:off x="1244600" y="57404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汇报人：XXX ｜ 课程：大数据技术基础 ｜ 2026 年 X 月</a:t>
            </a:r>
            <a:endParaRPr lang="en-US" sz="95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数据来源：Hugging Face 官方数据集 cfahlgren1/hub-stats，固定提交版本 · SHA-256 校验通过</a:t>
            </a:r>
            <a:endParaRPr lang="en-US" sz="9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00 | 目录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762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五个部分，从问题到结论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每个部分回答一个层面的问题，所有数字均可在结果清单中复核</a:t>
            </a:r>
            <a:endParaRPr lang="en-US" sz="1150" noProof="1"/>
          </a:p>
        </p:txBody>
      </p:sp>
      <p:sp>
        <p:nvSpPr>
          <p:cNvPr id="7" name="rail-num1"/>
          <p:cNvSpPr txBox="1"/>
          <p:nvPr/>
        </p:nvSpPr>
        <p:spPr>
          <a:xfrm>
            <a:off x="762000" y="21590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5C4630"/>
                </a:solidFill>
                <a:latin typeface="Oranienbaum"/>
                <a:ea typeface="LXGW Bright"/>
              </a:rPr>
              <a:t>05</a:t>
            </a:r>
            <a:endParaRPr lang="en-US" sz="3400" noProof="1"/>
          </a:p>
        </p:txBody>
      </p:sp>
      <p:sp>
        <p:nvSpPr>
          <p:cNvPr id="8" name="rail-label1"/>
          <p:cNvSpPr txBox="1"/>
          <p:nvPr/>
        </p:nvSpPr>
        <p:spPr>
          <a:xfrm>
            <a:off x="762000" y="2743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个部分 · 章节</a:t>
            </a:r>
            <a:endParaRPr lang="en-US" sz="950" noProof="1"/>
          </a:p>
        </p:txBody>
      </p:sp>
      <p:sp>
        <p:nvSpPr>
          <p:cNvPr id="9" name="rail-num2"/>
          <p:cNvSpPr txBox="1"/>
          <p:nvPr/>
        </p:nvSpPr>
        <p:spPr>
          <a:xfrm>
            <a:off x="762000" y="32766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C0651F"/>
                </a:solidFill>
                <a:latin typeface="Oranienbaum"/>
                <a:ea typeface="LXGW Bright"/>
              </a:rPr>
              <a:t>05</a:t>
            </a:r>
            <a:endParaRPr lang="en-US" sz="3400" noProof="1"/>
          </a:p>
        </p:txBody>
      </p:sp>
      <p:sp>
        <p:nvSpPr>
          <p:cNvPr id="10" name="rail-label2"/>
          <p:cNvSpPr txBox="1"/>
          <p:nvPr/>
        </p:nvSpPr>
        <p:spPr>
          <a:xfrm>
            <a:off x="762000" y="38608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个研究问题 · RQ1–RQ5</a:t>
            </a:r>
            <a:endParaRPr lang="en-US" sz="950" noProof="1"/>
          </a:p>
        </p:txBody>
      </p:sp>
      <p:sp>
        <p:nvSpPr>
          <p:cNvPr id="11" name="rail-num3"/>
          <p:cNvSpPr txBox="1"/>
          <p:nvPr/>
        </p:nvSpPr>
        <p:spPr>
          <a:xfrm>
            <a:off x="762000" y="43942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5C4630"/>
                </a:solidFill>
                <a:latin typeface="Oranienbaum"/>
                <a:ea typeface="LXGW Bright"/>
              </a:rPr>
              <a:t>07</a:t>
            </a:r>
            <a:endParaRPr lang="en-US" sz="3400" noProof="1"/>
          </a:p>
        </p:txBody>
      </p:sp>
      <p:sp>
        <p:nvSpPr>
          <p:cNvPr id="12" name="rail-label3"/>
          <p:cNvSpPr txBox="1"/>
          <p:nvPr/>
        </p:nvSpPr>
        <p:spPr>
          <a:xfrm>
            <a:off x="762000" y="4978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个踩过的坑 · 全部有解法</a:t>
            </a:r>
            <a:endParaRPr lang="en-US" sz="950" noProof="1"/>
          </a:p>
        </p:txBody>
      </p:sp>
      <p:sp>
        <p:nvSpPr>
          <p:cNvPr id="13" name="rail-divider"/>
          <p:cNvSpPr/>
          <p:nvPr/>
        </p:nvSpPr>
        <p:spPr>
          <a:xfrm>
            <a:off x="3708400" y="2108200"/>
            <a:ext cx="12700" cy="33782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4" name="toc-chip1"/>
          <p:cNvSpPr/>
          <p:nvPr/>
        </p:nvSpPr>
        <p:spPr>
          <a:xfrm>
            <a:off x="4089400" y="20320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5" name="toc-chip1-num"/>
          <p:cNvSpPr txBox="1"/>
          <p:nvPr/>
        </p:nvSpPr>
        <p:spPr>
          <a:xfrm>
            <a:off x="4089400" y="20320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01</a:t>
            </a:r>
            <a:endParaRPr lang="en-US" sz="1300" noProof="1"/>
          </a:p>
        </p:txBody>
      </p:sp>
      <p:sp>
        <p:nvSpPr>
          <p:cNvPr id="16" name="toc-item1-title"/>
          <p:cNvSpPr txBox="1"/>
          <p:nvPr/>
        </p:nvSpPr>
        <p:spPr>
          <a:xfrm>
            <a:off x="4648200" y="2006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研究问题</a:t>
            </a:r>
            <a:endParaRPr lang="en-US" sz="1500" noProof="1"/>
          </a:p>
        </p:txBody>
      </p:sp>
      <p:sp>
        <p:nvSpPr>
          <p:cNvPr id="17" name="toc-item1-desc"/>
          <p:cNvSpPr txBox="1"/>
          <p:nvPr/>
        </p:nvSpPr>
        <p:spPr>
          <a:xfrm>
            <a:off x="4648200" y="2311400"/>
            <a:ext cx="678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生态怎么涨起来的、下载有多集中、谁在 fork 谁、热度与什么相关</a:t>
            </a:r>
            <a:endParaRPr lang="en-US" sz="950" noProof="1"/>
          </a:p>
        </p:txBody>
      </p:sp>
      <p:sp>
        <p:nvSpPr>
          <p:cNvPr id="18" name="toc-rule1"/>
          <p:cNvSpPr/>
          <p:nvPr/>
        </p:nvSpPr>
        <p:spPr>
          <a:xfrm>
            <a:off x="4089400" y="2717800"/>
            <a:ext cx="73406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9" name="toc-chip2"/>
          <p:cNvSpPr/>
          <p:nvPr/>
        </p:nvSpPr>
        <p:spPr>
          <a:xfrm>
            <a:off x="4089400" y="29210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0" name="toc-chip2-num"/>
          <p:cNvSpPr txBox="1"/>
          <p:nvPr/>
        </p:nvSpPr>
        <p:spPr>
          <a:xfrm>
            <a:off x="4089400" y="29210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02</a:t>
            </a:r>
            <a:endParaRPr lang="en-US" sz="1300" noProof="1"/>
          </a:p>
        </p:txBody>
      </p:sp>
      <p:sp>
        <p:nvSpPr>
          <p:cNvPr id="21" name="toc-item2-title"/>
          <p:cNvSpPr txBox="1"/>
          <p:nvPr/>
        </p:nvSpPr>
        <p:spPr>
          <a:xfrm>
            <a:off x="4648200" y="2895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数据与方法</a:t>
            </a:r>
            <a:endParaRPr lang="en-US" sz="1500" noProof="1"/>
          </a:p>
        </p:txBody>
      </p:sp>
      <p:sp>
        <p:nvSpPr>
          <p:cNvPr id="22" name="toc-item2-desc"/>
          <p:cNvSpPr txBox="1"/>
          <p:nvPr/>
        </p:nvSpPr>
        <p:spPr>
          <a:xfrm>
            <a:off x="4648200" y="3200400"/>
            <a:ext cx="678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314 万模型的来源与 4V 特征、Medallion 三层架构、可复现流水线</a:t>
            </a:r>
            <a:endParaRPr lang="en-US" sz="950" noProof="1"/>
          </a:p>
        </p:txBody>
      </p:sp>
      <p:sp>
        <p:nvSpPr>
          <p:cNvPr id="23" name="toc-rule2"/>
          <p:cNvSpPr/>
          <p:nvPr/>
        </p:nvSpPr>
        <p:spPr>
          <a:xfrm>
            <a:off x="4089400" y="3606800"/>
            <a:ext cx="73406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4" name="toc-chip3"/>
          <p:cNvSpPr/>
          <p:nvPr/>
        </p:nvSpPr>
        <p:spPr>
          <a:xfrm>
            <a:off x="4089400" y="38100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5" name="toc-chip3-num"/>
          <p:cNvSpPr txBox="1"/>
          <p:nvPr/>
        </p:nvSpPr>
        <p:spPr>
          <a:xfrm>
            <a:off x="4089400" y="38100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03</a:t>
            </a:r>
            <a:endParaRPr lang="en-US" sz="1300" noProof="1"/>
          </a:p>
        </p:txBody>
      </p:sp>
      <p:sp>
        <p:nvSpPr>
          <p:cNvPr id="26" name="toc-item3-title"/>
          <p:cNvSpPr txBox="1"/>
          <p:nvPr/>
        </p:nvSpPr>
        <p:spPr>
          <a:xfrm>
            <a:off x="4648200" y="3784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踩坑记录</a:t>
            </a:r>
            <a:endParaRPr lang="en-US" sz="1500" noProof="1"/>
          </a:p>
        </p:txBody>
      </p:sp>
      <p:sp>
        <p:nvSpPr>
          <p:cNvPr id="27" name="toc-item3-desc"/>
          <p:cNvSpPr txBox="1"/>
          <p:nvPr/>
        </p:nvSpPr>
        <p:spPr>
          <a:xfrm>
            <a:off x="4648200" y="4089400"/>
            <a:ext cx="678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Windows 上跑 Spark 的七个坑，以及算法正确性如何验证</a:t>
            </a:r>
            <a:endParaRPr lang="en-US" sz="950" noProof="1"/>
          </a:p>
        </p:txBody>
      </p:sp>
      <p:sp>
        <p:nvSpPr>
          <p:cNvPr id="28" name="toc-rule3"/>
          <p:cNvSpPr/>
          <p:nvPr/>
        </p:nvSpPr>
        <p:spPr>
          <a:xfrm>
            <a:off x="4089400" y="4495800"/>
            <a:ext cx="73406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9" name="toc-chip4"/>
          <p:cNvSpPr/>
          <p:nvPr/>
        </p:nvSpPr>
        <p:spPr>
          <a:xfrm>
            <a:off x="4089400" y="46990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30" name="toc-chip4-num"/>
          <p:cNvSpPr txBox="1"/>
          <p:nvPr/>
        </p:nvSpPr>
        <p:spPr>
          <a:xfrm>
            <a:off x="4089400" y="46990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04</a:t>
            </a:r>
            <a:endParaRPr lang="en-US" sz="1300" noProof="1"/>
          </a:p>
        </p:txBody>
      </p:sp>
      <p:sp>
        <p:nvSpPr>
          <p:cNvPr id="31" name="toc-item4-title"/>
          <p:cNvSpPr txBox="1"/>
          <p:nvPr/>
        </p:nvSpPr>
        <p:spPr>
          <a:xfrm>
            <a:off x="4648200" y="4673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实验结果</a:t>
            </a:r>
            <a:endParaRPr lang="en-US" sz="1500" noProof="1"/>
          </a:p>
        </p:txBody>
      </p:sp>
      <p:sp>
        <p:nvSpPr>
          <p:cNvPr id="32" name="toc-item4-desc"/>
          <p:cNvSpPr txBox="1"/>
          <p:nvPr/>
        </p:nvSpPr>
        <p:spPr>
          <a:xfrm>
            <a:off x="4648200" y="4978400"/>
            <a:ext cx="678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五个研究问题的量化答案，以及扩展性 benchmark 的边界</a:t>
            </a:r>
            <a:endParaRPr lang="en-US" sz="950" noProof="1"/>
          </a:p>
        </p:txBody>
      </p:sp>
      <p:sp>
        <p:nvSpPr>
          <p:cNvPr id="33" name="toc-rule4"/>
          <p:cNvSpPr/>
          <p:nvPr/>
        </p:nvSpPr>
        <p:spPr>
          <a:xfrm>
            <a:off x="4089400" y="5384800"/>
            <a:ext cx="73406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4" name="toc-chip5"/>
          <p:cNvSpPr/>
          <p:nvPr/>
        </p:nvSpPr>
        <p:spPr>
          <a:xfrm>
            <a:off x="4089400" y="55880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35" name="toc-chip5-num"/>
          <p:cNvSpPr txBox="1"/>
          <p:nvPr/>
        </p:nvSpPr>
        <p:spPr>
          <a:xfrm>
            <a:off x="4089400" y="55880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05</a:t>
            </a:r>
            <a:endParaRPr lang="en-US" sz="1300" noProof="1"/>
          </a:p>
        </p:txBody>
      </p:sp>
      <p:sp>
        <p:nvSpPr>
          <p:cNvPr id="36" name="toc-item5-title"/>
          <p:cNvSpPr txBox="1"/>
          <p:nvPr/>
        </p:nvSpPr>
        <p:spPr>
          <a:xfrm>
            <a:off x="4648200" y="5562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创新与总结</a:t>
            </a:r>
            <a:endParaRPr lang="en-US" sz="1500" noProof="1"/>
          </a:p>
        </p:txBody>
      </p:sp>
      <p:sp>
        <p:nvSpPr>
          <p:cNvPr id="37" name="toc-item5-desc"/>
          <p:cNvSpPr txBox="1"/>
          <p:nvPr/>
        </p:nvSpPr>
        <p:spPr>
          <a:xfrm>
            <a:off x="4648200" y="5867400"/>
            <a:ext cx="6781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四条创新点、五条局限声明，以及一句话总结</a:t>
            </a:r>
            <a:endParaRPr lang="en-US" sz="950" noProof="1"/>
          </a:p>
        </p:txBody>
      </p:sp>
      <p:sp>
        <p:nvSpPr>
          <p:cNvPr id="38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9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阅读路径：章节标签 → 结论式标题 → 依据副标题 → 正文证据 → 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底部一行结论</a:t>
            </a:r>
            <a:endParaRPr lang="en-US" sz="1150" noProof="1"/>
          </a:p>
        </p:txBody>
      </p:sp>
      <p:sp>
        <p:nvSpPr>
          <p:cNvPr id="40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02</a:t>
            </a:r>
            <a:endParaRPr lang="en-US" sz="10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01 | 研究问题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模型数量在暴涨，但没人系统算过三笔账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Hugging Face 模型数已超 314 万且仍在增长，规模堪比 GitHub 的仓库量级</a:t>
            </a:r>
            <a:endParaRPr lang="en-US" sz="1150" noProof="1"/>
          </a:p>
        </p:txBody>
      </p:sp>
      <p:graphicFrame>
        <p:nvGraphicFramePr>
          <p:cNvPr id="7" name="chart"/>
          <p:cNvGraphicFramePr/>
          <p:nvPr/>
        </p:nvGraphicFramePr>
        <p:xfrm>
          <a:off x="762000" y="2133600"/>
          <a:ext cx="5715000" cy="3048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chart-caption"/>
          <p:cNvSpPr txBox="1"/>
          <p:nvPr/>
        </p:nvSpPr>
        <p:spPr>
          <a:xfrm>
            <a:off x="762000" y="52832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年度新增模型数（万个）｜按模型创建年份统计；2025 年为快照时点当年数据，非完整自然年</a:t>
            </a:r>
            <a:endParaRPr lang="en-US" sz="950" noProof="1"/>
          </a:p>
        </p:txBody>
      </p:sp>
      <p:sp>
        <p:nvSpPr>
          <p:cNvPr id="9" name="divider"/>
          <p:cNvSpPr/>
          <p:nvPr/>
        </p:nvSpPr>
        <p:spPr>
          <a:xfrm>
            <a:off x="6858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0" name="right-subhead"/>
          <p:cNvSpPr txBox="1"/>
          <p:nvPr/>
        </p:nvSpPr>
        <p:spPr>
          <a:xfrm>
            <a:off x="7213600" y="2108200"/>
            <a:ext cx="421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三个没人算过的现象</a:t>
            </a:r>
            <a:endParaRPr lang="en-US" sz="1200" noProof="1"/>
          </a:p>
        </p:txBody>
      </p:sp>
      <p:sp>
        <p:nvSpPr>
          <p:cNvPr id="11" name="ph1-title"/>
          <p:cNvSpPr txBox="1"/>
          <p:nvPr/>
        </p:nvSpPr>
        <p:spPr>
          <a:xfrm>
            <a:off x="7213600" y="2540000"/>
            <a:ext cx="421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头部独大</a:t>
            </a:r>
            <a:endParaRPr lang="en-US" sz="1400" noProof="1"/>
          </a:p>
        </p:txBody>
      </p:sp>
      <p:sp>
        <p:nvSpPr>
          <p:cNvPr id="12" name="ph1-desc"/>
          <p:cNvSpPr txBox="1"/>
          <p:nvPr/>
        </p:nvSpPr>
        <p:spPr>
          <a:xfrm>
            <a:off x="7213600" y="2844800"/>
            <a:ext cx="421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极少数模型拿走绝大多数下载，但到底多集中，没人给出过精确数字</a:t>
            </a:r>
            <a:endParaRPr lang="en-US" sz="1100" noProof="1"/>
          </a:p>
        </p:txBody>
      </p:sp>
      <p:sp>
        <p:nvSpPr>
          <p:cNvPr id="13" name="ph-rule1"/>
          <p:cNvSpPr/>
          <p:nvPr/>
        </p:nvSpPr>
        <p:spPr>
          <a:xfrm>
            <a:off x="7213600" y="3403600"/>
            <a:ext cx="4216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4" name="ph2-title"/>
          <p:cNvSpPr txBox="1"/>
          <p:nvPr/>
        </p:nvSpPr>
        <p:spPr>
          <a:xfrm>
            <a:off x="7213600" y="3556000"/>
            <a:ext cx="421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互相 fork</a:t>
            </a:r>
            <a:endParaRPr lang="en-US" sz="1400" noProof="1"/>
          </a:p>
        </p:txBody>
      </p:sp>
      <p:sp>
        <p:nvSpPr>
          <p:cNvPr id="15" name="ph2-desc"/>
          <p:cNvSpPr txBox="1"/>
          <p:nvPr/>
        </p:nvSpPr>
        <p:spPr>
          <a:xfrm>
            <a:off x="7213600" y="3860800"/>
            <a:ext cx="421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模型像 GitHub 仓库一样互相派生，微调、量化、合并，谱系长什么样没人画过</a:t>
            </a:r>
            <a:endParaRPr lang="en-US" sz="1100" noProof="1"/>
          </a:p>
        </p:txBody>
      </p:sp>
      <p:sp>
        <p:nvSpPr>
          <p:cNvPr id="16" name="ph-rule2"/>
          <p:cNvSpPr/>
          <p:nvPr/>
        </p:nvSpPr>
        <p:spPr>
          <a:xfrm>
            <a:off x="7213600" y="4419600"/>
            <a:ext cx="4216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7" name="ph3-title"/>
          <p:cNvSpPr txBox="1"/>
          <p:nvPr/>
        </p:nvSpPr>
        <p:spPr>
          <a:xfrm>
            <a:off x="7213600" y="4572000"/>
            <a:ext cx="421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冷热不均</a:t>
            </a:r>
            <a:endParaRPr lang="en-US" sz="1400" noProof="1"/>
          </a:p>
        </p:txBody>
      </p:sp>
      <p:sp>
        <p:nvSpPr>
          <p:cNvPr id="18" name="ph3-desc"/>
          <p:cNvSpPr txBox="1"/>
          <p:nvPr/>
        </p:nvSpPr>
        <p:spPr>
          <a:xfrm>
            <a:off x="7213600" y="4876800"/>
            <a:ext cx="421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不同任务类型的生态差异很大，但缺少同口径的横向比较</a:t>
            </a:r>
            <a:endParaRPr lang="en-US" sz="1100" noProof="1"/>
          </a:p>
        </p:txBody>
      </p:sp>
      <p:sp>
        <p:nvSpPr>
          <p:cNvPr id="19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0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GitHub 有 314 万个仓库，Hugging Face 有 314 万个模型——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规模到了，量化分析还缺位</a:t>
            </a: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，这正是本项目要做的</a:t>
            </a:r>
            <a:endParaRPr lang="en-US" sz="1150" noProof="1"/>
          </a:p>
        </p:txBody>
      </p:sp>
      <p:sp>
        <p:nvSpPr>
          <p:cNvPr id="21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03</a:t>
            </a:r>
            <a:endParaRPr lang="en-US" sz="10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01 | 研究问题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五个研究问题：从描述生态，到解释热度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特别说明：RQ4 做的是"关联"分析，不是"预测未来"的下载量</a:t>
            </a:r>
            <a:endParaRPr lang="en-US" sz="1150" noProof="1"/>
          </a:p>
        </p:txBody>
      </p:sp>
      <p:graphicFrame>
        <p:nvGraphicFramePr>
          <p:cNvPr id="7" name="rq-table"/>
          <p:cNvGraphicFramePr>
            <a:graphicFrameLocks noGrp="1"/>
          </p:cNvGraphicFramePr>
          <p:nvPr/>
        </p:nvGraphicFramePr>
        <p:xfrm>
          <a:off x="762000" y="2057400"/>
          <a:ext cx="10668000" cy="3403600"/>
        </p:xfrm>
        <a:graphic>
          <a:graphicData uri="http://schemas.openxmlformats.org/drawingml/2006/table">
            <a:tbl>
              <a:tblPr/>
              <a:tblGrid>
                <a:gridCol w="1066800"/>
                <a:gridCol w="2133600"/>
                <a:gridCol w="4800600"/>
                <a:gridCol w="2667000"/>
              </a:tblGrid>
              <a:tr h="54457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研究问题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大白话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71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RQ1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生态演化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模型怎么一年年涨起来的？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时间序列统计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71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RQ2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注意力分配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下载有多"贫富不均"？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集中度 / 长尾分析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71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RQ3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谱系网络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谁在 fork 谁？谱系长啥样？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图算法（GraphFrames）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71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RQ4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热度关联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哪些属性跟"火"有关系？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机器学习（MLlib）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718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RQ5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任务差异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不同任务类型的生态差在哪？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分组对比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able-note"/>
          <p:cNvSpPr txBox="1"/>
          <p:nvPr/>
        </p:nvSpPr>
        <p:spPr>
          <a:xfrm>
            <a:off x="762000" y="55880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注：RQ4 的建模目标为 log1p(下载量) 的同期关联；全部结果可由 results_manifest.json 逐一复核</a:t>
            </a:r>
            <a:endParaRPr lang="en-US" sz="950" noProof="1"/>
          </a:p>
        </p:txBody>
      </p:sp>
      <p:sp>
        <p:nvSpPr>
          <p:cNvPr id="9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0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五个问题共用同一份数据、同一条流水线——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方法不同，口径一致</a:t>
            </a:r>
            <a:endParaRPr lang="en-US" sz="1150" noProof="1"/>
          </a:p>
        </p:txBody>
      </p:sp>
      <p:sp>
        <p:nvSpPr>
          <p:cNvPr id="11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04</a:t>
            </a:r>
            <a:endParaRPr lang="en-US" sz="10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02 | 数据与方法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314 万个模型，一份可校验的官方快照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数据源：Hugging Face 官方数据集 cfahlgren1/hub-stats，固定提交版本，SHA-256 校验通过</a:t>
            </a:r>
            <a:endParaRPr lang="en-US" sz="1150" noProof="1"/>
          </a:p>
        </p:txBody>
      </p:sp>
      <p:sp>
        <p:nvSpPr>
          <p:cNvPr id="7" name="kpi1-label"/>
          <p:cNvSpPr txBox="1"/>
          <p:nvPr/>
        </p:nvSpPr>
        <p:spPr>
          <a:xfrm>
            <a:off x="762000" y="21844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A37850"/>
                </a:solidFill>
                <a:latin typeface="MiSans"/>
                <a:ea typeface="MiSans"/>
              </a:rPr>
              <a:t>VOLUME · 大</a:t>
            </a:r>
            <a:endParaRPr lang="en-US" sz="1100" noProof="1"/>
          </a:p>
        </p:txBody>
      </p:sp>
      <p:sp>
        <p:nvSpPr>
          <p:cNvPr id="8" name="kpi1-num"/>
          <p:cNvSpPr txBox="1"/>
          <p:nvPr/>
        </p:nvSpPr>
        <p:spPr>
          <a:xfrm>
            <a:off x="762000" y="2489200"/>
            <a:ext cx="241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C0651F"/>
                </a:solidFill>
                <a:latin typeface="Oranienbaum"/>
                <a:ea typeface="LXGW Bright"/>
              </a:rPr>
              <a:t>3,138,954</a:t>
            </a:r>
            <a:endParaRPr lang="en-US" sz="3000" noProof="1"/>
          </a:p>
        </p:txBody>
      </p:sp>
      <p:sp>
        <p:nvSpPr>
          <p:cNvPr id="9" name="kpi1-desc"/>
          <p:cNvSpPr txBox="1"/>
          <p:nvPr/>
        </p:nvSpPr>
        <p:spPr>
          <a:xfrm>
            <a:off x="762000" y="31242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去重后的模型总数（个）；源文件 1.49 GiB parquet</a:t>
            </a:r>
            <a:endParaRPr lang="en-US" sz="950" noProof="1"/>
          </a:p>
        </p:txBody>
      </p:sp>
      <p:sp>
        <p:nvSpPr>
          <p:cNvPr id="10" name="kpi-div1"/>
          <p:cNvSpPr/>
          <p:nvPr/>
        </p:nvSpPr>
        <p:spPr>
          <a:xfrm>
            <a:off x="3403600" y="2235200"/>
            <a:ext cx="12700" cy="15240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1" name="kpi2-label"/>
          <p:cNvSpPr txBox="1"/>
          <p:nvPr/>
        </p:nvSpPr>
        <p:spPr>
          <a:xfrm>
            <a:off x="3632200" y="21844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A37850"/>
                </a:solidFill>
                <a:latin typeface="MiSans"/>
                <a:ea typeface="MiSans"/>
              </a:rPr>
              <a:t>VARIETY · 杂</a:t>
            </a:r>
            <a:endParaRPr lang="en-US" sz="1100" noProof="1"/>
          </a:p>
        </p:txBody>
      </p:sp>
      <p:sp>
        <p:nvSpPr>
          <p:cNvPr id="12" name="kpi2-num"/>
          <p:cNvSpPr txBox="1"/>
          <p:nvPr/>
        </p:nvSpPr>
        <p:spPr>
          <a:xfrm>
            <a:off x="3632200" y="2489200"/>
            <a:ext cx="241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5C4630"/>
                </a:solidFill>
                <a:latin typeface="Oranienbaum"/>
                <a:ea typeface="LXGW Bright"/>
              </a:rPr>
              <a:t>4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种结构</a:t>
            </a:r>
            <a:endParaRPr lang="en-US" sz="3000" noProof="1"/>
          </a:p>
        </p:txBody>
      </p:sp>
      <p:sp>
        <p:nvSpPr>
          <p:cNvPr id="13" name="kpi2-desc"/>
          <p:cNvSpPr txBox="1"/>
          <p:nvPr/>
        </p:nvSpPr>
        <p:spPr>
          <a:xfrm>
            <a:off x="3632200" y="31242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数字 + 嵌套 struct + 标签数组 + 底座关系字段</a:t>
            </a:r>
            <a:endParaRPr lang="en-US" sz="950" noProof="1"/>
          </a:p>
        </p:txBody>
      </p:sp>
      <p:sp>
        <p:nvSpPr>
          <p:cNvPr id="14" name="kpi-div2"/>
          <p:cNvSpPr/>
          <p:nvPr/>
        </p:nvSpPr>
        <p:spPr>
          <a:xfrm>
            <a:off x="6273800" y="2235200"/>
            <a:ext cx="12700" cy="15240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5" name="kpi3-label"/>
          <p:cNvSpPr txBox="1"/>
          <p:nvPr/>
        </p:nvSpPr>
        <p:spPr>
          <a:xfrm>
            <a:off x="6502400" y="21844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A37850"/>
                </a:solidFill>
                <a:latin typeface="MiSans"/>
                <a:ea typeface="MiSans"/>
              </a:rPr>
              <a:t>VELOCITY · 快</a:t>
            </a:r>
            <a:endParaRPr lang="en-US" sz="1100" noProof="1"/>
          </a:p>
        </p:txBody>
      </p:sp>
      <p:sp>
        <p:nvSpPr>
          <p:cNvPr id="16" name="kpi3-num"/>
          <p:cNvSpPr txBox="1"/>
          <p:nvPr/>
        </p:nvSpPr>
        <p:spPr>
          <a:xfrm>
            <a:off x="6502400" y="2489200"/>
            <a:ext cx="241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5C4630"/>
                </a:solidFill>
                <a:latin typeface="Oranienbaum"/>
                <a:ea typeface="LXGW Bright"/>
              </a:rPr>
              <a:t>30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天</a:t>
            </a:r>
            <a:endParaRPr lang="en-US" sz="3000" noProof="1"/>
          </a:p>
        </p:txBody>
      </p:sp>
      <p:sp>
        <p:nvSpPr>
          <p:cNvPr id="17" name="kpi3-desc"/>
          <p:cNvSpPr txBox="1"/>
          <p:nvPr/>
        </p:nvSpPr>
        <p:spPr>
          <a:xfrm>
            <a:off x="6502400" y="31242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带"近 30 天下载"滚动窗口，数据天天在变</a:t>
            </a:r>
            <a:endParaRPr lang="en-US" sz="950" noProof="1"/>
          </a:p>
        </p:txBody>
      </p:sp>
      <p:sp>
        <p:nvSpPr>
          <p:cNvPr id="18" name="kpi-div3"/>
          <p:cNvSpPr/>
          <p:nvPr/>
        </p:nvSpPr>
        <p:spPr>
          <a:xfrm>
            <a:off x="9144000" y="2235200"/>
            <a:ext cx="12700" cy="15240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9" name="kpi4-label"/>
          <p:cNvSpPr txBox="1"/>
          <p:nvPr/>
        </p:nvSpPr>
        <p:spPr>
          <a:xfrm>
            <a:off x="9372600" y="218440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A37850"/>
                </a:solidFill>
                <a:latin typeface="MiSans"/>
                <a:ea typeface="MiSans"/>
              </a:rPr>
              <a:t>VERACITY · 脏</a:t>
            </a:r>
            <a:endParaRPr lang="en-US" sz="1100" noProof="1"/>
          </a:p>
        </p:txBody>
      </p:sp>
      <p:sp>
        <p:nvSpPr>
          <p:cNvPr id="20" name="kpi4-num"/>
          <p:cNvSpPr txBox="1"/>
          <p:nvPr/>
        </p:nvSpPr>
        <p:spPr>
          <a:xfrm>
            <a:off x="9372600" y="2489200"/>
            <a:ext cx="2057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5C4630"/>
                </a:solidFill>
                <a:latin typeface="Oranienbaum"/>
                <a:ea typeface="LXGW Bright"/>
              </a:rPr>
              <a:t>65.6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 %</a:t>
            </a:r>
            <a:endParaRPr lang="en-US" sz="3000" noProof="1"/>
          </a:p>
        </p:txBody>
      </p:sp>
      <p:sp>
        <p:nvSpPr>
          <p:cNvPr id="21" name="kpi4-desc"/>
          <p:cNvSpPr txBox="1"/>
          <p:nvPr/>
        </p:nvSpPr>
        <p:spPr>
          <a:xfrm>
            <a:off x="9372600" y="3124200"/>
            <a:ext cx="2057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任务标签缺失率；底座关系另缺 71.7%，显式标出单独算</a:t>
            </a:r>
            <a:endParaRPr lang="en-US" sz="950" noProof="1"/>
          </a:p>
        </p:txBody>
      </p:sp>
      <p:sp>
        <p:nvSpPr>
          <p:cNvPr id="22" name="trans-label"/>
          <p:cNvSpPr txBox="1"/>
          <p:nvPr/>
        </p:nvSpPr>
        <p:spPr>
          <a:xfrm>
            <a:off x="762000" y="4318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A37850"/>
                </a:solidFill>
                <a:latin typeface="MiSans"/>
                <a:ea typeface="MiSans"/>
              </a:rPr>
              <a:t>入库口径</a:t>
            </a:r>
            <a:endParaRPr lang="en-US" sz="1100" noProof="1"/>
          </a:p>
        </p:txBody>
      </p:sp>
      <p:sp>
        <p:nvSpPr>
          <p:cNvPr id="23" name="trans-figure"/>
          <p:cNvSpPr txBox="1"/>
          <p:nvPr/>
        </p:nvSpPr>
        <p:spPr>
          <a:xfrm>
            <a:off x="762000" y="46228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5C4630"/>
                </a:solidFill>
                <a:latin typeface="Oranienbaum"/>
                <a:ea typeface="LXGW Bright"/>
              </a:rPr>
              <a:t>3,138,959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原始行</a:t>
            </a:r>
            <a:r>
              <a:rPr lang="en-US" sz="2400" noProof="1">
                <a:solidFill>
                  <a:srgbClr val="5C4630"/>
                </a:solidFill>
                <a:latin typeface="Oranienbaum"/>
                <a:ea typeface="LXGW Bright"/>
              </a:rPr>
              <a:t> → </a:t>
            </a:r>
            <a:r>
              <a:rPr lang="en-US" sz="2400" noProof="1">
                <a:solidFill>
                  <a:srgbClr val="C0651F"/>
                </a:solidFill>
                <a:latin typeface="Oranienbaum"/>
                <a:ea typeface="LXGW Bright"/>
              </a:rPr>
              <a:t>3,138,954</a:t>
            </a:r>
            <a:r>
              <a:rPr lang="en-US" sz="2400" noProof="1">
                <a:solidFill>
                  <a:srgbClr val="5C4630"/>
                </a:solidFill>
                <a:latin typeface="Oranienbaum"/>
                <a:ea typeface="LXGW Bright"/>
              </a:rPr>
              <a:t>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去重后行</a:t>
            </a:r>
            <a:endParaRPr lang="en-US" sz="2400" noProof="1"/>
          </a:p>
        </p:txBody>
      </p:sp>
      <p:sp>
        <p:nvSpPr>
          <p:cNvPr id="24" name="trans-note"/>
          <p:cNvSpPr txBox="1"/>
          <p:nvPr/>
        </p:nvSpPr>
        <p:spPr>
          <a:xfrm>
            <a:off x="762000" y="518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去重仅剔除 5 行重复记录；缺失字段不参与横向比较，单独披露</a:t>
            </a:r>
            <a:endParaRPr lang="en-US" sz="950" noProof="1"/>
          </a:p>
        </p:txBody>
      </p:sp>
      <p:sp>
        <p:nvSpPr>
          <p:cNvPr id="25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6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够大、够杂、够快、也够脏——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正是一份适合 Spark 的数据</a:t>
            </a:r>
            <a:endParaRPr lang="en-US" sz="1150" noProof="1"/>
          </a:p>
        </p:txBody>
      </p:sp>
      <p:sp>
        <p:nvSpPr>
          <p:cNvPr id="27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05</a:t>
            </a:r>
            <a:endParaRPr lang="en-US" sz="10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02 | 数据与方法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Medallion 三层架构：原料、洗切配、成品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每一步都能单独验证，出错能定位到具体哪一层</a:t>
            </a:r>
            <a:endParaRPr lang="en-US" sz="1150" noProof="1"/>
          </a:p>
        </p:txBody>
      </p:sp>
      <p:sp>
        <p:nvSpPr>
          <p:cNvPr id="7" name="layer-bronze"/>
          <p:cNvSpPr/>
          <p:nvPr/>
        </p:nvSpPr>
        <p:spPr>
          <a:xfrm>
            <a:off x="762000" y="2159000"/>
            <a:ext cx="5334000" cy="787400"/>
          </a:xfrm>
          <a:prstGeom prst="rect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8" name="layer-bronze-name"/>
          <p:cNvSpPr txBox="1"/>
          <p:nvPr/>
        </p:nvSpPr>
        <p:spPr>
          <a:xfrm>
            <a:off x="965200" y="226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Bronze · 原料</a:t>
            </a:r>
            <a:endParaRPr lang="en-US" sz="1400" noProof="1"/>
          </a:p>
        </p:txBody>
      </p:sp>
      <p:sp>
        <p:nvSpPr>
          <p:cNvPr id="9" name="layer-bronze-desc"/>
          <p:cNvSpPr txBox="1"/>
          <p:nvPr/>
        </p:nvSpPr>
        <p:spPr>
          <a:xfrm>
            <a:off x="965200" y="2540000"/>
            <a:ext cx="4978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6A56"/>
                </a:solidFill>
                <a:latin typeface="MiSans"/>
                <a:ea typeface="MiSans"/>
              </a:rPr>
              <a:t>原始 parquet 入库，3,138,959 行——"刚买的食材，原样入库"</a:t>
            </a:r>
            <a:endParaRPr lang="en-US" sz="1000" noProof="1"/>
          </a:p>
        </p:txBody>
      </p:sp>
      <p:sp>
        <p:nvSpPr>
          <p:cNvPr id="10" name="layer-silver"/>
          <p:cNvSpPr/>
          <p:nvPr/>
        </p:nvSpPr>
        <p:spPr>
          <a:xfrm>
            <a:off x="762000" y="3175000"/>
            <a:ext cx="4318000" cy="787400"/>
          </a:xfrm>
          <a:prstGeom prst="rect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11" name="layer-silver-name"/>
          <p:cNvSpPr txBox="1"/>
          <p:nvPr/>
        </p:nvSpPr>
        <p:spPr>
          <a:xfrm>
            <a:off x="965200" y="3276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Silver · 洗切配</a:t>
            </a:r>
            <a:endParaRPr lang="en-US" sz="1400" noProof="1"/>
          </a:p>
        </p:txBody>
      </p:sp>
      <p:sp>
        <p:nvSpPr>
          <p:cNvPr id="12" name="layer-silver-desc"/>
          <p:cNvSpPr txBox="1"/>
          <p:nvPr/>
        </p:nvSpPr>
        <p:spPr>
          <a:xfrm>
            <a:off x="965200" y="3556000"/>
            <a:ext cx="396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7A6A56"/>
                </a:solidFill>
                <a:latin typeface="MiSans"/>
                <a:ea typeface="MiSans"/>
              </a:rPr>
              <a:t>去重 + 展开标签/血缘：主表 3,138,954 行</a:t>
            </a:r>
            <a:endParaRPr lang="en-US" sz="1000" noProof="1"/>
          </a:p>
        </p:txBody>
      </p:sp>
      <p:sp>
        <p:nvSpPr>
          <p:cNvPr id="13" name="layer-gold"/>
          <p:cNvSpPr/>
          <p:nvPr/>
        </p:nvSpPr>
        <p:spPr>
          <a:xfrm>
            <a:off x="762000" y="4191000"/>
            <a:ext cx="3175000" cy="7874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4" name="layer-gold-name"/>
          <p:cNvSpPr txBox="1"/>
          <p:nvPr/>
        </p:nvSpPr>
        <p:spPr>
          <a:xfrm>
            <a:off x="965200" y="4292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spc="200" kern="0">
                <a:solidFill>
                  <a:srgbClr val="F9F4E9"/>
                </a:solidFill>
                <a:latin typeface="LXGW Bright"/>
                <a:ea typeface="LXGW Bright"/>
              </a:rPr>
              <a:t>Gold · 上桌成品</a:t>
            </a:r>
            <a:endParaRPr lang="en-US" sz="1400" noProof="1"/>
          </a:p>
        </p:txBody>
      </p:sp>
      <p:sp>
        <p:nvSpPr>
          <p:cNvPr id="15" name="layer-gold-desc"/>
          <p:cNvSpPr txBox="1"/>
          <p:nvPr/>
        </p:nvSpPr>
        <p:spPr>
          <a:xfrm>
            <a:off x="965200" y="45720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F9F4E9"/>
                </a:solidFill>
                <a:latin typeface="MiSans"/>
                <a:ea typeface="MiSans"/>
              </a:rPr>
              <a:t>7 张分析表 + 集中度统计表</a:t>
            </a:r>
            <a:endParaRPr lang="en-US" sz="1000" noProof="1"/>
          </a:p>
        </p:txBody>
      </p:sp>
      <p:sp>
        <p:nvSpPr>
          <p:cNvPr id="16" name="funnel-side-note"/>
          <p:cNvSpPr txBox="1"/>
          <p:nvPr/>
        </p:nvSpPr>
        <p:spPr>
          <a:xfrm>
            <a:off x="762000" y="5207000"/>
            <a:ext cx="546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Silver 层另产出两张展开表：标签 2,063 万行、血缘边 92 万条；层间只靠文件交接，可逐层重跑</a:t>
            </a:r>
            <a:endParaRPr lang="en-US" sz="950" noProof="1"/>
          </a:p>
        </p:txBody>
      </p:sp>
      <p:sp>
        <p:nvSpPr>
          <p:cNvPr id="17" name="divider"/>
          <p:cNvSpPr/>
          <p:nvPr/>
        </p:nvSpPr>
        <p:spPr>
          <a:xfrm>
            <a:off x="6858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8" name="stack-subhead"/>
          <p:cNvSpPr txBox="1"/>
          <p:nvPr/>
        </p:nvSpPr>
        <p:spPr>
          <a:xfrm>
            <a:off x="7213600" y="2108200"/>
            <a:ext cx="421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技术栈</a:t>
            </a:r>
            <a:endParaRPr lang="en-US" sz="1200" noProof="1"/>
          </a:p>
        </p:txBody>
      </p:sp>
      <p:sp>
        <p:nvSpPr>
          <p:cNvPr id="19" name="stack1"/>
          <p:cNvSpPr txBox="1"/>
          <p:nvPr/>
        </p:nvSpPr>
        <p:spPr>
          <a:xfrm>
            <a:off x="7213600" y="25146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5C4630"/>
                </a:solidFill>
                <a:latin typeface="MiSans"/>
                <a:ea typeface="MiSans"/>
              </a:rPr>
              <a:t>PySpark 4.2.0</a:t>
            </a:r>
            <a:endParaRPr lang="en-US" sz="1250" noProof="1"/>
          </a:p>
        </p:txBody>
      </p:sp>
      <p:sp>
        <p:nvSpPr>
          <p:cNvPr id="20" name="stack1-desc"/>
          <p:cNvSpPr txBox="1"/>
          <p:nvPr/>
        </p:nvSpPr>
        <p:spPr>
          <a:xfrm>
            <a:off x="9347200" y="25400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ETL 与统计计算主力</a:t>
            </a:r>
            <a:endParaRPr lang="en-US" sz="950" noProof="1"/>
          </a:p>
        </p:txBody>
      </p:sp>
      <p:sp>
        <p:nvSpPr>
          <p:cNvPr id="21" name="stack-rule1"/>
          <p:cNvSpPr/>
          <p:nvPr/>
        </p:nvSpPr>
        <p:spPr>
          <a:xfrm>
            <a:off x="7213600" y="2895600"/>
            <a:ext cx="4216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2" name="stack2"/>
          <p:cNvSpPr txBox="1"/>
          <p:nvPr/>
        </p:nvSpPr>
        <p:spPr>
          <a:xfrm>
            <a:off x="7213600" y="30480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5C4630"/>
                </a:solidFill>
                <a:latin typeface="MiSans"/>
                <a:ea typeface="MiSans"/>
              </a:rPr>
              <a:t>GraphFrames 0.12.3</a:t>
            </a:r>
            <a:endParaRPr lang="en-US" sz="1250" noProof="1"/>
          </a:p>
        </p:txBody>
      </p:sp>
      <p:sp>
        <p:nvSpPr>
          <p:cNvPr id="23" name="stack2-desc"/>
          <p:cNvSpPr txBox="1"/>
          <p:nvPr/>
        </p:nvSpPr>
        <p:spPr>
          <a:xfrm>
            <a:off x="9347200" y="30734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93 万节点图算法</a:t>
            </a:r>
            <a:endParaRPr lang="en-US" sz="950" noProof="1"/>
          </a:p>
        </p:txBody>
      </p:sp>
      <p:sp>
        <p:nvSpPr>
          <p:cNvPr id="24" name="stack-rule2"/>
          <p:cNvSpPr/>
          <p:nvPr/>
        </p:nvSpPr>
        <p:spPr>
          <a:xfrm>
            <a:off x="7213600" y="3429000"/>
            <a:ext cx="4216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5" name="stack3"/>
          <p:cNvSpPr txBox="1"/>
          <p:nvPr/>
        </p:nvSpPr>
        <p:spPr>
          <a:xfrm>
            <a:off x="7213600" y="35814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5C4630"/>
                </a:solidFill>
                <a:latin typeface="MiSans"/>
                <a:ea typeface="MiSans"/>
              </a:rPr>
              <a:t>MLlib</a:t>
            </a:r>
            <a:endParaRPr lang="en-US" sz="1250" noProof="1"/>
          </a:p>
        </p:txBody>
      </p:sp>
      <p:sp>
        <p:nvSpPr>
          <p:cNvPr id="26" name="stack3-desc"/>
          <p:cNvSpPr txBox="1"/>
          <p:nvPr/>
        </p:nvSpPr>
        <p:spPr>
          <a:xfrm>
            <a:off x="9347200" y="36068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热度关联建模</a:t>
            </a:r>
            <a:endParaRPr lang="en-US" sz="950" noProof="1"/>
          </a:p>
        </p:txBody>
      </p:sp>
      <p:sp>
        <p:nvSpPr>
          <p:cNvPr id="27" name="stack-rule3"/>
          <p:cNvSpPr/>
          <p:nvPr/>
        </p:nvSpPr>
        <p:spPr>
          <a:xfrm>
            <a:off x="7213600" y="3962400"/>
            <a:ext cx="4216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8" name="stack4"/>
          <p:cNvSpPr txBox="1"/>
          <p:nvPr/>
        </p:nvSpPr>
        <p:spPr>
          <a:xfrm>
            <a:off x="7213600" y="41148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5C4630"/>
                </a:solidFill>
                <a:latin typeface="MiSans"/>
                <a:ea typeface="MiSans"/>
              </a:rPr>
              <a:t>Python 3.11 · Java 17</a:t>
            </a:r>
            <a:endParaRPr lang="en-US" sz="1250" noProof="1"/>
          </a:p>
        </p:txBody>
      </p:sp>
      <p:sp>
        <p:nvSpPr>
          <p:cNvPr id="29" name="stack4-desc"/>
          <p:cNvSpPr txBox="1"/>
          <p:nvPr/>
        </p:nvSpPr>
        <p:spPr>
          <a:xfrm>
            <a:off x="9347200" y="4140200"/>
            <a:ext cx="208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运行环境</a:t>
            </a:r>
            <a:endParaRPr lang="en-US" sz="950" noProof="1"/>
          </a:p>
        </p:txBody>
      </p:sp>
      <p:sp>
        <p:nvSpPr>
          <p:cNvPr id="30" name="stack-note"/>
          <p:cNvSpPr txBox="1"/>
          <p:nvPr/>
        </p:nvSpPr>
        <p:spPr>
          <a:xfrm>
            <a:off x="7213600" y="4597400"/>
            <a:ext cx="421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为什么分层：每一层的输出都是磁盘上的表，单独可验、单独可重跑——出错时能立刻定位到哪一层出了问题</a:t>
            </a:r>
            <a:endParaRPr lang="en-US" sz="950" noProof="1"/>
          </a:p>
        </p:txBody>
      </p:sp>
      <p:sp>
        <p:nvSpPr>
          <p:cNvPr id="31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2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从 3,138,959 行原始数据到 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7 张成品分析表</a:t>
            </a: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，中间每一步都落盘可查</a:t>
            </a:r>
            <a:endParaRPr lang="en-US" sz="1150" noProof="1"/>
          </a:p>
        </p:txBody>
      </p:sp>
      <p:sp>
        <p:nvSpPr>
          <p:cNvPr id="33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06</a:t>
            </a:r>
            <a:endParaRPr lang="en-US" sz="10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02 | 数据与方法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34 个脚本串成一条链，一条命令从头跑到尾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单一结果清单驱动所有交付物——报告、图表、看板的数字绝不打架</a:t>
            </a:r>
            <a:endParaRPr lang="en-US" sz="1150" noProof="1"/>
          </a:p>
        </p:txBody>
      </p:sp>
      <p:sp>
        <p:nvSpPr>
          <p:cNvPr id="7" name="rail-num1"/>
          <p:cNvSpPr txBox="1"/>
          <p:nvPr/>
        </p:nvSpPr>
        <p:spPr>
          <a:xfrm>
            <a:off x="762000" y="22860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C0651F"/>
                </a:solidFill>
                <a:latin typeface="Oranienbaum"/>
                <a:ea typeface="LXGW Bright"/>
              </a:rPr>
              <a:t>34</a:t>
            </a:r>
            <a:endParaRPr lang="en-US" sz="3400" noProof="1"/>
          </a:p>
        </p:txBody>
      </p:sp>
      <p:sp>
        <p:nvSpPr>
          <p:cNvPr id="8" name="rail-label1"/>
          <p:cNvSpPr txBox="1"/>
          <p:nvPr/>
        </p:nvSpPr>
        <p:spPr>
          <a:xfrm>
            <a:off x="762000" y="28702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个 Python 脚本串成完整流水线</a:t>
            </a:r>
            <a:endParaRPr lang="en-US" sz="950" noProof="1"/>
          </a:p>
        </p:txBody>
      </p:sp>
      <p:sp>
        <p:nvSpPr>
          <p:cNvPr id="9" name="rail-num2"/>
          <p:cNvSpPr txBox="1"/>
          <p:nvPr/>
        </p:nvSpPr>
        <p:spPr>
          <a:xfrm>
            <a:off x="762000" y="36322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5C4630"/>
                </a:solidFill>
                <a:latin typeface="Oranienbaum"/>
                <a:ea typeface="LXGW Bright"/>
              </a:rPr>
              <a:t>01</a:t>
            </a:r>
            <a:endParaRPr lang="en-US" sz="3400" noProof="1"/>
          </a:p>
        </p:txBody>
      </p:sp>
      <p:sp>
        <p:nvSpPr>
          <p:cNvPr id="10" name="rail-label2"/>
          <p:cNvSpPr txBox="1"/>
          <p:nvPr/>
        </p:nvSpPr>
        <p:spPr>
          <a:xfrm>
            <a:off x="762000" y="42164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条命令即可从头跑到尾，全链可复现</a:t>
            </a:r>
            <a:endParaRPr lang="en-US" sz="950" noProof="1"/>
          </a:p>
        </p:txBody>
      </p:sp>
      <p:sp>
        <p:nvSpPr>
          <p:cNvPr id="11" name="rail-divider"/>
          <p:cNvSpPr/>
          <p:nvPr/>
        </p:nvSpPr>
        <p:spPr>
          <a:xfrm>
            <a:off x="3327400" y="2235200"/>
            <a:ext cx="12700" cy="26670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2" name="flow-line"/>
          <p:cNvSpPr/>
          <p:nvPr/>
        </p:nvSpPr>
        <p:spPr>
          <a:xfrm>
            <a:off x="3911600" y="2489200"/>
            <a:ext cx="71882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step1-chip"/>
          <p:cNvSpPr/>
          <p:nvPr/>
        </p:nvSpPr>
        <p:spPr>
          <a:xfrm>
            <a:off x="3759200" y="23114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4" name="step1-num"/>
          <p:cNvSpPr txBox="1"/>
          <p:nvPr/>
        </p:nvSpPr>
        <p:spPr>
          <a:xfrm>
            <a:off x="3759200" y="23114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01</a:t>
            </a:r>
            <a:endParaRPr lang="en-US" sz="1300" noProof="1"/>
          </a:p>
        </p:txBody>
      </p:sp>
      <p:sp>
        <p:nvSpPr>
          <p:cNvPr id="15" name="step1-title"/>
          <p:cNvSpPr txBox="1"/>
          <p:nvPr/>
        </p:nvSpPr>
        <p:spPr>
          <a:xfrm>
            <a:off x="3683000" y="28194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100" kern="0">
                <a:solidFill>
                  <a:srgbClr val="5C4630"/>
                </a:solidFill>
                <a:latin typeface="LXGW Bright"/>
                <a:ea typeface="LXGW Bright"/>
              </a:rPr>
              <a:t>下载与校验</a:t>
            </a:r>
            <a:endParaRPr lang="en-US" sz="1350" noProof="1"/>
          </a:p>
        </p:txBody>
      </p:sp>
      <p:sp>
        <p:nvSpPr>
          <p:cNvPr id="16" name="step1-desc"/>
          <p:cNvSpPr txBox="1"/>
          <p:nvPr/>
        </p:nvSpPr>
        <p:spPr>
          <a:xfrm>
            <a:off x="3683000" y="30988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固定提交版本下载，SHA-256 校验通过才入库</a:t>
            </a:r>
            <a:endParaRPr lang="en-US" sz="950" noProof="1"/>
          </a:p>
        </p:txBody>
      </p:sp>
      <p:sp>
        <p:nvSpPr>
          <p:cNvPr id="17" name="step2-chip"/>
          <p:cNvSpPr/>
          <p:nvPr/>
        </p:nvSpPr>
        <p:spPr>
          <a:xfrm>
            <a:off x="5664200" y="23114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8" name="step2-num"/>
          <p:cNvSpPr txBox="1"/>
          <p:nvPr/>
        </p:nvSpPr>
        <p:spPr>
          <a:xfrm>
            <a:off x="5664200" y="23114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02</a:t>
            </a:r>
            <a:endParaRPr lang="en-US" sz="1300" noProof="1"/>
          </a:p>
        </p:txBody>
      </p:sp>
      <p:sp>
        <p:nvSpPr>
          <p:cNvPr id="19" name="step2-title"/>
          <p:cNvSpPr txBox="1"/>
          <p:nvPr/>
        </p:nvSpPr>
        <p:spPr>
          <a:xfrm>
            <a:off x="5588000" y="28194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100" kern="0">
                <a:solidFill>
                  <a:srgbClr val="5C4630"/>
                </a:solidFill>
                <a:latin typeface="LXGW Bright"/>
                <a:ea typeface="LXGW Bright"/>
              </a:rPr>
              <a:t>ETL 清洗</a:t>
            </a:r>
            <a:endParaRPr lang="en-US" sz="1350" noProof="1"/>
          </a:p>
        </p:txBody>
      </p:sp>
      <p:sp>
        <p:nvSpPr>
          <p:cNvPr id="20" name="step2-desc"/>
          <p:cNvSpPr txBox="1"/>
          <p:nvPr/>
        </p:nvSpPr>
        <p:spPr>
          <a:xfrm>
            <a:off x="5588000" y="30988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去重、展开标签与血缘，进入 Silver 层</a:t>
            </a:r>
            <a:endParaRPr lang="en-US" sz="950" noProof="1"/>
          </a:p>
        </p:txBody>
      </p:sp>
      <p:sp>
        <p:nvSpPr>
          <p:cNvPr id="21" name="step3-chip"/>
          <p:cNvSpPr/>
          <p:nvPr/>
        </p:nvSpPr>
        <p:spPr>
          <a:xfrm>
            <a:off x="7569200" y="23114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2" name="step3-num"/>
          <p:cNvSpPr txBox="1"/>
          <p:nvPr/>
        </p:nvSpPr>
        <p:spPr>
          <a:xfrm>
            <a:off x="7569200" y="23114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03</a:t>
            </a:r>
            <a:endParaRPr lang="en-US" sz="1300" noProof="1"/>
          </a:p>
        </p:txBody>
      </p:sp>
      <p:sp>
        <p:nvSpPr>
          <p:cNvPr id="23" name="step3-title"/>
          <p:cNvSpPr txBox="1"/>
          <p:nvPr/>
        </p:nvSpPr>
        <p:spPr>
          <a:xfrm>
            <a:off x="7493000" y="28194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100" kern="0">
                <a:solidFill>
                  <a:srgbClr val="5C4630"/>
                </a:solidFill>
                <a:latin typeface="LXGW Bright"/>
                <a:ea typeface="LXGW Bright"/>
              </a:rPr>
              <a:t>分析与出图</a:t>
            </a:r>
            <a:endParaRPr lang="en-US" sz="1350" noProof="1"/>
          </a:p>
        </p:txBody>
      </p:sp>
      <p:sp>
        <p:nvSpPr>
          <p:cNvPr id="24" name="step3-desc"/>
          <p:cNvSpPr txBox="1"/>
          <p:nvPr/>
        </p:nvSpPr>
        <p:spPr>
          <a:xfrm>
            <a:off x="7493000" y="3098800"/>
            <a:ext cx="165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5 个研究问题 + 图算法 + benchmark，产出图表</a:t>
            </a:r>
            <a:endParaRPr lang="en-US" sz="950" noProof="1"/>
          </a:p>
        </p:txBody>
      </p:sp>
      <p:sp>
        <p:nvSpPr>
          <p:cNvPr id="25" name="step4-chip"/>
          <p:cNvSpPr/>
          <p:nvPr/>
        </p:nvSpPr>
        <p:spPr>
          <a:xfrm>
            <a:off x="9474200" y="2311400"/>
            <a:ext cx="355600" cy="3556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26" name="step4-num"/>
          <p:cNvSpPr txBox="1"/>
          <p:nvPr/>
        </p:nvSpPr>
        <p:spPr>
          <a:xfrm>
            <a:off x="9474200" y="23114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F9F4E9"/>
                </a:solidFill>
                <a:latin typeface="Oranienbaum"/>
                <a:ea typeface="Oranienbaum"/>
              </a:rPr>
              <a:t>04</a:t>
            </a:r>
            <a:endParaRPr lang="en-US" sz="1300" noProof="1"/>
          </a:p>
        </p:txBody>
      </p:sp>
      <p:sp>
        <p:nvSpPr>
          <p:cNvPr id="27" name="step4-title"/>
          <p:cNvSpPr txBox="1"/>
          <p:nvPr/>
        </p:nvSpPr>
        <p:spPr>
          <a:xfrm>
            <a:off x="9398000" y="28194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100" kern="0">
                <a:solidFill>
                  <a:srgbClr val="C0651F"/>
                </a:solidFill>
                <a:latin typeface="LXGW Bright"/>
                <a:ea typeface="LXGW Bright"/>
              </a:rPr>
              <a:t>清单与检查</a:t>
            </a:r>
            <a:endParaRPr lang="en-US" sz="1350" noProof="1"/>
          </a:p>
        </p:txBody>
      </p:sp>
      <p:sp>
        <p:nvSpPr>
          <p:cNvPr id="28" name="step4-desc"/>
          <p:cNvSpPr txBox="1"/>
          <p:nvPr/>
        </p:nvSpPr>
        <p:spPr>
          <a:xfrm>
            <a:off x="9398000" y="3098800"/>
            <a:ext cx="190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生成 results_manifest.json，跑 114 项一致性检查</a:t>
            </a:r>
            <a:endParaRPr lang="en-US" sz="950" noProof="1"/>
          </a:p>
        </p:txBody>
      </p:sp>
      <p:sp>
        <p:nvSpPr>
          <p:cNvPr id="29" name="flow-note"/>
          <p:cNvSpPr txBox="1"/>
          <p:nvPr/>
        </p:nvSpPr>
        <p:spPr>
          <a:xfrm>
            <a:off x="3759200" y="4267200"/>
            <a:ext cx="754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链条全貌：下载 → ETL → 验证 → 5 个分析 → 图算法 → 出图 → 结果清单 → 一致性检查；Spark 与 pandas 两条引擎的结果分目录隔离，互不覆盖</a:t>
            </a:r>
            <a:endParaRPr lang="en-US" sz="950" noProof="1"/>
          </a:p>
        </p:txBody>
      </p:sp>
      <p:sp>
        <p:nvSpPr>
          <p:cNvPr id="30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1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所有交付物由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同一份结果清单</a:t>
            </a: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驱动——换一个数字，只需重跑一条命令</a:t>
            </a:r>
            <a:endParaRPr lang="en-US" sz="1150" noProof="1"/>
          </a:p>
        </p:txBody>
      </p:sp>
      <p:sp>
        <p:nvSpPr>
          <p:cNvPr id="32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07</a:t>
            </a:r>
            <a:endParaRPr lang="en-US" sz="10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03 | 踩坑记录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七个坑，每个都留下了可复用的解法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按出现顺序排列；其中第 1、3、4 个坑在下一页展开细讲</a:t>
            </a:r>
            <a:endParaRPr lang="en-US" sz="1150" noProof="1"/>
          </a:p>
        </p:txBody>
      </p:sp>
      <p:sp>
        <p:nvSpPr>
          <p:cNvPr id="7" name="pit1"/>
          <p:cNvSpPr txBox="1"/>
          <p:nvPr/>
        </p:nvSpPr>
        <p:spPr>
          <a:xfrm>
            <a:off x="762000" y="2108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5C4630"/>
                </a:solidFill>
                <a:latin typeface="MiSans"/>
                <a:ea typeface="MiSans"/>
              </a:rPr>
              <a:t>Windows 缺 winutils.exe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→</a:t>
            </a: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 换纯 Java 的 BareLocalFileSystem</a:t>
            </a:r>
            <a:endParaRPr lang="en-US" sz="1100" noProof="1"/>
          </a:p>
        </p:txBody>
      </p:sp>
      <p:sp>
        <p:nvSpPr>
          <p:cNvPr id="8" name="pit-rule1"/>
          <p:cNvSpPr/>
          <p:nvPr/>
        </p:nvSpPr>
        <p:spPr>
          <a:xfrm>
            <a:off x="762000" y="2717800"/>
            <a:ext cx="5080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9" name="pit2"/>
          <p:cNvSpPr txBox="1"/>
          <p:nvPr/>
        </p:nvSpPr>
        <p:spPr>
          <a:xfrm>
            <a:off x="762000" y="2870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5C4630"/>
                </a:solidFill>
                <a:latin typeface="MiSans"/>
                <a:ea typeface="MiSans"/>
              </a:rPr>
              <a:t>新数据源 Schema 变了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→</a:t>
            </a: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 写适配层，把字段类型统一收口</a:t>
            </a:r>
            <a:endParaRPr lang="en-US" sz="1100" noProof="1"/>
          </a:p>
        </p:txBody>
      </p:sp>
      <p:sp>
        <p:nvSpPr>
          <p:cNvPr id="10" name="pit-rule2"/>
          <p:cNvSpPr/>
          <p:nvPr/>
        </p:nvSpPr>
        <p:spPr>
          <a:xfrm>
            <a:off x="762000" y="3479800"/>
            <a:ext cx="5080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1" name="pit3"/>
          <p:cNvSpPr txBox="1"/>
          <p:nvPr/>
        </p:nvSpPr>
        <p:spPr>
          <a:xfrm>
            <a:off x="762000" y="3632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5C4630"/>
                </a:solidFill>
                <a:latin typeface="MiSans"/>
                <a:ea typeface="MiSans"/>
              </a:rPr>
              <a:t>时区陷阱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→</a:t>
            </a: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 全局锁 UTC，杜绝跨月错位</a:t>
            </a:r>
            <a:endParaRPr lang="en-US" sz="1100" noProof="1"/>
          </a:p>
        </p:txBody>
      </p:sp>
      <p:sp>
        <p:nvSpPr>
          <p:cNvPr id="12" name="pit-rule3"/>
          <p:cNvSpPr/>
          <p:nvPr/>
        </p:nvSpPr>
        <p:spPr>
          <a:xfrm>
            <a:off x="762000" y="4241800"/>
            <a:ext cx="5080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pit4"/>
          <p:cNvSpPr txBox="1"/>
          <p:nvPr/>
        </p:nvSpPr>
        <p:spPr>
          <a:xfrm>
            <a:off x="762000" y="43942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5C4630"/>
                </a:solidFill>
                <a:latin typeface="MiSans"/>
                <a:ea typeface="MiSans"/>
              </a:rPr>
              <a:t>全局排序卡死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→</a:t>
            </a: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 改用频数表降维，绕开单分区 shuffle</a:t>
            </a:r>
            <a:endParaRPr lang="en-US" sz="1100" noProof="1"/>
          </a:p>
        </p:txBody>
      </p:sp>
      <p:sp>
        <p:nvSpPr>
          <p:cNvPr id="14" name="pit-rule4"/>
          <p:cNvSpPr/>
          <p:nvPr/>
        </p:nvSpPr>
        <p:spPr>
          <a:xfrm>
            <a:off x="762000" y="5003800"/>
            <a:ext cx="5080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5" name="divider"/>
          <p:cNvSpPr/>
          <p:nvPr/>
        </p:nvSpPr>
        <p:spPr>
          <a:xfrm>
            <a:off x="6223000" y="2108200"/>
            <a:ext cx="12700" cy="30480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6" name="pit5"/>
          <p:cNvSpPr txBox="1"/>
          <p:nvPr/>
        </p:nvSpPr>
        <p:spPr>
          <a:xfrm>
            <a:off x="6604000" y="2108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5C4630"/>
                </a:solidFill>
                <a:latin typeface="MiSans"/>
                <a:ea typeface="MiSans"/>
              </a:rPr>
              <a:t>93 万节点的图跑不动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→</a:t>
            </a: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 拆脚本 + 看门狗监控 + 断点续跑</a:t>
            </a:r>
            <a:endParaRPr lang="en-US" sz="1100" noProof="1"/>
          </a:p>
        </p:txBody>
      </p:sp>
      <p:sp>
        <p:nvSpPr>
          <p:cNvPr id="17" name="pit-rule5"/>
          <p:cNvSpPr/>
          <p:nvPr/>
        </p:nvSpPr>
        <p:spPr>
          <a:xfrm>
            <a:off x="6604000" y="2717800"/>
            <a:ext cx="4826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8" name="pit6"/>
          <p:cNvSpPr txBox="1"/>
          <p:nvPr/>
        </p:nvSpPr>
        <p:spPr>
          <a:xfrm>
            <a:off x="6604000" y="2870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5C4630"/>
                </a:solidFill>
                <a:latin typeface="MiSans"/>
                <a:ea typeface="MiSans"/>
              </a:rPr>
              <a:t>ML 评估泄漏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→</a:t>
            </a: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 先切训练/测试集，再碰任何统计</a:t>
            </a:r>
            <a:endParaRPr lang="en-US" sz="1100" noProof="1"/>
          </a:p>
        </p:txBody>
      </p:sp>
      <p:sp>
        <p:nvSpPr>
          <p:cNvPr id="19" name="pit-rule6"/>
          <p:cNvSpPr/>
          <p:nvPr/>
        </p:nvSpPr>
        <p:spPr>
          <a:xfrm>
            <a:off x="6604000" y="3479800"/>
            <a:ext cx="4826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0" name="pit7"/>
          <p:cNvSpPr txBox="1"/>
          <p:nvPr/>
        </p:nvSpPr>
        <p:spPr>
          <a:xfrm>
            <a:off x="6604000" y="3632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5C4630"/>
                </a:solidFill>
                <a:latin typeface="MiSans"/>
                <a:ea typeface="MiSans"/>
              </a:rPr>
              <a:t>32GB 内存不够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→</a:t>
            </a: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 按数据规模动态调整并行度</a:t>
            </a:r>
            <a:endParaRPr lang="en-US" sz="1100" noProof="1"/>
          </a:p>
        </p:txBody>
      </p:sp>
      <p:sp>
        <p:nvSpPr>
          <p:cNvPr id="21" name="pit-rule7"/>
          <p:cNvSpPr/>
          <p:nvPr/>
        </p:nvSpPr>
        <p:spPr>
          <a:xfrm>
            <a:off x="6604000" y="4241800"/>
            <a:ext cx="4826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2" name="pit-note"/>
          <p:cNvSpPr txBox="1"/>
          <p:nvPr/>
        </p:nvSpPr>
        <p:spPr>
          <a:xfrm>
            <a:off x="6604000" y="4419600"/>
            <a:ext cx="482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共同经验：坑大多不在算法，而在环境与口径——先把运行环境和统计口径钉死，再谈分析</a:t>
            </a:r>
            <a:endParaRPr lang="en-US" sz="950" noProof="1"/>
          </a:p>
        </p:txBody>
      </p:sp>
      <p:sp>
        <p:nvSpPr>
          <p:cNvPr id="23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4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七个坑全部解决并写进流水线——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下一次重跑，一个都不会再踩</a:t>
            </a:r>
            <a:endParaRPr lang="en-US" sz="1150" noProof="1"/>
          </a:p>
        </p:txBody>
      </p:sp>
      <p:sp>
        <p:nvSpPr>
          <p:cNvPr id="25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08</a:t>
            </a:r>
            <a:endParaRPr lang="en-US" sz="10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03 | 踩坑记录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Windows 上跑 Spark：一个连开关都没有的坑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反编译源码确认：core-default.xml 里没有关闭权限检查的开关，只能换文件系统</a:t>
            </a:r>
            <a:endParaRPr lang="en-US" sz="1150" noProof="1"/>
          </a:p>
        </p:txBody>
      </p:sp>
      <p:sp>
        <p:nvSpPr>
          <p:cNvPr id="7" name="pit-subhead"/>
          <p:cNvSpPr txBox="1"/>
          <p:nvPr/>
        </p:nvSpPr>
        <p:spPr>
          <a:xfrm>
            <a:off x="762000" y="2108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651F"/>
                </a:solidFill>
                <a:latin typeface="MiSans"/>
                <a:ea typeface="MiSans"/>
              </a:rPr>
              <a:t>坑在哪</a:t>
            </a:r>
            <a:endParaRPr lang="en-US" sz="1200" noProof="1"/>
          </a:p>
        </p:txBody>
      </p:sp>
      <p:sp>
        <p:nvSpPr>
          <p:cNvPr id="8" name="pit-body"/>
          <p:cNvSpPr txBox="1"/>
          <p:nvPr/>
        </p:nvSpPr>
        <p:spPr>
          <a:xfrm>
            <a:off x="762000" y="2489200"/>
            <a:ext cx="533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RawLocalFileSystem.setPermission 在 Windows 上只有两条路：装 hadoop.dll，或装 winutils.exe——两条都依赖原生组件。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翻遍 core-default.xml 找不到关闭它的开关，反编译源码后确认：</a:t>
            </a:r>
            <a:r>
              <a:rPr lang="en-US" sz="1150" noProof="1" b="1">
                <a:solidFill>
                  <a:srgbClr val="5C4630"/>
                </a:solidFill>
                <a:latin typeface="MiSans"/>
                <a:ea typeface="MiSans"/>
              </a:rPr>
              <a:t>这个检查在 Windows 上绕不过去，只能换实现。</a:t>
            </a:r>
            <a:endParaRPr lang="en-US" sz="1150" noProof="1"/>
          </a:p>
        </p:txBody>
      </p:sp>
      <p:sp>
        <p:nvSpPr>
          <p:cNvPr id="9" name="pit-extra-rule"/>
          <p:cNvSpPr/>
          <p:nvPr/>
        </p:nvSpPr>
        <p:spPr>
          <a:xfrm>
            <a:off x="762000" y="4089400"/>
            <a:ext cx="5334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0" name="pit-extra"/>
          <p:cNvSpPr txBox="1"/>
          <p:nvPr/>
        </p:nvSpPr>
        <p:spPr>
          <a:xfrm>
            <a:off x="762000" y="42672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连带牵出两个并发坑：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· 时区不统一——23 点 UTC 的记录会被本地时区推到下个月；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· 全局排序——单分区 shuffle 直接卡死整个任务。</a:t>
            </a:r>
            <a:endParaRPr lang="en-US" sz="1050" noProof="1"/>
          </a:p>
        </p:txBody>
      </p:sp>
      <p:sp>
        <p:nvSpPr>
          <p:cNvPr id="11" name="divider"/>
          <p:cNvSpPr/>
          <p:nvPr/>
        </p:nvSpPr>
        <p:spPr>
          <a:xfrm>
            <a:off x="6604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2" name="sol-subhead"/>
          <p:cNvSpPr txBox="1"/>
          <p:nvPr/>
        </p:nvSpPr>
        <p:spPr>
          <a:xfrm>
            <a:off x="6959600" y="2108200"/>
            <a:ext cx="447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三条解法</a:t>
            </a:r>
            <a:endParaRPr lang="en-US" sz="1200" noProof="1"/>
          </a:p>
        </p:txBody>
      </p:sp>
      <p:sp>
        <p:nvSpPr>
          <p:cNvPr id="13" name="sol1-chip"/>
          <p:cNvSpPr/>
          <p:nvPr/>
        </p:nvSpPr>
        <p:spPr>
          <a:xfrm>
            <a:off x="6959600" y="25146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4" name="sol1-num"/>
          <p:cNvSpPr txBox="1"/>
          <p:nvPr/>
        </p:nvSpPr>
        <p:spPr>
          <a:xfrm>
            <a:off x="6959600" y="25146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01</a:t>
            </a:r>
            <a:endParaRPr lang="en-US" sz="1300" noProof="1"/>
          </a:p>
        </p:txBody>
      </p:sp>
      <p:sp>
        <p:nvSpPr>
          <p:cNvPr id="15" name="sol1-title"/>
          <p:cNvSpPr txBox="1"/>
          <p:nvPr/>
        </p:nvSpPr>
        <p:spPr>
          <a:xfrm>
            <a:off x="7493000" y="2489200"/>
            <a:ext cx="393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5C4630"/>
                </a:solidFill>
                <a:latin typeface="MiSans"/>
                <a:ea typeface="MiSans"/>
              </a:rPr>
              <a:t>换 BareLocalFileSystem</a:t>
            </a:r>
            <a:endParaRPr lang="en-US" sz="1300" noProof="1"/>
          </a:p>
        </p:txBody>
      </p:sp>
      <p:sp>
        <p:nvSpPr>
          <p:cNvPr id="16" name="sol1-desc"/>
          <p:cNvSpPr txBox="1"/>
          <p:nvPr/>
        </p:nvSpPr>
        <p:spPr>
          <a:xfrm>
            <a:off x="7493000" y="2768600"/>
            <a:ext cx="393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纯 Java 实现，setPermission 直接空操作，不再依赖任何原生组件</a:t>
            </a:r>
            <a:endParaRPr lang="en-US" sz="1050" noProof="1"/>
          </a:p>
        </p:txBody>
      </p:sp>
      <p:sp>
        <p:nvSpPr>
          <p:cNvPr id="17" name="sol-rule1"/>
          <p:cNvSpPr/>
          <p:nvPr/>
        </p:nvSpPr>
        <p:spPr>
          <a:xfrm>
            <a:off x="6959600" y="3352800"/>
            <a:ext cx="4470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8" name="sol2-chip"/>
          <p:cNvSpPr/>
          <p:nvPr/>
        </p:nvSpPr>
        <p:spPr>
          <a:xfrm>
            <a:off x="6959600" y="35306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9" name="sol2-num"/>
          <p:cNvSpPr txBox="1"/>
          <p:nvPr/>
        </p:nvSpPr>
        <p:spPr>
          <a:xfrm>
            <a:off x="6959600" y="35306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02</a:t>
            </a:r>
            <a:endParaRPr lang="en-US" sz="1300" noProof="1"/>
          </a:p>
        </p:txBody>
      </p:sp>
      <p:sp>
        <p:nvSpPr>
          <p:cNvPr id="20" name="sol2-title"/>
          <p:cNvSpPr txBox="1"/>
          <p:nvPr/>
        </p:nvSpPr>
        <p:spPr>
          <a:xfrm>
            <a:off x="7493000" y="3505200"/>
            <a:ext cx="393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5C4630"/>
                </a:solidFill>
                <a:latin typeface="MiSans"/>
                <a:ea typeface="MiSans"/>
              </a:rPr>
              <a:t>时区全局锁 UTC</a:t>
            </a:r>
            <a:endParaRPr lang="en-US" sz="1300" noProof="1"/>
          </a:p>
        </p:txBody>
      </p:sp>
      <p:sp>
        <p:nvSpPr>
          <p:cNvPr id="21" name="sol2-desc"/>
          <p:cNvSpPr txBox="1"/>
          <p:nvPr/>
        </p:nvSpPr>
        <p:spPr>
          <a:xfrm>
            <a:off x="7493000" y="3784600"/>
            <a:ext cx="393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会话、JVM、解析三层统一锁死 UTC，跨月统计不再错位</a:t>
            </a:r>
            <a:endParaRPr lang="en-US" sz="1050" noProof="1"/>
          </a:p>
        </p:txBody>
      </p:sp>
      <p:sp>
        <p:nvSpPr>
          <p:cNvPr id="22" name="sol-rule2"/>
          <p:cNvSpPr/>
          <p:nvPr/>
        </p:nvSpPr>
        <p:spPr>
          <a:xfrm>
            <a:off x="6959600" y="4368800"/>
            <a:ext cx="4470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3" name="sol3-chip"/>
          <p:cNvSpPr/>
          <p:nvPr/>
        </p:nvSpPr>
        <p:spPr>
          <a:xfrm>
            <a:off x="6959600" y="4546600"/>
            <a:ext cx="355600" cy="3556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4" name="sol3-num"/>
          <p:cNvSpPr txBox="1"/>
          <p:nvPr/>
        </p:nvSpPr>
        <p:spPr>
          <a:xfrm>
            <a:off x="6959600" y="45466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03</a:t>
            </a:r>
            <a:endParaRPr lang="en-US" sz="1300" noProof="1"/>
          </a:p>
        </p:txBody>
      </p:sp>
      <p:sp>
        <p:nvSpPr>
          <p:cNvPr id="25" name="sol3-title"/>
          <p:cNvSpPr txBox="1"/>
          <p:nvPr/>
        </p:nvSpPr>
        <p:spPr>
          <a:xfrm>
            <a:off x="7493000" y="4521200"/>
            <a:ext cx="393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5C4630"/>
                </a:solidFill>
                <a:latin typeface="MiSans"/>
                <a:ea typeface="MiSans"/>
              </a:rPr>
              <a:t>排序改查表</a:t>
            </a:r>
            <a:endParaRPr lang="en-US" sz="1300" noProof="1"/>
          </a:p>
        </p:txBody>
      </p:sp>
      <p:sp>
        <p:nvSpPr>
          <p:cNvPr id="26" name="sol3-desc"/>
          <p:cNvSpPr txBox="1"/>
          <p:nvPr/>
        </p:nvSpPr>
        <p:spPr>
          <a:xfrm>
            <a:off x="7493000" y="4800600"/>
            <a:ext cx="3937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先聚合出频数表、再查表还原排名——绕开单分区 shuffle，结果仍精确</a:t>
            </a:r>
            <a:endParaRPr lang="en-US" sz="1050" noProof="1"/>
          </a:p>
        </p:txBody>
      </p:sp>
      <p:sp>
        <p:nvSpPr>
          <p:cNvPr id="27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8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环境问题的答案往往在源码里——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与其找开关，不如换实现</a:t>
            </a:r>
            <a:endParaRPr lang="en-US" sz="1150" noProof="1"/>
          </a:p>
        </p:txBody>
      </p:sp>
      <p:sp>
        <p:nvSpPr>
          <p:cNvPr id="29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09</a:t>
            </a:r>
            <a:endParaRPr lang="en-US" sz="10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03 | 踩坑记录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Gini 不用近似：三种口径互相验到浮点误差级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56 项契约测试 + 114 项一致性检查全部通过，数字才敢写进报告</a:t>
            </a:r>
            <a:endParaRPr lang="en-US" sz="1150" noProof="1"/>
          </a:p>
        </p:txBody>
      </p:sp>
      <p:graphicFrame>
        <p:nvGraphicFramePr>
          <p:cNvPr id="7" name="verify-table"/>
          <p:cNvGraphicFramePr>
            <a:graphicFrameLocks noGrp="1"/>
          </p:cNvGraphicFramePr>
          <p:nvPr/>
        </p:nvGraphicFramePr>
        <p:xfrm>
          <a:off x="762000" y="2108200"/>
          <a:ext cx="6477000" cy="2794000"/>
        </p:xfrm>
        <a:graphic>
          <a:graphicData uri="http://schemas.openxmlformats.org/drawingml/2006/table">
            <a:tbl>
              <a:tblPr/>
              <a:tblGrid>
                <a:gridCol w="1813560"/>
                <a:gridCol w="2849880"/>
                <a:gridCol w="1813560"/>
              </a:tblGrid>
              <a:tr h="4470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验证项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867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Gini 系数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频数加权秩公式，精确计算、非采样近似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三种独立口径一致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867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口径交叉验证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原始明细 / 频数表 / 独立重算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最大偏差 ≤ 4.4e-16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867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下载口径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近 30 天 vs 历史累计，相差 27 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严格区分，绝不混用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5867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流水线检查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契约测试 + 全链路一致性检查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56 项 ✓ / 114 项 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able-note"/>
          <p:cNvSpPr txBox="1"/>
          <p:nvPr/>
        </p:nvSpPr>
        <p:spPr>
          <a:xfrm>
            <a:off x="762000" y="5029200"/>
            <a:ext cx="647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注：4.4e-16 为双精度浮点误差的量级——三种算法在数学上完全等价；两种下载口径任何一页都不混用</a:t>
            </a:r>
            <a:endParaRPr lang="en-US" sz="950" noProof="1"/>
          </a:p>
        </p:txBody>
      </p:sp>
      <p:sp>
        <p:nvSpPr>
          <p:cNvPr id="9" name="divider"/>
          <p:cNvSpPr/>
          <p:nvPr/>
        </p:nvSpPr>
        <p:spPr>
          <a:xfrm>
            <a:off x="7747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0" name="st1-num"/>
          <p:cNvSpPr txBox="1"/>
          <p:nvPr/>
        </p:nvSpPr>
        <p:spPr>
          <a:xfrm>
            <a:off x="8102600" y="21590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C0651F"/>
                </a:solidFill>
                <a:latin typeface="Oranienbaum"/>
                <a:ea typeface="LXGW Bright"/>
              </a:rPr>
              <a:t>4.4e-16</a:t>
            </a:r>
            <a:endParaRPr lang="en-US" sz="3000" noProof="1"/>
          </a:p>
        </p:txBody>
      </p:sp>
      <p:sp>
        <p:nvSpPr>
          <p:cNvPr id="11" name="st1-label"/>
          <p:cNvSpPr txBox="1"/>
          <p:nvPr/>
        </p:nvSpPr>
        <p:spPr>
          <a:xfrm>
            <a:off x="8102600" y="2717800"/>
            <a:ext cx="3327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三种独立口径的最大偏差，浮点误差级</a:t>
            </a:r>
            <a:endParaRPr lang="en-US" sz="950" noProof="1"/>
          </a:p>
        </p:txBody>
      </p:sp>
      <p:sp>
        <p:nvSpPr>
          <p:cNvPr id="12" name="st-rule1"/>
          <p:cNvSpPr/>
          <p:nvPr/>
        </p:nvSpPr>
        <p:spPr>
          <a:xfrm>
            <a:off x="8102600" y="3276600"/>
            <a:ext cx="3327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st2-num"/>
          <p:cNvSpPr txBox="1"/>
          <p:nvPr/>
        </p:nvSpPr>
        <p:spPr>
          <a:xfrm>
            <a:off x="8102600" y="34544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5C4630"/>
                </a:solidFill>
                <a:latin typeface="Oranienbaum"/>
                <a:ea typeface="LXGW Bright"/>
              </a:rPr>
              <a:t>56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项</a:t>
            </a:r>
            <a:endParaRPr lang="en-US" sz="3000" noProof="1"/>
          </a:p>
        </p:txBody>
      </p:sp>
      <p:sp>
        <p:nvSpPr>
          <p:cNvPr id="14" name="st2-label"/>
          <p:cNvSpPr txBox="1"/>
          <p:nvPr/>
        </p:nvSpPr>
        <p:spPr>
          <a:xfrm>
            <a:off x="8102600" y="4013200"/>
            <a:ext cx="3327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契约测试：每个分析脚本的输出格式与取值范围</a:t>
            </a:r>
            <a:endParaRPr lang="en-US" sz="950" noProof="1"/>
          </a:p>
        </p:txBody>
      </p:sp>
      <p:sp>
        <p:nvSpPr>
          <p:cNvPr id="15" name="st-rule2"/>
          <p:cNvSpPr/>
          <p:nvPr/>
        </p:nvSpPr>
        <p:spPr>
          <a:xfrm>
            <a:off x="8102600" y="4572000"/>
            <a:ext cx="3327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6" name="st3-num"/>
          <p:cNvSpPr txBox="1"/>
          <p:nvPr/>
        </p:nvSpPr>
        <p:spPr>
          <a:xfrm>
            <a:off x="8102600" y="47498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5C4630"/>
                </a:solidFill>
                <a:latin typeface="Oranienbaum"/>
                <a:ea typeface="LXGW Bright"/>
              </a:rPr>
              <a:t>114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项</a:t>
            </a:r>
            <a:endParaRPr lang="en-US" sz="3000" noProof="1"/>
          </a:p>
        </p:txBody>
      </p:sp>
      <p:sp>
        <p:nvSpPr>
          <p:cNvPr id="17" name="st3-label"/>
          <p:cNvSpPr txBox="1"/>
          <p:nvPr/>
        </p:nvSpPr>
        <p:spPr>
          <a:xfrm>
            <a:off x="8102600" y="5308600"/>
            <a:ext cx="3327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一致性检查：跨表、跨图、跨报告的数字对齐</a:t>
            </a:r>
            <a:endParaRPr lang="en-US" sz="950" noProof="1"/>
          </a:p>
        </p:txBody>
      </p:sp>
      <p:sp>
        <p:nvSpPr>
          <p:cNvPr id="18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9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精确公式 + 三重验证 + 全链路检查——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每个数字都经得起追问</a:t>
            </a:r>
            <a:endParaRPr lang="en-US" sz="1150" noProof="1"/>
          </a:p>
        </p:txBody>
      </p:sp>
      <p:sp>
        <p:nvSpPr>
          <p:cNvPr id="20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10</a:t>
            </a:r>
            <a:endParaRPr lang="en-US" sz="10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04 | 实验结果 · RQ1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生态一年比一年热，2024 年 9 月达到峰值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按模型创建时间统计；首月存在时间戳异常，只作观测现象、不作解释</a:t>
            </a:r>
            <a:endParaRPr lang="en-US" sz="1150" noProof="1"/>
          </a:p>
        </p:txBody>
      </p:sp>
      <p:sp>
        <p:nvSpPr>
          <p:cNvPr id="7" name="rail-label-top"/>
          <p:cNvSpPr txBox="1"/>
          <p:nvPr/>
        </p:nvSpPr>
        <p:spPr>
          <a:xfrm>
            <a:off x="762000" y="2184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A37850"/>
                </a:solidFill>
                <a:latin typeface="MiSans"/>
                <a:ea typeface="MiSans"/>
              </a:rPr>
              <a:t>峰值月 · 2024-09</a:t>
            </a:r>
            <a:endParaRPr lang="en-US" sz="1100" noProof="1"/>
          </a:p>
        </p:txBody>
      </p:sp>
      <p:sp>
        <p:nvSpPr>
          <p:cNvPr id="8" name="rail-num1"/>
          <p:cNvSpPr txBox="1"/>
          <p:nvPr/>
        </p:nvSpPr>
        <p:spPr>
          <a:xfrm>
            <a:off x="762000" y="2489200"/>
            <a:ext cx="292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C0651F"/>
                </a:solidFill>
                <a:latin typeface="Oranienbaum"/>
                <a:ea typeface="LXGW Bright"/>
              </a:rPr>
              <a:t>125,030</a:t>
            </a:r>
            <a:endParaRPr lang="en-US" sz="3400" noProof="1"/>
          </a:p>
        </p:txBody>
      </p:sp>
      <p:sp>
        <p:nvSpPr>
          <p:cNvPr id="9" name="rail-label1"/>
          <p:cNvSpPr txBox="1"/>
          <p:nvPr/>
        </p:nvSpPr>
        <p:spPr>
          <a:xfrm>
            <a:off x="762000" y="31242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单月新增模型数（个），全时段最高</a:t>
            </a:r>
            <a:endParaRPr lang="en-US" sz="950" noProof="1"/>
          </a:p>
        </p:txBody>
      </p:sp>
      <p:sp>
        <p:nvSpPr>
          <p:cNvPr id="10" name="rail-rule1"/>
          <p:cNvSpPr/>
          <p:nvPr/>
        </p:nvSpPr>
        <p:spPr>
          <a:xfrm>
            <a:off x="762000" y="3581400"/>
            <a:ext cx="2794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1" name="rail-num2"/>
          <p:cNvSpPr txBox="1"/>
          <p:nvPr/>
        </p:nvSpPr>
        <p:spPr>
          <a:xfrm>
            <a:off x="762000" y="3810000"/>
            <a:ext cx="292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5C4630"/>
                </a:solidFill>
                <a:latin typeface="Oranienbaum"/>
                <a:ea typeface="LXGW Bright"/>
              </a:rPr>
              <a:t>11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倍</a:t>
            </a:r>
            <a:endParaRPr lang="en-US" sz="3400" noProof="1"/>
          </a:p>
        </p:txBody>
      </p:sp>
      <p:sp>
        <p:nvSpPr>
          <p:cNvPr id="12" name="rail-label2"/>
          <p:cNvSpPr txBox="1"/>
          <p:nvPr/>
        </p:nvSpPr>
        <p:spPr>
          <a:xfrm>
            <a:off x="762000" y="4445000"/>
            <a:ext cx="279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2025 年新增规模相对 2022 年的倍数（110 万 vs 10 万）</a:t>
            </a:r>
            <a:endParaRPr lang="en-US" sz="950" noProof="1"/>
          </a:p>
        </p:txBody>
      </p:sp>
      <p:sp>
        <p:nvSpPr>
          <p:cNvPr id="13" name="rail-note"/>
          <p:cNvSpPr txBox="1"/>
          <p:nvPr/>
        </p:nvSpPr>
        <p:spPr>
          <a:xfrm>
            <a:off x="762000" y="5080000"/>
            <a:ext cx="279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诚实交代：任务标签缺失 65.6%；演化结论基于全量模型，不依赖标签字段</a:t>
            </a:r>
            <a:endParaRPr lang="en-US" sz="950" noProof="1"/>
          </a:p>
        </p:txBody>
      </p:sp>
      <p:sp>
        <p:nvSpPr>
          <p:cNvPr id="14" name="rail-divider"/>
          <p:cNvSpPr/>
          <p:nvPr/>
        </p:nvSpPr>
        <p:spPr>
          <a:xfrm>
            <a:off x="3962400" y="21590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="4368800" y="2133600"/>
          <a:ext cx="7061200" cy="31242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6" name="chart-caption"/>
          <p:cNvSpPr txBox="1"/>
          <p:nvPr/>
        </p:nvSpPr>
        <p:spPr>
          <a:xfrm>
            <a:off x="4368800" y="5334000"/>
            <a:ext cx="706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年度新增模型数（万个）｜2025 年为快照时点当年数据；峰值月为 2024-09</a:t>
            </a:r>
            <a:endParaRPr lang="en-US" sz="950" noProof="1"/>
          </a:p>
        </p:txBody>
      </p:sp>
      <p:sp>
        <p:nvSpPr>
          <p:cNvPr id="17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8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10 万 → 31.8 万 → 74 万 → 110 万——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四年涨了 11 倍</a:t>
            </a: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，且仍在加速</a:t>
            </a:r>
            <a:endParaRPr lang="en-US" sz="1150" noProof="1"/>
          </a:p>
        </p:txBody>
      </p:sp>
      <p:sp>
        <p:nvSpPr>
          <p:cNvPr id="19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11</a:t>
            </a:r>
            <a:endParaRPr lang="en-US" sz="10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04 | 实验结果 · RQ2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1% 的模型，拿走了 97% 的下载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近 30 天口径；严谨声明：只描述长尾形态，不宣称一定服从幂律</a:t>
            </a:r>
            <a:endParaRPr lang="en-US" sz="1150" noProof="1"/>
          </a:p>
        </p:txBody>
      </p:sp>
      <p:graphicFrame>
        <p:nvGraphicFramePr>
          <p:cNvPr id="7" name="share-chart"/>
          <p:cNvGraphicFramePr/>
          <p:nvPr/>
        </p:nvGraphicFramePr>
        <p:xfrm>
          <a:off x="762000" y="2133600"/>
          <a:ext cx="5842000" cy="1651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share-bar-label1"/>
          <p:cNvSpPr txBox="1"/>
          <p:nvPr/>
        </p:nvSpPr>
        <p:spPr>
          <a:xfrm>
            <a:off x="1993900" y="24384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9F4E9"/>
                </a:solidFill>
                <a:latin typeface="MiSans"/>
                <a:ea typeface="MiSans"/>
              </a:rPr>
              <a:t>97.13%</a:t>
            </a:r>
            <a:endParaRPr lang="en-US" sz="1100" noProof="1"/>
          </a:p>
        </p:txBody>
      </p:sp>
      <p:sp>
        <p:nvSpPr>
          <p:cNvPr id="9" name="share-bar-label2"/>
          <p:cNvSpPr txBox="1"/>
          <p:nvPr/>
        </p:nvSpPr>
        <p:spPr>
          <a:xfrm>
            <a:off x="4660900" y="32512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C0651F"/>
                </a:solidFill>
                <a:latin typeface="MiSans"/>
                <a:ea typeface="MiSans"/>
              </a:rPr>
              <a:t>2.87%</a:t>
            </a:r>
            <a:endParaRPr lang="en-US" sz="1000" noProof="1"/>
          </a:p>
        </p:txBody>
      </p:sp>
      <p:graphicFrame>
        <p:nvGraphicFramePr>
          <p:cNvPr id="10" name="gini-table"/>
          <p:cNvGraphicFramePr>
            <a:graphicFrameLocks noGrp="1"/>
          </p:cNvGraphicFramePr>
          <p:nvPr/>
        </p:nvGraphicFramePr>
        <p:xfrm>
          <a:off x="762000" y="4064000"/>
          <a:ext cx="5842000" cy="1371600"/>
        </p:xfrm>
        <a:graphic>
          <a:graphicData uri="http://schemas.openxmlformats.org/drawingml/2006/table">
            <a:tbl>
              <a:tblPr/>
              <a:tblGrid>
                <a:gridCol w="1986280"/>
                <a:gridCol w="1752600"/>
                <a:gridCol w="2103120"/>
              </a:tblGrid>
              <a:tr h="411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Gini 系数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Top-1% 份额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800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近 30 天下载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0.995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97.13%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800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历史累计下载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0.998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98.70%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gini-note"/>
          <p:cNvSpPr txBox="1"/>
          <p:nvPr/>
        </p:nvSpPr>
        <p:spPr>
          <a:xfrm>
            <a:off x="762000" y="55372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注：上图 Top-1% 份额 97.13% vs 其余 99% 仅 2.87%；Gini 由频数加权秩公式精确计算</a:t>
            </a:r>
            <a:endParaRPr lang="en-US" sz="950" noProof="1"/>
          </a:p>
        </p:txBody>
      </p:sp>
      <p:sp>
        <p:nvSpPr>
          <p:cNvPr id="12" name="divider"/>
          <p:cNvSpPr/>
          <p:nvPr/>
        </p:nvSpPr>
        <p:spPr>
          <a:xfrm>
            <a:off x="7112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3" name="zero-num"/>
          <p:cNvSpPr txBox="1"/>
          <p:nvPr/>
        </p:nvSpPr>
        <p:spPr>
          <a:xfrm>
            <a:off x="7467600" y="2159000"/>
            <a:ext cx="3962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400" noProof="1">
                <a:solidFill>
                  <a:srgbClr val="C0651F"/>
                </a:solidFill>
                <a:latin typeface="Oranienbaum"/>
                <a:ea typeface="LXGW Bright"/>
              </a:rPr>
              <a:t>43</a:t>
            </a:r>
            <a:r>
              <a:rPr lang="en-US" sz="1300" noProof="1">
                <a:solidFill>
                  <a:srgbClr val="C0651F"/>
                </a:solidFill>
                <a:latin typeface="Oranienbaum"/>
                <a:ea typeface="LXGW Bright"/>
              </a:rPr>
              <a:t> %</a:t>
            </a:r>
            <a:endParaRPr lang="en-US" sz="3400" noProof="1"/>
          </a:p>
        </p:txBody>
      </p:sp>
      <p:sp>
        <p:nvSpPr>
          <p:cNvPr id="14" name="zero-label"/>
          <p:cNvSpPr txBox="1"/>
          <p:nvPr/>
        </p:nvSpPr>
        <p:spPr>
          <a:xfrm>
            <a:off x="7467600" y="2794000"/>
            <a:ext cx="3962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的模型近 30 天零下载——"辛苦上传了模型，结果没人下"</a:t>
            </a:r>
            <a:endParaRPr lang="en-US" sz="950" noProof="1"/>
          </a:p>
        </p:txBody>
      </p:sp>
      <p:sp>
        <p:nvSpPr>
          <p:cNvPr id="15" name="quote-bar"/>
          <p:cNvSpPr/>
          <p:nvPr/>
        </p:nvSpPr>
        <p:spPr>
          <a:xfrm>
            <a:off x="7467600" y="3581400"/>
            <a:ext cx="38100" cy="11176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6" name="quote-text"/>
          <p:cNvSpPr txBox="1"/>
          <p:nvPr/>
        </p:nvSpPr>
        <p:spPr>
          <a:xfrm>
            <a:off x="7696200" y="3581400"/>
            <a:ext cx="37338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5C4630"/>
                </a:solidFill>
                <a:latin typeface="LXGW Bright"/>
                <a:ea typeface="LXGW Bright"/>
              </a:rPr>
              <a:t>比"二八定律"还狠，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5C4630"/>
                </a:solidFill>
                <a:latin typeface="LXGW Bright"/>
                <a:ea typeface="LXGW Bright"/>
              </a:rPr>
              <a:t>这是"一九九八"。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——1% 对 99%，97% 对 3%</a:t>
            </a:r>
            <a:endParaRPr lang="en-US" sz="1400" noProof="1"/>
          </a:p>
        </p:txBody>
      </p:sp>
      <p:sp>
        <p:nvSpPr>
          <p:cNvPr id="17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8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Gini 0.995–0.998，注意力集中程度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远超绝大多数互联网内容生态</a:t>
            </a:r>
            <a:endParaRPr lang="en-US" sz="1150" noProof="1"/>
          </a:p>
        </p:txBody>
      </p:sp>
      <p:sp>
        <p:nvSpPr>
          <p:cNvPr id="19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12</a:t>
            </a:r>
            <a:endParaRPr lang="en-US" sz="10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04 | 实验结果 · RQ3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93 万节点的 fork 图谱：一个祖师爷，四万多个 fork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血缘边严格保留方向与语义（微调 / 适配器 / 量化 / 合并），外部父模型完整保留</a:t>
            </a:r>
            <a:endParaRPr lang="en-US" sz="1150" noProof="1"/>
          </a:p>
        </p:txBody>
      </p:sp>
      <p:sp>
        <p:nvSpPr>
          <p:cNvPr id="7" name="link1"/>
          <p:cNvSpPr/>
          <p:nvPr>
            <p:extLst>
              <p:ext uri="{F5677B7D-0D2A-4D9B-9A5C-6D8D7D0E5A5D}">
                <pptd:line encoding="base64url">eyJ2aWV3Qm94IjpbMTMwLDgwXSwicG9pbnRzIjoiMCw2MCAxMzAsMTAifQ</pptd:line>
              </p:ext>
            </p:extLst>
          </p:nvPr>
        </p:nvSpPr>
        <p:spPr>
          <a:xfrm>
            <a:off x="2413000" y="2794000"/>
            <a:ext cx="1651000" cy="1016000"/>
          </a:xfrm>
          <a:custGeom>
            <a:avLst/>
            <a:gdLst/>
            <a:ahLst/>
            <a:cxnLst/>
            <a:rect l="l" t="t" r="r" b="b"/>
            <a:pathLst>
              <a:path w="130" h="80">
                <a:moveTo>
                  <a:pt x="0" y="60"/>
                </a:moveTo>
                <a:lnTo>
                  <a:pt x="130" y="10"/>
                </a:lnTo>
              </a:path>
            </a:pathLst>
          </a:custGeom>
          <a:noFill/>
          <a:ln w="12700" cap="rnd">
            <a:solidFill>
              <a:srgbClr val="7A5732"/>
            </a:solidFill>
            <a:round/>
          </a:ln>
        </p:spPr>
      </p:sp>
      <p:sp>
        <p:nvSpPr>
          <p:cNvPr id="8" name="link2"/>
          <p:cNvSpPr/>
          <p:nvPr>
            <p:extLst>
              <p:ext uri="{F5677B7D-0D2A-4D9B-9A5C-6D8D7D0E5A5D}">
                <pptd:line encoding="base64url">eyJ2aWV3Qm94IjpbMTcwLDYwXSwicG9pbnRzIjoiMCw0MCAxNzAsMzAifQ</pptd:line>
              </p:ext>
            </p:extLst>
          </p:nvPr>
        </p:nvSpPr>
        <p:spPr>
          <a:xfrm>
            <a:off x="2489200" y="3048000"/>
            <a:ext cx="2159000" cy="762000"/>
          </a:xfrm>
          <a:custGeom>
            <a:avLst/>
            <a:gdLst/>
            <a:ahLst/>
            <a:cxnLst/>
            <a:rect l="l" t="t" r="r" b="b"/>
            <a:pathLst>
              <a:path w="170" h="60">
                <a:moveTo>
                  <a:pt x="0" y="40"/>
                </a:moveTo>
                <a:lnTo>
                  <a:pt x="170" y="30"/>
                </a:lnTo>
              </a:path>
            </a:pathLst>
          </a:custGeom>
          <a:noFill/>
          <a:ln w="12700" cap="rnd">
            <a:solidFill>
              <a:srgbClr val="7A5732"/>
            </a:solidFill>
            <a:round/>
          </a:ln>
        </p:spPr>
      </p:sp>
      <p:sp>
        <p:nvSpPr>
          <p:cNvPr id="9" name="link3"/>
          <p:cNvSpPr/>
          <p:nvPr>
            <p:extLst>
              <p:ext uri="{F5677B7D-0D2A-4D9B-9A5C-6D8D7D0E5A5D}">
                <pptd:line encoding="base64url">eyJ2aWV3Qm94IjpbMTYwLDYwXSwicG9pbnRzIjoiMCwyMCAxNjAsNDAifQ</pptd:line>
              </p:ext>
            </p:extLst>
          </p:nvPr>
        </p:nvSpPr>
        <p:spPr>
          <a:xfrm>
            <a:off x="2540000" y="3683000"/>
            <a:ext cx="2032000" cy="762000"/>
          </a:xfrm>
          <a:custGeom>
            <a:avLst/>
            <a:gdLst/>
            <a:ahLst/>
            <a:cxnLst/>
            <a:rect l="l" t="t" r="r" b="b"/>
            <a:pathLst>
              <a:path w="160" h="60">
                <a:moveTo>
                  <a:pt x="0" y="20"/>
                </a:moveTo>
                <a:lnTo>
                  <a:pt x="160" y="40"/>
                </a:lnTo>
              </a:path>
            </a:pathLst>
          </a:custGeom>
          <a:noFill/>
          <a:ln w="12700" cap="rnd">
            <a:solidFill>
              <a:srgbClr val="7A5732"/>
            </a:solidFill>
            <a:round/>
          </a:ln>
        </p:spPr>
      </p:sp>
      <p:sp>
        <p:nvSpPr>
          <p:cNvPr id="10" name="link4"/>
          <p:cNvSpPr/>
          <p:nvPr>
            <p:extLst>
              <p:ext uri="{F5677B7D-0D2A-4D9B-9A5C-6D8D7D0E5A5D}">
                <pptd:line encoding="base64url">eyJ2aWV3Qm94IjpbMTIwLDkwXSwicG9pbnRzIjoiMCwxMCAxMjAsODAifQ</pptd:line>
              </p:ext>
            </p:extLst>
          </p:nvPr>
        </p:nvSpPr>
        <p:spPr>
          <a:xfrm>
            <a:off x="2413000" y="3937000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20" h="90">
                <a:moveTo>
                  <a:pt x="0" y="10"/>
                </a:moveTo>
                <a:lnTo>
                  <a:pt x="120" y="80"/>
                </a:lnTo>
              </a:path>
            </a:pathLst>
          </a:custGeom>
          <a:noFill/>
          <a:ln w="12700" cap="rnd">
            <a:solidFill>
              <a:srgbClr val="7A5732"/>
            </a:solidFill>
            <a:round/>
          </a:ln>
        </p:spPr>
      </p:sp>
      <p:sp>
        <p:nvSpPr>
          <p:cNvPr id="11" name="link5"/>
          <p:cNvSpPr/>
          <p:nvPr>
            <p:extLst>
              <p:ext uri="{F5677B7D-0D2A-4D9B-9A5C-6D8D7D0E5A5D}">
                <pptd:line encoding="base64url">eyJ2aWV3Qm94IjpbNjAsNzBdLCJwb2ludHMiOiI1MCw2MCAxMCwwIn0</pptd:line>
              </p:ext>
            </p:extLst>
          </p:nvPr>
        </p:nvSpPr>
        <p:spPr>
          <a:xfrm>
            <a:off x="1905000" y="2286000"/>
            <a:ext cx="762000" cy="889000"/>
          </a:xfrm>
          <a:custGeom>
            <a:avLst/>
            <a:gdLst/>
            <a:ahLst/>
            <a:cxnLst/>
            <a:rect l="l" t="t" r="r" b="b"/>
            <a:pathLst>
              <a:path w="60" h="70">
                <a:moveTo>
                  <a:pt x="50" y="60"/>
                </a:moveTo>
                <a:lnTo>
                  <a:pt x="10" y="0"/>
                </a:lnTo>
              </a:path>
            </a:pathLst>
          </a:custGeom>
          <a:noFill/>
          <a:ln w="12700" cap="rnd">
            <a:solidFill>
              <a:srgbClr val="7A5732"/>
            </a:solidFill>
            <a:round/>
          </a:ln>
        </p:spPr>
      </p:sp>
      <p:sp>
        <p:nvSpPr>
          <p:cNvPr id="12" name="link6"/>
          <p:cNvSpPr/>
          <p:nvPr>
            <p:extLst>
              <p:ext uri="{F5677B7D-0D2A-4D9B-9A5C-6D8D7D0E5A5D}">
                <pptd:line encoding="base64url">eyJ2aWV3Qm94IjpbNzAsNzBdLCJwb2ludHMiOiI1MCwwIDEwLDcwIn0</pptd:line>
              </p:ext>
            </p:extLst>
          </p:nvPr>
        </p:nvSpPr>
        <p:spPr>
          <a:xfrm>
            <a:off x="1905000" y="4191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70" h="70">
                <a:moveTo>
                  <a:pt x="50" y="0"/>
                </a:moveTo>
                <a:lnTo>
                  <a:pt x="10" y="70"/>
                </a:lnTo>
              </a:path>
            </a:pathLst>
          </a:custGeom>
          <a:noFill/>
          <a:ln w="12700" cap="rnd">
            <a:solidFill>
              <a:srgbClr val="7A5732"/>
            </a:solidFill>
            <a:round/>
          </a:ln>
        </p:spPr>
      </p:sp>
      <p:sp>
        <p:nvSpPr>
          <p:cNvPr id="13" name="node-center"/>
          <p:cNvSpPr/>
          <p:nvPr/>
        </p:nvSpPr>
        <p:spPr>
          <a:xfrm>
            <a:off x="1524000" y="3048000"/>
            <a:ext cx="1397000" cy="1397000"/>
          </a:xfrm>
          <a:prstGeom prst="ellipse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4" name="node-center-label"/>
          <p:cNvSpPr txBox="1"/>
          <p:nvPr/>
        </p:nvSpPr>
        <p:spPr>
          <a:xfrm>
            <a:off x="1524000" y="3403600"/>
            <a:ext cx="1397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9F4E9"/>
                </a:solidFill>
                <a:latin typeface="MiSans"/>
                <a:ea typeface="MiSans"/>
              </a:rPr>
              <a:t>FLUX.1-dev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900" noProof="1">
                <a:solidFill>
                  <a:srgbClr val="F9F4E9"/>
                </a:solidFill>
                <a:latin typeface="MiSans"/>
                <a:ea typeface="MiSans"/>
              </a:rPr>
              <a:t>43,419 个直接派生</a:t>
            </a:r>
            <a:endParaRPr lang="en-US" sz="1600" noProof="1"/>
          </a:p>
        </p:txBody>
      </p:sp>
      <p:sp>
        <p:nvSpPr>
          <p:cNvPr id="15" name="node-a"/>
          <p:cNvSpPr/>
          <p:nvPr/>
        </p:nvSpPr>
        <p:spPr>
          <a:xfrm>
            <a:off x="3937000" y="2641600"/>
            <a:ext cx="431800" cy="431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16" name="node-a-label"/>
          <p:cNvSpPr txBox="1"/>
          <p:nvPr/>
        </p:nvSpPr>
        <p:spPr>
          <a:xfrm>
            <a:off x="3708400" y="2387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A08F78"/>
                </a:solidFill>
                <a:latin typeface="MiSans"/>
                <a:ea typeface="MiSans"/>
              </a:rPr>
              <a:t>finetune</a:t>
            </a:r>
            <a:endParaRPr lang="en-US" sz="900" noProof="1"/>
          </a:p>
        </p:txBody>
      </p:sp>
      <p:sp>
        <p:nvSpPr>
          <p:cNvPr id="17" name="node-b"/>
          <p:cNvSpPr/>
          <p:nvPr/>
        </p:nvSpPr>
        <p:spPr>
          <a:xfrm>
            <a:off x="4521200" y="3276600"/>
            <a:ext cx="355600" cy="3556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18" name="node-b-label"/>
          <p:cNvSpPr txBox="1"/>
          <p:nvPr/>
        </p:nvSpPr>
        <p:spPr>
          <a:xfrm>
            <a:off x="4318000" y="36830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A08F78"/>
                </a:solidFill>
                <a:latin typeface="MiSans"/>
                <a:ea typeface="MiSans"/>
              </a:rPr>
              <a:t>adapter</a:t>
            </a:r>
            <a:endParaRPr lang="en-US" sz="900" noProof="1"/>
          </a:p>
        </p:txBody>
      </p:sp>
      <p:sp>
        <p:nvSpPr>
          <p:cNvPr id="19" name="node-c"/>
          <p:cNvSpPr/>
          <p:nvPr/>
        </p:nvSpPr>
        <p:spPr>
          <a:xfrm>
            <a:off x="4445000" y="4089400"/>
            <a:ext cx="482600" cy="4826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20" name="node-c-label"/>
          <p:cNvSpPr txBox="1"/>
          <p:nvPr/>
        </p:nvSpPr>
        <p:spPr>
          <a:xfrm>
            <a:off x="4267200" y="4622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A08F78"/>
                </a:solidFill>
                <a:latin typeface="MiSans"/>
                <a:ea typeface="MiSans"/>
              </a:rPr>
              <a:t>quantized</a:t>
            </a:r>
            <a:endParaRPr lang="en-US" sz="900" noProof="1"/>
          </a:p>
        </p:txBody>
      </p:sp>
      <p:sp>
        <p:nvSpPr>
          <p:cNvPr id="21" name="node-d"/>
          <p:cNvSpPr/>
          <p:nvPr/>
        </p:nvSpPr>
        <p:spPr>
          <a:xfrm>
            <a:off x="3835400" y="4876800"/>
            <a:ext cx="330200" cy="3302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22" name="node-d-label"/>
          <p:cNvSpPr txBox="1"/>
          <p:nvPr/>
        </p:nvSpPr>
        <p:spPr>
          <a:xfrm>
            <a:off x="3581400" y="52324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A08F78"/>
                </a:solidFill>
                <a:latin typeface="MiSans"/>
                <a:ea typeface="MiSans"/>
              </a:rPr>
              <a:t>merge</a:t>
            </a:r>
            <a:endParaRPr lang="en-US" sz="900" noProof="1"/>
          </a:p>
        </p:txBody>
      </p:sp>
      <p:sp>
        <p:nvSpPr>
          <p:cNvPr id="23" name="node-e"/>
          <p:cNvSpPr/>
          <p:nvPr/>
        </p:nvSpPr>
        <p:spPr>
          <a:xfrm>
            <a:off x="1854200" y="2133600"/>
            <a:ext cx="381000" cy="3810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24" name="node-f"/>
          <p:cNvSpPr/>
          <p:nvPr/>
        </p:nvSpPr>
        <p:spPr>
          <a:xfrm>
            <a:off x="1778000" y="4978400"/>
            <a:ext cx="304800" cy="304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25" name="diagram-note"/>
          <p:cNvSpPr txBox="1"/>
          <p:nvPr/>
        </p:nvSpPr>
        <p:spPr>
          <a:xfrm>
            <a:off x="1066800" y="55880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谱系子图示意：中心底座 + 四类派生关系（示意非全量，全图 93 万节点）</a:t>
            </a:r>
            <a:endParaRPr lang="en-US" sz="950" noProof="1"/>
          </a:p>
        </p:txBody>
      </p:sp>
      <p:sp>
        <p:nvSpPr>
          <p:cNvPr id="26" name="divider"/>
          <p:cNvSpPr/>
          <p:nvPr/>
        </p:nvSpPr>
        <p:spPr>
          <a:xfrm>
            <a:off x="6731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27" name="st1-num"/>
          <p:cNvSpPr txBox="1"/>
          <p:nvPr/>
        </p:nvSpPr>
        <p:spPr>
          <a:xfrm>
            <a:off x="7086600" y="213360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5C4630"/>
                </a:solidFill>
                <a:latin typeface="Oranienbaum"/>
                <a:ea typeface="LXGW Bright"/>
              </a:rPr>
              <a:t>919,839 </a:t>
            </a:r>
            <a:r>
              <a:rPr lang="en-US" sz="1200" noProof="1">
                <a:solidFill>
                  <a:srgbClr val="5C4630"/>
                </a:solidFill>
                <a:latin typeface="Oranienbaum"/>
                <a:ea typeface="LXGW Bright"/>
              </a:rPr>
              <a:t>条血缘边</a:t>
            </a:r>
            <a:endParaRPr lang="en-US" sz="2600" noProof="1"/>
          </a:p>
        </p:txBody>
      </p:sp>
      <p:sp>
        <p:nvSpPr>
          <p:cNvPr id="28" name="st1-label"/>
          <p:cNvSpPr txBox="1"/>
          <p:nvPr/>
        </p:nvSpPr>
        <p:spPr>
          <a:xfrm>
            <a:off x="7086600" y="26416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四种关系：finetune / adapter / quantized / merge</a:t>
            </a:r>
            <a:endParaRPr lang="en-US" sz="950" noProof="1"/>
          </a:p>
        </p:txBody>
      </p:sp>
      <p:sp>
        <p:nvSpPr>
          <p:cNvPr id="29" name="st-rule1"/>
          <p:cNvSpPr/>
          <p:nvPr/>
        </p:nvSpPr>
        <p:spPr>
          <a:xfrm>
            <a:off x="7086600" y="2971800"/>
            <a:ext cx="4343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0" name="st2-num"/>
          <p:cNvSpPr txBox="1"/>
          <p:nvPr/>
        </p:nvSpPr>
        <p:spPr>
          <a:xfrm>
            <a:off x="7086600" y="312420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C0651F"/>
                </a:solidFill>
                <a:latin typeface="Oranienbaum"/>
                <a:ea typeface="LXGW Bright"/>
              </a:rPr>
              <a:t>931,066 </a:t>
            </a:r>
            <a:r>
              <a:rPr lang="en-US" sz="1200" noProof="1">
                <a:solidFill>
                  <a:srgbClr val="C0651F"/>
                </a:solidFill>
                <a:latin typeface="Oranienbaum"/>
                <a:ea typeface="LXGW Bright"/>
              </a:rPr>
              <a:t>个节点</a:t>
            </a:r>
            <a:endParaRPr lang="en-US" sz="2600" noProof="1"/>
          </a:p>
        </p:txBody>
      </p:sp>
      <p:sp>
        <p:nvSpPr>
          <p:cNvPr id="31" name="st2-label"/>
          <p:cNvSpPr txBox="1"/>
          <p:nvPr/>
        </p:nvSpPr>
        <p:spPr>
          <a:xfrm>
            <a:off x="7086600" y="36322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去重并集——"底座数＋衍生数"直接相加会重复算 4 万多个</a:t>
            </a:r>
            <a:endParaRPr lang="en-US" sz="950" noProof="1"/>
          </a:p>
        </p:txBody>
      </p:sp>
      <p:sp>
        <p:nvSpPr>
          <p:cNvPr id="32" name="st-rule2"/>
          <p:cNvSpPr/>
          <p:nvPr/>
        </p:nvSpPr>
        <p:spPr>
          <a:xfrm>
            <a:off x="7086600" y="3962400"/>
            <a:ext cx="4343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3" name="st3-num"/>
          <p:cNvSpPr txBox="1"/>
          <p:nvPr/>
        </p:nvSpPr>
        <p:spPr>
          <a:xfrm>
            <a:off x="7086600" y="411480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5C4630"/>
                </a:solidFill>
                <a:latin typeface="Oranienbaum"/>
                <a:ea typeface="LXGW Bright"/>
              </a:rPr>
              <a:t>42,890 </a:t>
            </a:r>
            <a:r>
              <a:rPr lang="en-US" sz="1200" noProof="1">
                <a:solidFill>
                  <a:srgbClr val="5C4630"/>
                </a:solidFill>
                <a:latin typeface="Oranienbaum"/>
                <a:ea typeface="LXGW Bright"/>
              </a:rPr>
              <a:t>个连通分量</a:t>
            </a:r>
            <a:endParaRPr lang="en-US" sz="2600" noProof="1"/>
          </a:p>
        </p:txBody>
      </p:sp>
      <p:sp>
        <p:nvSpPr>
          <p:cNvPr id="34" name="st3-label"/>
          <p:cNvSpPr txBox="1"/>
          <p:nvPr/>
        </p:nvSpPr>
        <p:spPr>
          <a:xfrm>
            <a:off x="7086600" y="46228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图算法 6 步全跑完：连通分量、双向 PageRank、标签传播</a:t>
            </a:r>
            <a:endParaRPr lang="en-US" sz="950" noProof="1"/>
          </a:p>
        </p:txBody>
      </p:sp>
      <p:sp>
        <p:nvSpPr>
          <p:cNvPr id="35" name="st-rule3"/>
          <p:cNvSpPr/>
          <p:nvPr/>
        </p:nvSpPr>
        <p:spPr>
          <a:xfrm>
            <a:off x="7086600" y="4953000"/>
            <a:ext cx="4343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6" name="st4-num"/>
          <p:cNvSpPr txBox="1"/>
          <p:nvPr/>
        </p:nvSpPr>
        <p:spPr>
          <a:xfrm>
            <a:off x="7086600" y="510540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5C4630"/>
                </a:solidFill>
                <a:latin typeface="Oranienbaum"/>
                <a:ea typeface="LXGW Bright"/>
              </a:rPr>
              <a:t>126,431 </a:t>
            </a:r>
            <a:r>
              <a:rPr lang="en-US" sz="1200" noProof="1">
                <a:solidFill>
                  <a:srgbClr val="5C4630"/>
                </a:solidFill>
                <a:latin typeface="Oranienbaum"/>
                <a:ea typeface="LXGW Bright"/>
              </a:rPr>
              <a:t>个社区</a:t>
            </a:r>
            <a:endParaRPr lang="en-US" sz="2600" noProof="1"/>
          </a:p>
        </p:txBody>
      </p:sp>
      <p:sp>
        <p:nvSpPr>
          <p:cNvPr id="37" name="st4-label"/>
          <p:cNvSpPr txBox="1"/>
          <p:nvPr/>
        </p:nvSpPr>
        <p:spPr>
          <a:xfrm>
            <a:off x="7086600" y="56134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标签传播算法识别出的模型群落</a:t>
            </a:r>
            <a:endParaRPr lang="en-US" sz="950" noProof="1"/>
          </a:p>
        </p:txBody>
      </p:sp>
      <p:sp>
        <p:nvSpPr>
          <p:cNvPr id="38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39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谱系高度中心化——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FLUX.1-dev 一个底座直接派生 43,419 个模型</a:t>
            </a:r>
            <a:endParaRPr lang="en-US" sz="1150" noProof="1"/>
          </a:p>
        </p:txBody>
      </p:sp>
      <p:sp>
        <p:nvSpPr>
          <p:cNvPr id="40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13</a:t>
            </a:r>
            <a:endParaRPr lang="en-US" sz="10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04 | 实验结果 · RQ4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标签数量与热度关联最强——但关联不是因果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目标：预测 log1p(下载量)；先切训练/测试（seed=42，零交集），绝不拿测试题练手</a:t>
            </a:r>
            <a:endParaRPr lang="en-US" sz="1150" noProof="1"/>
          </a:p>
        </p:txBody>
      </p:sp>
      <p:graphicFrame>
        <p:nvGraphicFramePr>
          <p:cNvPr id="7" name="feat-chart"/>
          <p:cNvGraphicFramePr/>
          <p:nvPr/>
        </p:nvGraphicFramePr>
        <p:xfrm>
          <a:off x="762000" y="2159000"/>
          <a:ext cx="5588000" cy="2413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feat-caption"/>
          <p:cNvSpPr txBox="1"/>
          <p:nvPr/>
        </p:nvSpPr>
        <p:spPr>
          <a:xfrm>
            <a:off x="762000" y="4648200"/>
            <a:ext cx="558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RandomForest 特征重要性（归一化）｜标签数量的重要性约为第二名"用什么库"的 2.1 倍</a:t>
            </a:r>
            <a:endParaRPr lang="en-US" sz="950" noProof="1"/>
          </a:p>
        </p:txBody>
      </p:sp>
      <p:sp>
        <p:nvSpPr>
          <p:cNvPr id="9" name="honest-note"/>
          <p:cNvSpPr txBox="1"/>
          <p:nvPr/>
        </p:nvSpPr>
        <p:spPr>
          <a:xfrm>
            <a:off x="762000" y="5181600"/>
            <a:ext cx="558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诚实定位：点赞和下载是同一时刻的数据——重要性 ≠ 因果 ≠ 预测</a:t>
            </a:r>
            <a:endParaRPr lang="en-US" sz="950" noProof="1"/>
          </a:p>
        </p:txBody>
      </p:sp>
      <p:sp>
        <p:nvSpPr>
          <p:cNvPr id="10" name="divider"/>
          <p:cNvSpPr/>
          <p:nvPr/>
        </p:nvSpPr>
        <p:spPr>
          <a:xfrm>
            <a:off x="6858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1" name="model-subhead"/>
          <p:cNvSpPr txBox="1"/>
          <p:nvPr/>
        </p:nvSpPr>
        <p:spPr>
          <a:xfrm>
            <a:off x="7213600" y="2108200"/>
            <a:ext cx="421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三个模型对比 · 测试集 R²</a:t>
            </a:r>
            <a:endParaRPr lang="en-US" sz="1200" noProof="1"/>
          </a:p>
        </p:txBody>
      </p:sp>
      <p:graphicFrame>
        <p:nvGraphicFramePr>
          <p:cNvPr id="12" name="model-table"/>
          <p:cNvGraphicFramePr>
            <a:graphicFrameLocks noGrp="1"/>
          </p:cNvGraphicFramePr>
          <p:nvPr/>
        </p:nvGraphicFramePr>
        <p:xfrm>
          <a:off x="7213600" y="2489200"/>
          <a:ext cx="4216400" cy="1651000"/>
        </p:xfrm>
        <a:graphic>
          <a:graphicData uri="http://schemas.openxmlformats.org/drawingml/2006/table">
            <a:tbl>
              <a:tblPr/>
              <a:tblGrid>
                <a:gridCol w="2319020"/>
                <a:gridCol w="1897380"/>
              </a:tblGrid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R²（测试集）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RandomForest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0.663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GBT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0.631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LinearRegression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0.418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model-note"/>
          <p:cNvSpPr txBox="1"/>
          <p:nvPr/>
        </p:nvSpPr>
        <p:spPr>
          <a:xfrm>
            <a:off x="7213600" y="4292600"/>
            <a:ext cx="421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树模型明显优于线性模型——热度与属性的关系不是简单的线性放大；0.663 意味着仍有约三分之一方差无法由这些属性解释</a:t>
            </a:r>
            <a:endParaRPr lang="en-US" sz="950" noProof="1"/>
          </a:p>
        </p:txBody>
      </p:sp>
      <p:sp>
        <p:nvSpPr>
          <p:cNvPr id="14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5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RandomForest R²=0.663 为最佳——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标签数量是热度的最强关联特征</a:t>
            </a: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，但仅此是关联</a:t>
            </a:r>
            <a:endParaRPr lang="en-US" sz="1150" noProof="1"/>
          </a:p>
        </p:txBody>
      </p:sp>
      <p:sp>
        <p:nvSpPr>
          <p:cNvPr id="16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14</a:t>
            </a:r>
            <a:endParaRPr lang="en-US" sz="10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04 | 实验结果 · RQ5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56 个任务同口径对比，缺失标签单独报告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每个任务独立计算下载集中度、零下载率、底座覆盖率——冷热差异由此量化</a:t>
            </a:r>
            <a:endParaRPr lang="en-US" sz="1150" noProof="1"/>
          </a:p>
        </p:txBody>
      </p:sp>
      <p:graphicFrame>
        <p:nvGraphicFramePr>
          <p:cNvPr id="7" name="task-table"/>
          <p:cNvGraphicFramePr>
            <a:graphicFrameLocks noGrp="1"/>
          </p:cNvGraphicFramePr>
          <p:nvPr/>
        </p:nvGraphicFramePr>
        <p:xfrm>
          <a:off x="762000" y="2108200"/>
          <a:ext cx="6604000" cy="2413000"/>
        </p:xfrm>
        <a:graphic>
          <a:graphicData uri="http://schemas.openxmlformats.org/drawingml/2006/table">
            <a:tbl>
              <a:tblPr/>
              <a:tblGrid>
                <a:gridCol w="1981200"/>
                <a:gridCol w="2773680"/>
                <a:gridCol w="1849120"/>
              </a:tblGrid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 spc="200" kern="0">
                          <a:solidFill>
                            <a:srgbClr val="A37850"/>
                          </a:solidFill>
                          <a:latin typeface="MiSans"/>
                          <a:ea typeface="MiSans"/>
                        </a:rPr>
                        <a:t>规模 / 处理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已标注任务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按任务标签分组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56 个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满足可比性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样本量与统计口径达标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50 个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对比指标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各任务独立计算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集中度 / 零下载率 / 底座覆盖率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5C4630"/>
                          </a:solidFill>
                          <a:latin typeface="MiSans"/>
                          <a:ea typeface="MiSans"/>
                        </a:rPr>
                        <a:t>缺失标签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7A6A56"/>
                          </a:solidFill>
                          <a:latin typeface="MiSans"/>
                          <a:ea typeface="MiSans"/>
                        </a:rPr>
                        <a:t>unknown 单独报告、不参与比较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C0651F"/>
                          </a:solidFill>
                          <a:latin typeface="MiSans"/>
                          <a:ea typeface="MiSans"/>
                        </a:rPr>
                        <a:t>占 65.6%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CBBFA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ask-note"/>
          <p:cNvSpPr txBox="1"/>
          <p:nvPr/>
        </p:nvSpPr>
        <p:spPr>
          <a:xfrm>
            <a:off x="762000" y="4648200"/>
            <a:ext cx="660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注：缺失标签体量巨大（约三分之二），若混入比较会污染所有任务的指标——因此单独成组披露</a:t>
            </a:r>
            <a:endParaRPr lang="en-US" sz="950" noProof="1"/>
          </a:p>
        </p:txBody>
      </p:sp>
      <p:sp>
        <p:nvSpPr>
          <p:cNvPr id="9" name="divider"/>
          <p:cNvSpPr/>
          <p:nvPr/>
        </p:nvSpPr>
        <p:spPr>
          <a:xfrm>
            <a:off x="7874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0" name="st1-num"/>
          <p:cNvSpPr txBox="1"/>
          <p:nvPr/>
        </p:nvSpPr>
        <p:spPr>
          <a:xfrm>
            <a:off x="8229600" y="2184400"/>
            <a:ext cx="3200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5C4630"/>
                </a:solidFill>
                <a:latin typeface="Oranienbaum"/>
                <a:ea typeface="LXGW Bright"/>
              </a:rPr>
              <a:t>56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个</a:t>
            </a:r>
            <a:endParaRPr lang="en-US" sz="3200" noProof="1"/>
          </a:p>
        </p:txBody>
      </p:sp>
      <p:sp>
        <p:nvSpPr>
          <p:cNvPr id="11" name="st1-label"/>
          <p:cNvSpPr txBox="1"/>
          <p:nvPr/>
        </p:nvSpPr>
        <p:spPr>
          <a:xfrm>
            <a:off x="8229600" y="27686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已标注任务类型总数</a:t>
            </a:r>
            <a:endParaRPr lang="en-US" sz="950" noProof="1"/>
          </a:p>
        </p:txBody>
      </p:sp>
      <p:sp>
        <p:nvSpPr>
          <p:cNvPr id="12" name="st-rule1"/>
          <p:cNvSpPr/>
          <p:nvPr/>
        </p:nvSpPr>
        <p:spPr>
          <a:xfrm>
            <a:off x="8229600" y="3175000"/>
            <a:ext cx="3200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st2-num"/>
          <p:cNvSpPr txBox="1"/>
          <p:nvPr/>
        </p:nvSpPr>
        <p:spPr>
          <a:xfrm>
            <a:off x="8229600" y="3352800"/>
            <a:ext cx="3200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C0651F"/>
                </a:solidFill>
                <a:latin typeface="Oranienbaum"/>
                <a:ea typeface="LXGW Bright"/>
              </a:rPr>
              <a:t>50 </a:t>
            </a:r>
            <a:r>
              <a:rPr lang="en-US" sz="1300" noProof="1">
                <a:solidFill>
                  <a:srgbClr val="C0651F"/>
                </a:solidFill>
                <a:latin typeface="Oranienbaum"/>
                <a:ea typeface="LXGW Bright"/>
              </a:rPr>
              <a:t>个</a:t>
            </a:r>
            <a:endParaRPr lang="en-US" sz="3200" noProof="1"/>
          </a:p>
        </p:txBody>
      </p:sp>
      <p:sp>
        <p:nvSpPr>
          <p:cNvPr id="14" name="st2-label"/>
          <p:cNvSpPr txBox="1"/>
          <p:nvPr/>
        </p:nvSpPr>
        <p:spPr>
          <a:xfrm>
            <a:off x="8229600" y="39370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满足可比性、进入横向对比的任务</a:t>
            </a:r>
            <a:endParaRPr lang="en-US" sz="950" noProof="1"/>
          </a:p>
        </p:txBody>
      </p:sp>
      <p:sp>
        <p:nvSpPr>
          <p:cNvPr id="15" name="st-rule2"/>
          <p:cNvSpPr/>
          <p:nvPr/>
        </p:nvSpPr>
        <p:spPr>
          <a:xfrm>
            <a:off x="8229600" y="4343400"/>
            <a:ext cx="3200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6" name="st3-num"/>
          <p:cNvSpPr txBox="1"/>
          <p:nvPr/>
        </p:nvSpPr>
        <p:spPr>
          <a:xfrm>
            <a:off x="8229600" y="4521200"/>
            <a:ext cx="3200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5C4630"/>
                </a:solidFill>
                <a:latin typeface="Oranienbaum"/>
                <a:ea typeface="LXGW Bright"/>
              </a:rPr>
              <a:t>03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项指标</a:t>
            </a:r>
            <a:endParaRPr lang="en-US" sz="3200" noProof="1"/>
          </a:p>
        </p:txBody>
      </p:sp>
      <p:sp>
        <p:nvSpPr>
          <p:cNvPr id="17" name="st3-label"/>
          <p:cNvSpPr txBox="1"/>
          <p:nvPr/>
        </p:nvSpPr>
        <p:spPr>
          <a:xfrm>
            <a:off x="8229600" y="51054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集中度、零下载率、底座覆盖率，刻画任务生态的冷热</a:t>
            </a:r>
            <a:endParaRPr lang="en-US" sz="950" noProof="1"/>
          </a:p>
        </p:txBody>
      </p:sp>
      <p:sp>
        <p:nvSpPr>
          <p:cNvPr id="18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9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同一套口径、同一批指标——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任务之间的冷热差异第一次可以横向比较</a:t>
            </a:r>
            <a:endParaRPr lang="en-US" sz="1150" noProof="1"/>
          </a:p>
        </p:txBody>
      </p:sp>
      <p:sp>
        <p:nvSpPr>
          <p:cNvPr id="20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15</a:t>
            </a:r>
            <a:endParaRPr lang="en-US" sz="10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04 | 实验结果 · 扩展性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107 组实验、321 次计时，边界先说清楚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单机多核实验，不代表集群结论；计时均为缓存热态</a:t>
            </a:r>
            <a:endParaRPr lang="en-US" sz="1150" noProof="1"/>
          </a:p>
        </p:txBody>
      </p:sp>
      <p:graphicFrame>
        <p:nvGraphicFramePr>
          <p:cNvPr id="7" name="scale-chart"/>
          <p:cNvGraphicFramePr/>
          <p:nvPr/>
        </p:nvGraphicFramePr>
        <p:xfrm>
          <a:off x="762000" y="2159000"/>
          <a:ext cx="5715000" cy="2921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scale-caption"/>
          <p:cNvSpPr txBox="1"/>
          <p:nvPr/>
        </p:nvSpPr>
        <p:spPr>
          <a:xfrm>
            <a:off x="762000" y="5156200"/>
            <a:ext cx="571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规模扫描的四档嵌套子集｜10% ⊂ 25% ⊂ 50% ⊂ 100%，只差数据量、不差样本构成</a:t>
            </a:r>
            <a:endParaRPr lang="en-US" sz="950" noProof="1"/>
          </a:p>
        </p:txBody>
      </p:sp>
      <p:sp>
        <p:nvSpPr>
          <p:cNvPr id="9" name="divider"/>
          <p:cNvSpPr/>
          <p:nvPr/>
        </p:nvSpPr>
        <p:spPr>
          <a:xfrm>
            <a:off x="6985000" y="2108200"/>
            <a:ext cx="12700" cy="3581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0" name="st1-num"/>
          <p:cNvSpPr txBox="1"/>
          <p:nvPr/>
        </p:nvSpPr>
        <p:spPr>
          <a:xfrm>
            <a:off x="7340600" y="2159000"/>
            <a:ext cx="4089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C0651F"/>
                </a:solidFill>
                <a:latin typeface="Oranienbaum"/>
                <a:ea typeface="LXGW Bright"/>
              </a:rPr>
              <a:t>107 </a:t>
            </a:r>
            <a:r>
              <a:rPr lang="en-US" sz="1300" noProof="1">
                <a:solidFill>
                  <a:srgbClr val="C0651F"/>
                </a:solidFill>
                <a:latin typeface="Oranienbaum"/>
                <a:ea typeface="LXGW Bright"/>
              </a:rPr>
              <a:t>个测量组合</a:t>
            </a:r>
            <a:endParaRPr lang="en-US" sz="3200" noProof="1"/>
          </a:p>
        </p:txBody>
      </p:sp>
      <p:sp>
        <p:nvSpPr>
          <p:cNvPr id="11" name="st1-label"/>
          <p:cNvSpPr txBox="1"/>
          <p:nvPr/>
        </p:nvSpPr>
        <p:spPr>
          <a:xfrm>
            <a:off x="7340600" y="2768600"/>
            <a:ext cx="408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算子 × 规模 × 参数的全组合覆盖</a:t>
            </a:r>
            <a:endParaRPr lang="en-US" sz="950" noProof="1"/>
          </a:p>
        </p:txBody>
      </p:sp>
      <p:sp>
        <p:nvSpPr>
          <p:cNvPr id="12" name="st-rule1"/>
          <p:cNvSpPr/>
          <p:nvPr/>
        </p:nvSpPr>
        <p:spPr>
          <a:xfrm>
            <a:off x="7340600" y="3175000"/>
            <a:ext cx="4089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st2-num"/>
          <p:cNvSpPr txBox="1"/>
          <p:nvPr/>
        </p:nvSpPr>
        <p:spPr>
          <a:xfrm>
            <a:off x="7340600" y="3352800"/>
            <a:ext cx="4089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5C4630"/>
                </a:solidFill>
                <a:latin typeface="Oranienbaum"/>
                <a:ea typeface="LXGW Bright"/>
              </a:rPr>
              <a:t>321 </a:t>
            </a:r>
            <a:r>
              <a:rPr lang="en-US" sz="1300" noProof="1">
                <a:solidFill>
                  <a:srgbClr val="5C4630"/>
                </a:solidFill>
                <a:latin typeface="Oranienbaum"/>
                <a:ea typeface="LXGW Bright"/>
              </a:rPr>
              <a:t>次计时执行</a:t>
            </a:r>
            <a:endParaRPr lang="en-US" sz="3200" noProof="1"/>
          </a:p>
        </p:txBody>
      </p:sp>
      <p:sp>
        <p:nvSpPr>
          <p:cNvPr id="14" name="st2-label"/>
          <p:cNvSpPr txBox="1"/>
          <p:nvPr/>
        </p:nvSpPr>
        <p:spPr>
          <a:xfrm>
            <a:off x="7340600" y="3962400"/>
            <a:ext cx="408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每组另有 1 次不计时预热，避免冷启动干扰</a:t>
            </a:r>
            <a:endParaRPr lang="en-US" sz="950" noProof="1"/>
          </a:p>
        </p:txBody>
      </p:sp>
      <p:sp>
        <p:nvSpPr>
          <p:cNvPr id="15" name="st-rule2"/>
          <p:cNvSpPr/>
          <p:nvPr/>
        </p:nvSpPr>
        <p:spPr>
          <a:xfrm>
            <a:off x="7340600" y="4368800"/>
            <a:ext cx="40894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6" name="boundary-subhead"/>
          <p:cNvSpPr txBox="1"/>
          <p:nvPr/>
        </p:nvSpPr>
        <p:spPr>
          <a:xfrm>
            <a:off x="7340600" y="4572000"/>
            <a:ext cx="408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A37850"/>
                </a:solidFill>
                <a:latin typeface="MiSans"/>
                <a:ea typeface="MiSans"/>
              </a:rPr>
              <a:t>边界声明</a:t>
            </a:r>
            <a:endParaRPr lang="en-US" sz="1100" noProof="1"/>
          </a:p>
        </p:txBody>
      </p:sp>
      <p:sp>
        <p:nvSpPr>
          <p:cNvPr id="17" name="boundary-list"/>
          <p:cNvSpPr txBox="1"/>
          <p:nvPr/>
        </p:nvSpPr>
        <p:spPr>
          <a:xfrm>
            <a:off x="7340600" y="4876800"/>
            <a:ext cx="4089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· 单机多核实验，结论不外推到集群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· 计时是缓存热态，不含首次加载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· 子集严格嵌套，构成完全一致</a:t>
            </a:r>
            <a:endParaRPr lang="en-US" sz="1050" noProof="1"/>
          </a:p>
        </p:txBody>
      </p:sp>
      <p:sp>
        <p:nvSpPr>
          <p:cNvPr id="18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9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benchmark 的价值不在数字本身，而在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把结论的适用边界钉死</a:t>
            </a:r>
            <a:endParaRPr lang="en-US" sz="1150" noProof="1"/>
          </a:p>
        </p:txBody>
      </p:sp>
      <p:sp>
        <p:nvSpPr>
          <p:cNvPr id="20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16</a:t>
            </a:r>
            <a:endParaRPr lang="en-US" sz="10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05 | 创新与总结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四条创新点，全部落在"可复现"上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每一条都能从代码与结果清单中复核，不是口头声明</a:t>
            </a:r>
            <a:endParaRPr lang="en-US" sz="1150" noProof="1"/>
          </a:p>
        </p:txBody>
      </p:sp>
      <p:sp>
        <p:nvSpPr>
          <p:cNvPr id="7" name="ino1-chip"/>
          <p:cNvSpPr/>
          <p:nvPr/>
        </p:nvSpPr>
        <p:spPr>
          <a:xfrm>
            <a:off x="762000" y="21336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8" name="ino1-num"/>
          <p:cNvSpPr txBox="1"/>
          <p:nvPr/>
        </p:nvSpPr>
        <p:spPr>
          <a:xfrm>
            <a:off x="762000" y="2133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C0651F"/>
                </a:solidFill>
                <a:latin typeface="Oranienbaum"/>
                <a:ea typeface="Oranienbaum"/>
              </a:rPr>
              <a:t>01</a:t>
            </a:r>
            <a:endParaRPr lang="en-US" sz="1400" noProof="1"/>
          </a:p>
        </p:txBody>
      </p:sp>
      <p:sp>
        <p:nvSpPr>
          <p:cNvPr id="9" name="ino1-title"/>
          <p:cNvSpPr txBox="1"/>
          <p:nvPr/>
        </p:nvSpPr>
        <p:spPr>
          <a:xfrm>
            <a:off x="1371600" y="2108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频数加权 Gini 精确口径</a:t>
            </a:r>
            <a:endParaRPr lang="en-US" sz="1450" noProof="1"/>
          </a:p>
        </p:txBody>
      </p:sp>
      <p:sp>
        <p:nvSpPr>
          <p:cNvPr id="10" name="ino1-desc"/>
          <p:cNvSpPr txBox="1"/>
          <p:nvPr/>
        </p:nvSpPr>
        <p:spPr>
          <a:xfrm>
            <a:off x="1371600" y="241300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先数频数再算 Gini——绕开全局排序的性能陷阱，结果仍然是精确值而非采样近似</a:t>
            </a:r>
            <a:endParaRPr lang="en-US" sz="1050" noProof="1"/>
          </a:p>
        </p:txBody>
      </p:sp>
      <p:sp>
        <p:nvSpPr>
          <p:cNvPr id="11" name="ino-rule1"/>
          <p:cNvSpPr/>
          <p:nvPr/>
        </p:nvSpPr>
        <p:spPr>
          <a:xfrm>
            <a:off x="762000" y="28702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2" name="ino2-chip"/>
          <p:cNvSpPr/>
          <p:nvPr/>
        </p:nvSpPr>
        <p:spPr>
          <a:xfrm>
            <a:off x="762000" y="30734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3" name="ino2-num"/>
          <p:cNvSpPr txBox="1"/>
          <p:nvPr/>
        </p:nvSpPr>
        <p:spPr>
          <a:xfrm>
            <a:off x="762000" y="3073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C0651F"/>
                </a:solidFill>
                <a:latin typeface="Oranienbaum"/>
                <a:ea typeface="Oranienbaum"/>
              </a:rPr>
              <a:t>02</a:t>
            </a:r>
            <a:endParaRPr lang="en-US" sz="1400" noProof="1"/>
          </a:p>
        </p:txBody>
      </p:sp>
      <p:sp>
        <p:nvSpPr>
          <p:cNvPr id="14" name="ino2-title"/>
          <p:cNvSpPr txBox="1"/>
          <p:nvPr/>
        </p:nvSpPr>
        <p:spPr>
          <a:xfrm>
            <a:off x="1371600" y="3048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谱系边语义严格保留</a:t>
            </a:r>
            <a:endParaRPr lang="en-US" sz="1450" noProof="1"/>
          </a:p>
        </p:txBody>
      </p:sp>
      <p:sp>
        <p:nvSpPr>
          <p:cNvPr id="15" name="ino2-desc"/>
          <p:cNvSpPr txBox="1"/>
          <p:nvPr/>
        </p:nvSpPr>
        <p:spPr>
          <a:xfrm>
            <a:off x="1371600" y="335280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派生方向不搞反、关系类型不抹平，连数据集之外的外部父模型也完整留在图里</a:t>
            </a:r>
            <a:endParaRPr lang="en-US" sz="1050" noProof="1"/>
          </a:p>
        </p:txBody>
      </p:sp>
      <p:sp>
        <p:nvSpPr>
          <p:cNvPr id="16" name="ino-rule2"/>
          <p:cNvSpPr/>
          <p:nvPr/>
        </p:nvSpPr>
        <p:spPr>
          <a:xfrm>
            <a:off x="762000" y="38100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7" name="ino3-chip"/>
          <p:cNvSpPr/>
          <p:nvPr/>
        </p:nvSpPr>
        <p:spPr>
          <a:xfrm>
            <a:off x="762000" y="40132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8" name="ino3-num"/>
          <p:cNvSpPr txBox="1"/>
          <p:nvPr/>
        </p:nvSpPr>
        <p:spPr>
          <a:xfrm>
            <a:off x="762000" y="4013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C0651F"/>
                </a:solidFill>
                <a:latin typeface="Oranienbaum"/>
                <a:ea typeface="Oranienbaum"/>
              </a:rPr>
              <a:t>03</a:t>
            </a:r>
            <a:endParaRPr lang="en-US" sz="1400" noProof="1"/>
          </a:p>
        </p:txBody>
      </p:sp>
      <p:sp>
        <p:nvSpPr>
          <p:cNvPr id="19" name="ino3-title"/>
          <p:cNvSpPr txBox="1"/>
          <p:nvPr/>
        </p:nvSpPr>
        <p:spPr>
          <a:xfrm>
            <a:off x="1371600" y="39878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GraphFrames 与 Spark 双轨 + 断点续跑</a:t>
            </a:r>
            <a:endParaRPr lang="en-US" sz="1450" noProof="1"/>
          </a:p>
        </p:txBody>
      </p:sp>
      <p:sp>
        <p:nvSpPr>
          <p:cNvPr id="20" name="ino3-desc"/>
          <p:cNvSpPr txBox="1"/>
          <p:nvPr/>
        </p:nvSpPr>
        <p:spPr>
          <a:xfrm>
            <a:off x="1371600" y="429260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逐步骤落盘、看门狗监控，93 万节点的长任务能断点续跑，每步耗时如实记录</a:t>
            </a:r>
            <a:endParaRPr lang="en-US" sz="1050" noProof="1"/>
          </a:p>
        </p:txBody>
      </p:sp>
      <p:sp>
        <p:nvSpPr>
          <p:cNvPr id="21" name="ino-rule3"/>
          <p:cNvSpPr/>
          <p:nvPr/>
        </p:nvSpPr>
        <p:spPr>
          <a:xfrm>
            <a:off x="762000" y="4749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2" name="ino4-chip"/>
          <p:cNvSpPr/>
          <p:nvPr/>
        </p:nvSpPr>
        <p:spPr>
          <a:xfrm>
            <a:off x="762000" y="49530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3" name="ino4-num"/>
          <p:cNvSpPr txBox="1"/>
          <p:nvPr/>
        </p:nvSpPr>
        <p:spPr>
          <a:xfrm>
            <a:off x="762000" y="4953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C0651F"/>
                </a:solidFill>
                <a:latin typeface="Oranienbaum"/>
                <a:ea typeface="Oranienbaum"/>
              </a:rPr>
              <a:t>04</a:t>
            </a:r>
            <a:endParaRPr lang="en-US" sz="1400" noProof="1"/>
          </a:p>
        </p:txBody>
      </p:sp>
      <p:sp>
        <p:nvSpPr>
          <p:cNvPr id="24" name="ino4-title"/>
          <p:cNvSpPr txBox="1"/>
          <p:nvPr/>
        </p:nvSpPr>
        <p:spPr>
          <a:xfrm>
            <a:off x="1371600" y="4927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单一结果清单驱动所有交付物</a:t>
            </a:r>
            <a:endParaRPr lang="en-US" sz="1450" noProof="1"/>
          </a:p>
        </p:txBody>
      </p:sp>
      <p:sp>
        <p:nvSpPr>
          <p:cNvPr id="25" name="ino4-desc"/>
          <p:cNvSpPr txBox="1"/>
          <p:nvPr/>
        </p:nvSpPr>
        <p:spPr>
          <a:xfrm>
            <a:off x="1371600" y="523240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一个 results_manifest.json 作为唯一数据源，报告、图表、看板的数字全部对齐</a:t>
            </a:r>
            <a:endParaRPr lang="en-US" sz="1050" noProof="1"/>
          </a:p>
        </p:txBody>
      </p:sp>
      <p:sp>
        <p:nvSpPr>
          <p:cNvPr id="26" name="ino-rule4"/>
          <p:cNvSpPr/>
          <p:nvPr/>
        </p:nvSpPr>
        <p:spPr>
          <a:xfrm>
            <a:off x="762000" y="56896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7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8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四条创新点共同回答一个问题——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大作业的成果，别人能不能一键复现</a:t>
            </a:r>
            <a:endParaRPr lang="en-US" sz="1150" noProof="1"/>
          </a:p>
        </p:txBody>
      </p:sp>
      <p:sp>
        <p:nvSpPr>
          <p:cNvPr id="29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17</a:t>
            </a:r>
            <a:endParaRPr lang="en-US" sz="10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r-solid"/>
          <p:cNvSpPr/>
          <p:nvPr/>
        </p:nvSpPr>
        <p:spPr>
          <a:xfrm>
            <a:off x="11480800" y="-508000"/>
            <a:ext cx="1219200" cy="1219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r-ring"/>
          <p:cNvSpPr/>
          <p:nvPr/>
        </p:nvSpPr>
        <p:spPr>
          <a:xfrm>
            <a:off x="10972800" y="50800"/>
            <a:ext cx="812800" cy="812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05 | 创新与总结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五条局限，抢在被问之前先说出来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诚实声明：结论的边界和数据的边界同样重要</a:t>
            </a:r>
            <a:endParaRPr lang="en-US" sz="1150" noProof="1"/>
          </a:p>
        </p:txBody>
      </p:sp>
      <p:sp>
        <p:nvSpPr>
          <p:cNvPr id="7" name="lim1-title"/>
          <p:cNvSpPr txBox="1"/>
          <p:nvPr/>
        </p:nvSpPr>
        <p:spPr>
          <a:xfrm>
            <a:off x="762000" y="20828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快照性质</a:t>
            </a:r>
            <a:endParaRPr lang="en-US" sz="1350" noProof="1"/>
          </a:p>
        </p:txBody>
      </p:sp>
      <p:sp>
        <p:nvSpPr>
          <p:cNvPr id="8" name="lim1-desc"/>
          <p:cNvSpPr txBox="1"/>
          <p:nvPr/>
        </p:nvSpPr>
        <p:spPr>
          <a:xfrm>
            <a:off x="3302000" y="21082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只含还公开可见的模型——已删除的看不到了，早期月份绝对量因此偏低</a:t>
            </a:r>
            <a:endParaRPr lang="en-US" sz="1100" noProof="1"/>
          </a:p>
        </p:txBody>
      </p:sp>
      <p:sp>
        <p:nvSpPr>
          <p:cNvPr id="9" name="lim-rule1"/>
          <p:cNvSpPr/>
          <p:nvPr/>
        </p:nvSpPr>
        <p:spPr>
          <a:xfrm>
            <a:off x="762000" y="24892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0" name="lim2-title"/>
          <p:cNvSpPr txBox="1"/>
          <p:nvPr/>
        </p:nvSpPr>
        <p:spPr>
          <a:xfrm>
            <a:off x="762000" y="26670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字段缺失</a:t>
            </a:r>
            <a:endParaRPr lang="en-US" sz="1350" noProof="1"/>
          </a:p>
        </p:txBody>
      </p:sp>
      <p:sp>
        <p:nvSpPr>
          <p:cNvPr id="11" name="lim2-desc"/>
          <p:cNvSpPr txBox="1"/>
          <p:nvPr/>
        </p:nvSpPr>
        <p:spPr>
          <a:xfrm>
            <a:off x="3302000" y="26924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任务标签缺 65.6%、底座关系缺 71.7%——相关结论只覆盖已标注的部分</a:t>
            </a:r>
            <a:endParaRPr lang="en-US" sz="1100" noProof="1"/>
          </a:p>
        </p:txBody>
      </p:sp>
      <p:sp>
        <p:nvSpPr>
          <p:cNvPr id="12" name="lim-rule2"/>
          <p:cNvSpPr/>
          <p:nvPr/>
        </p:nvSpPr>
        <p:spPr>
          <a:xfrm>
            <a:off x="762000" y="30734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3" name="lim3-title"/>
          <p:cNvSpPr txBox="1"/>
          <p:nvPr/>
        </p:nvSpPr>
        <p:spPr>
          <a:xfrm>
            <a:off x="762000" y="32512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关联非预测</a:t>
            </a:r>
            <a:endParaRPr lang="en-US" sz="1350" noProof="1"/>
          </a:p>
        </p:txBody>
      </p:sp>
      <p:sp>
        <p:nvSpPr>
          <p:cNvPr id="14" name="lim3-desc"/>
          <p:cNvSpPr txBox="1"/>
          <p:nvPr/>
        </p:nvSpPr>
        <p:spPr>
          <a:xfrm>
            <a:off x="3302000" y="32766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RQ4 是同期关联分析——不能拿来预测某个模型未来会不会火</a:t>
            </a:r>
            <a:endParaRPr lang="en-US" sz="1100" noProof="1"/>
          </a:p>
        </p:txBody>
      </p:sp>
      <p:sp>
        <p:nvSpPr>
          <p:cNvPr id="15" name="lim-rule3"/>
          <p:cNvSpPr/>
          <p:nvPr/>
        </p:nvSpPr>
        <p:spPr>
          <a:xfrm>
            <a:off x="762000" y="36576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6" name="lim4-title"/>
          <p:cNvSpPr txBox="1"/>
          <p:nvPr/>
        </p:nvSpPr>
        <p:spPr>
          <a:xfrm>
            <a:off x="762000" y="38354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单机边界</a:t>
            </a:r>
            <a:endParaRPr lang="en-US" sz="1350" noProof="1"/>
          </a:p>
        </p:txBody>
      </p:sp>
      <p:sp>
        <p:nvSpPr>
          <p:cNvPr id="17" name="lim4-desc"/>
          <p:cNvSpPr txBox="1"/>
          <p:nvPr/>
        </p:nvSpPr>
        <p:spPr>
          <a:xfrm>
            <a:off x="3302000" y="38608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扩展性实验是单机多核环境——结论不外推到集群部署</a:t>
            </a:r>
            <a:endParaRPr lang="en-US" sz="1100" noProof="1"/>
          </a:p>
        </p:txBody>
      </p:sp>
      <p:sp>
        <p:nvSpPr>
          <p:cNvPr id="18" name="lim-rule4"/>
          <p:cNvSpPr/>
          <p:nvPr/>
        </p:nvSpPr>
        <p:spPr>
          <a:xfrm>
            <a:off x="762000" y="4241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9" name="lim5-title"/>
          <p:cNvSpPr txBox="1"/>
          <p:nvPr/>
        </p:nvSpPr>
        <p:spPr>
          <a:xfrm>
            <a:off x="762000" y="4419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spc="200" kern="0">
                <a:solidFill>
                  <a:srgbClr val="5C4630"/>
                </a:solidFill>
                <a:latin typeface="LXGW Bright"/>
                <a:ea typeface="LXGW Bright"/>
              </a:rPr>
              <a:t>热度 ≠ 质量</a:t>
            </a:r>
            <a:endParaRPr lang="en-US" sz="1350" noProof="1"/>
          </a:p>
        </p:txBody>
      </p:sp>
      <p:sp>
        <p:nvSpPr>
          <p:cNvPr id="20" name="lim5-desc"/>
          <p:cNvSpPr txBox="1"/>
          <p:nvPr/>
        </p:nvSpPr>
        <p:spPr>
          <a:xfrm>
            <a:off x="3302000" y="44450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A6A56"/>
                </a:solidFill>
                <a:latin typeface="MiSans"/>
                <a:ea typeface="MiSans"/>
              </a:rPr>
              <a:t>下载量只是注意力指标——</a:t>
            </a:r>
            <a:r>
              <a:rPr lang="en-US" sz="1100" noProof="1">
                <a:solidFill>
                  <a:srgbClr val="C0651F"/>
                </a:solidFill>
                <a:latin typeface="MiSans"/>
                <a:ea typeface="MiSans"/>
              </a:rPr>
              <a:t>全文没有一处用"质量"来形容热度</a:t>
            </a:r>
            <a:endParaRPr lang="en-US" sz="1100" noProof="1"/>
          </a:p>
        </p:txBody>
      </p:sp>
      <p:sp>
        <p:nvSpPr>
          <p:cNvPr id="21" name="lim-rule5"/>
          <p:cNvSpPr/>
          <p:nvPr/>
        </p:nvSpPr>
        <p:spPr>
          <a:xfrm>
            <a:off x="762000" y="48260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2" name="lim-note"/>
          <p:cNvSpPr txBox="1"/>
          <p:nvPr/>
        </p:nvSpPr>
        <p:spPr>
          <a:xfrm>
            <a:off x="762000" y="50800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这些局限写进了交付物的每一处对应位置——读报告的人不需要翻到最后一页才知道边界在哪</a:t>
            </a:r>
            <a:endParaRPr lang="en-US" sz="950" noProof="1"/>
          </a:p>
        </p:txBody>
      </p:sp>
      <p:sp>
        <p:nvSpPr>
          <p:cNvPr id="23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4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把局限写在明处，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结论反而更站得住</a:t>
            </a:r>
            <a:endParaRPr lang="en-US" sz="1150" noProof="1"/>
          </a:p>
        </p:txBody>
      </p:sp>
      <p:sp>
        <p:nvSpPr>
          <p:cNvPr id="25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18</a:t>
            </a:r>
            <a:endParaRPr lang="en-US" sz="105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bl-solid"/>
          <p:cNvSpPr/>
          <p:nvPr/>
        </p:nvSpPr>
        <p:spPr>
          <a:xfrm>
            <a:off x="-558800" y="5994400"/>
            <a:ext cx="1270000" cy="12700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bl-ring"/>
          <p:cNvSpPr/>
          <p:nvPr/>
        </p:nvSpPr>
        <p:spPr>
          <a:xfrm>
            <a:off x="76200" y="5613400"/>
            <a:ext cx="762000" cy="762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kicker"/>
          <p:cNvSpPr txBox="1"/>
          <p:nvPr/>
        </p:nvSpPr>
        <p:spPr>
          <a:xfrm>
            <a:off x="7620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05 | 创新与总结</a:t>
            </a:r>
            <a:endParaRPr lang="en-US" sz="12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8636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五个问题，五个答案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762000" y="1447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7A6A56"/>
                </a:solidFill>
                <a:latin typeface="MiSans"/>
                <a:ea typeface="MiSans"/>
              </a:rPr>
              <a:t>所有数字均可在 results_manifest.json 中逐一复核</a:t>
            </a:r>
            <a:endParaRPr lang="en-US" sz="1150" noProof="1"/>
          </a:p>
        </p:txBody>
      </p:sp>
      <p:sp>
        <p:nvSpPr>
          <p:cNvPr id="7" name="c1-chip"/>
          <p:cNvSpPr/>
          <p:nvPr/>
        </p:nvSpPr>
        <p:spPr>
          <a:xfrm>
            <a:off x="762000" y="21082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8" name="c1-num"/>
          <p:cNvSpPr txBox="1"/>
          <p:nvPr/>
        </p:nvSpPr>
        <p:spPr>
          <a:xfrm>
            <a:off x="762000" y="2108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RQ1</a:t>
            </a:r>
            <a:endParaRPr lang="en-US" sz="1300" noProof="1"/>
          </a:p>
        </p:txBody>
      </p:sp>
      <p:sp>
        <p:nvSpPr>
          <p:cNvPr id="9" name="c1-text"/>
          <p:cNvSpPr txBox="1"/>
          <p:nvPr/>
        </p:nvSpPr>
        <p:spPr>
          <a:xfrm>
            <a:off x="1371600" y="2159000"/>
            <a:ext cx="1005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5C4630"/>
                </a:solidFill>
                <a:latin typeface="MiSans"/>
                <a:ea typeface="MiSans"/>
              </a:rPr>
              <a:t>生态演化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——2024-09 达峰，单月新增 </a:t>
            </a:r>
            <a:r>
              <a:rPr lang="en-US" sz="1200" noProof="1" b="1">
                <a:solidFill>
                  <a:srgbClr val="C0651F"/>
                </a:solidFill>
                <a:latin typeface="MiSans"/>
                <a:ea typeface="MiSans"/>
              </a:rPr>
              <a:t>125,030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 个模型，四年涨 11 倍</a:t>
            </a:r>
            <a:endParaRPr lang="en-US" sz="1200" noProof="1"/>
          </a:p>
        </p:txBody>
      </p:sp>
      <p:sp>
        <p:nvSpPr>
          <p:cNvPr id="10" name="c-rule1"/>
          <p:cNvSpPr/>
          <p:nvPr/>
        </p:nvSpPr>
        <p:spPr>
          <a:xfrm>
            <a:off x="762000" y="26416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1" name="c2-chip"/>
          <p:cNvSpPr/>
          <p:nvPr/>
        </p:nvSpPr>
        <p:spPr>
          <a:xfrm>
            <a:off x="762000" y="28194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2" name="c2-num"/>
          <p:cNvSpPr txBox="1"/>
          <p:nvPr/>
        </p:nvSpPr>
        <p:spPr>
          <a:xfrm>
            <a:off x="762000" y="2819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RQ2</a:t>
            </a:r>
            <a:endParaRPr lang="en-US" sz="1300" noProof="1"/>
          </a:p>
        </p:txBody>
      </p:sp>
      <p:sp>
        <p:nvSpPr>
          <p:cNvPr id="13" name="c2-text"/>
          <p:cNvSpPr txBox="1"/>
          <p:nvPr/>
        </p:nvSpPr>
        <p:spPr>
          <a:xfrm>
            <a:off x="1371600" y="2870200"/>
            <a:ext cx="1005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5C4630"/>
                </a:solidFill>
                <a:latin typeface="MiSans"/>
                <a:ea typeface="MiSans"/>
              </a:rPr>
              <a:t>注意力集中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——Gini ≈ </a:t>
            </a:r>
            <a:r>
              <a:rPr lang="en-US" sz="1200" noProof="1" b="1">
                <a:solidFill>
                  <a:srgbClr val="C0651F"/>
                </a:solidFill>
                <a:latin typeface="MiSans"/>
                <a:ea typeface="MiSans"/>
              </a:rPr>
              <a:t>0.995–0.998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，Top-1% 拿走 97%+ 的下载，43% 模型零下载</a:t>
            </a:r>
            <a:endParaRPr lang="en-US" sz="1200" noProof="1"/>
          </a:p>
        </p:txBody>
      </p:sp>
      <p:sp>
        <p:nvSpPr>
          <p:cNvPr id="14" name="c-rule2"/>
          <p:cNvSpPr/>
          <p:nvPr/>
        </p:nvSpPr>
        <p:spPr>
          <a:xfrm>
            <a:off x="762000" y="3352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5" name="c3-chip"/>
          <p:cNvSpPr/>
          <p:nvPr/>
        </p:nvSpPr>
        <p:spPr>
          <a:xfrm>
            <a:off x="762000" y="35306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16" name="c3-num"/>
          <p:cNvSpPr txBox="1"/>
          <p:nvPr/>
        </p:nvSpPr>
        <p:spPr>
          <a:xfrm>
            <a:off x="762000" y="3530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RQ3</a:t>
            </a:r>
            <a:endParaRPr lang="en-US" sz="1300" noProof="1"/>
          </a:p>
        </p:txBody>
      </p:sp>
      <p:sp>
        <p:nvSpPr>
          <p:cNvPr id="17" name="c3-text"/>
          <p:cNvSpPr txBox="1"/>
          <p:nvPr/>
        </p:nvSpPr>
        <p:spPr>
          <a:xfrm>
            <a:off x="1371600" y="3581400"/>
            <a:ext cx="1005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5C4630"/>
                </a:solidFill>
                <a:latin typeface="MiSans"/>
                <a:ea typeface="MiSans"/>
              </a:rPr>
              <a:t>谱系网络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——以 </a:t>
            </a:r>
            <a:r>
              <a:rPr lang="en-US" sz="1200" noProof="1" b="1">
                <a:solidFill>
                  <a:srgbClr val="C0651F"/>
                </a:solidFill>
                <a:latin typeface="MiSans"/>
                <a:ea typeface="MiSans"/>
              </a:rPr>
              <a:t>FLUX.1-dev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 等底座为中心：93 万节点、92 万条边、12.6 万个社区</a:t>
            </a:r>
            <a:endParaRPr lang="en-US" sz="1200" noProof="1"/>
          </a:p>
        </p:txBody>
      </p:sp>
      <p:sp>
        <p:nvSpPr>
          <p:cNvPr id="18" name="c-rule3"/>
          <p:cNvSpPr/>
          <p:nvPr/>
        </p:nvSpPr>
        <p:spPr>
          <a:xfrm>
            <a:off x="762000" y="40640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19" name="c4-chip"/>
          <p:cNvSpPr/>
          <p:nvPr/>
        </p:nvSpPr>
        <p:spPr>
          <a:xfrm>
            <a:off x="762000" y="42418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0" name="c4-num"/>
          <p:cNvSpPr txBox="1"/>
          <p:nvPr/>
        </p:nvSpPr>
        <p:spPr>
          <a:xfrm>
            <a:off x="762000" y="4241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RQ4</a:t>
            </a:r>
            <a:endParaRPr lang="en-US" sz="1300" noProof="1"/>
          </a:p>
        </p:txBody>
      </p:sp>
      <p:sp>
        <p:nvSpPr>
          <p:cNvPr id="21" name="c4-text"/>
          <p:cNvSpPr txBox="1"/>
          <p:nvPr/>
        </p:nvSpPr>
        <p:spPr>
          <a:xfrm>
            <a:off x="1371600" y="4292600"/>
            <a:ext cx="1005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5C4630"/>
                </a:solidFill>
                <a:latin typeface="MiSans"/>
                <a:ea typeface="MiSans"/>
              </a:rPr>
              <a:t>热度关联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——</a:t>
            </a:r>
            <a:r>
              <a:rPr lang="en-US" sz="1200" noProof="1" b="1">
                <a:solidFill>
                  <a:srgbClr val="C0651F"/>
                </a:solidFill>
                <a:latin typeface="MiSans"/>
                <a:ea typeface="MiSans"/>
              </a:rPr>
              <a:t>标签数量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是最强关联特征（0.413），最佳模型 R²=0.663</a:t>
            </a:r>
            <a:endParaRPr lang="en-US" sz="1200" noProof="1"/>
          </a:p>
        </p:txBody>
      </p:sp>
      <p:sp>
        <p:nvSpPr>
          <p:cNvPr id="22" name="c-rule4"/>
          <p:cNvSpPr/>
          <p:nvPr/>
        </p:nvSpPr>
        <p:spPr>
          <a:xfrm>
            <a:off x="762000" y="47752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3" name="c5-chip"/>
          <p:cNvSpPr/>
          <p:nvPr/>
        </p:nvSpPr>
        <p:spPr>
          <a:xfrm>
            <a:off x="762000" y="4953000"/>
            <a:ext cx="381000" cy="381000"/>
          </a:xfrm>
          <a:prstGeom prst="rect">
            <a:avLst/>
          </a:prstGeom>
          <a:solidFill>
            <a:srgbClr val="F5D9CE"/>
          </a:solidFill>
          <a:ln>
            <a:noFill/>
          </a:ln>
        </p:spPr>
      </p:sp>
      <p:sp>
        <p:nvSpPr>
          <p:cNvPr id="24" name="c5-num"/>
          <p:cNvSpPr txBox="1"/>
          <p:nvPr/>
        </p:nvSpPr>
        <p:spPr>
          <a:xfrm>
            <a:off x="762000" y="4953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C0651F"/>
                </a:solidFill>
                <a:latin typeface="Oranienbaum"/>
                <a:ea typeface="Oranienbaum"/>
              </a:rPr>
              <a:t>RQ5</a:t>
            </a:r>
            <a:endParaRPr lang="en-US" sz="1300" noProof="1"/>
          </a:p>
        </p:txBody>
      </p:sp>
      <p:sp>
        <p:nvSpPr>
          <p:cNvPr id="25" name="c5-text"/>
          <p:cNvSpPr txBox="1"/>
          <p:nvPr/>
        </p:nvSpPr>
        <p:spPr>
          <a:xfrm>
            <a:off x="1371600" y="5003800"/>
            <a:ext cx="1005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5C4630"/>
                </a:solidFill>
                <a:latin typeface="MiSans"/>
                <a:ea typeface="MiSans"/>
              </a:rPr>
              <a:t>任务差异</a:t>
            </a:r>
            <a:r>
              <a:rPr lang="en-US" sz="1200" noProof="1">
                <a:solidFill>
                  <a:srgbClr val="7A6A56"/>
                </a:solidFill>
                <a:latin typeface="MiSans"/>
                <a:ea typeface="MiSans"/>
              </a:rPr>
              <a:t>——56 个任务同口径对比，冷热不均；缺失标签单独报告</a:t>
            </a:r>
            <a:endParaRPr lang="en-US" sz="1200" noProof="1"/>
          </a:p>
        </p:txBody>
      </p:sp>
      <p:sp>
        <p:nvSpPr>
          <p:cNvPr id="26" name="c-rule5"/>
          <p:cNvSpPr/>
          <p:nvPr/>
        </p:nvSpPr>
        <p:spPr>
          <a:xfrm>
            <a:off x="762000" y="54864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7" name="closing-line"/>
          <p:cNvSpPr txBox="1"/>
          <p:nvPr/>
        </p:nvSpPr>
        <p:spPr>
          <a:xfrm>
            <a:off x="762000" y="5689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用 Spark 把 </a:t>
            </a:r>
            <a:r>
              <a:rPr lang="en-US" sz="1700" noProof="1" spc="200" kern="0">
                <a:solidFill>
                  <a:srgbClr val="C0651F"/>
                </a:solidFill>
                <a:latin typeface="LXGW Bright"/>
                <a:ea typeface="LXGW Bright"/>
              </a:rPr>
              <a:t>314 万</a:t>
            </a:r>
            <a:r>
              <a:rPr lang="en-US" sz="1700" noProof="1" spc="200" kern="0">
                <a:solidFill>
                  <a:srgbClr val="5C4630"/>
                </a:solidFill>
                <a:latin typeface="LXGW Bright"/>
                <a:ea typeface="LXGW Bright"/>
              </a:rPr>
              <a:t>行数据，做成一套可复现、可校验的分析。</a:t>
            </a:r>
            <a:endParaRPr lang="en-US" sz="1700" noProof="1"/>
          </a:p>
        </p:txBody>
      </p:sp>
      <p:sp>
        <p:nvSpPr>
          <p:cNvPr id="28" name="bottom-rule"/>
          <p:cNvSpPr/>
          <p:nvPr/>
        </p:nvSpPr>
        <p:spPr>
          <a:xfrm>
            <a:off x="762000" y="6273800"/>
            <a:ext cx="10668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9" name="verdict"/>
          <p:cNvSpPr txBox="1"/>
          <p:nvPr/>
        </p:nvSpPr>
        <p:spPr>
          <a:xfrm>
            <a:off x="762000" y="64008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C4630"/>
                </a:solidFill>
                <a:latin typeface="MiSans"/>
                <a:ea typeface="MiSans"/>
              </a:rPr>
              <a:t>五个答案背后是同一套方法——</a:t>
            </a:r>
            <a:r>
              <a:rPr lang="en-US" sz="1150" noProof="1">
                <a:solidFill>
                  <a:srgbClr val="C0651F"/>
                </a:solidFill>
                <a:latin typeface="MiSans"/>
                <a:ea typeface="MiSans"/>
              </a:rPr>
              <a:t>精确口径、双重验证、诚实声明</a:t>
            </a:r>
            <a:endParaRPr lang="en-US" sz="1150" noProof="1"/>
          </a:p>
        </p:txBody>
      </p:sp>
      <p:sp>
        <p:nvSpPr>
          <p:cNvPr id="30" name="pagenum"/>
          <p:cNvSpPr txBox="1"/>
          <p:nvPr/>
        </p:nvSpPr>
        <p:spPr>
          <a:xfrm>
            <a:off x="10871200" y="64008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A08F78"/>
                </a:solidFill>
                <a:latin typeface="Oranienbaum"/>
                <a:ea typeface="Oranienbaum"/>
              </a:rPr>
              <a:t>19</a:t>
            </a:r>
            <a:endParaRPr lang="en-US" sz="10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9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n-tl-solid"/>
          <p:cNvSpPr/>
          <p:nvPr/>
        </p:nvSpPr>
        <p:spPr>
          <a:xfrm>
            <a:off x="-660400" y="-660400"/>
            <a:ext cx="1574800" cy="15748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3" name="orn-tl-ring"/>
          <p:cNvSpPr/>
          <p:nvPr/>
        </p:nvSpPr>
        <p:spPr>
          <a:xfrm>
            <a:off x="-228600" y="-228600"/>
            <a:ext cx="1066800" cy="10668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4" name="orn-tr-solid"/>
          <p:cNvSpPr/>
          <p:nvPr/>
        </p:nvSpPr>
        <p:spPr>
          <a:xfrm>
            <a:off x="11430000" y="-558800"/>
            <a:ext cx="1320800" cy="13208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5" name="orn-tr-ring"/>
          <p:cNvSpPr/>
          <p:nvPr/>
        </p:nvSpPr>
        <p:spPr>
          <a:xfrm>
            <a:off x="10896600" y="25400"/>
            <a:ext cx="889000" cy="8890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6" name="orn-bl-solid"/>
          <p:cNvSpPr/>
          <p:nvPr/>
        </p:nvSpPr>
        <p:spPr>
          <a:xfrm>
            <a:off x="-558800" y="5943600"/>
            <a:ext cx="1320800" cy="1320800"/>
          </a:xfrm>
          <a:prstGeom prst="ellipse">
            <a:avLst/>
          </a:prstGeom>
          <a:solidFill>
            <a:srgbClr val="DEC7B5"/>
          </a:solidFill>
          <a:ln>
            <a:noFill/>
          </a:ln>
        </p:spPr>
      </p:sp>
      <p:sp>
        <p:nvSpPr>
          <p:cNvPr id="7" name="orn-bl-ring"/>
          <p:cNvSpPr/>
          <p:nvPr/>
        </p:nvSpPr>
        <p:spPr>
          <a:xfrm>
            <a:off x="101600" y="5537200"/>
            <a:ext cx="787400" cy="7874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8" name="orn-br-solid"/>
          <p:cNvSpPr/>
          <p:nvPr/>
        </p:nvSpPr>
        <p:spPr>
          <a:xfrm>
            <a:off x="11531600" y="5994400"/>
            <a:ext cx="1219200" cy="1219200"/>
          </a:xfrm>
          <a:prstGeom prst="ellipse">
            <a:avLst/>
          </a:prstGeom>
          <a:solidFill>
            <a:srgbClr val="F2DCD4"/>
          </a:solidFill>
          <a:ln>
            <a:noFill/>
          </a:ln>
        </p:spPr>
      </p:sp>
      <p:sp>
        <p:nvSpPr>
          <p:cNvPr id="9" name="orn-br-ring"/>
          <p:cNvSpPr/>
          <p:nvPr/>
        </p:nvSpPr>
        <p:spPr>
          <a:xfrm>
            <a:off x="11074400" y="5664200"/>
            <a:ext cx="736600" cy="736600"/>
          </a:xfrm>
          <a:prstGeom prst="ellipse">
            <a:avLst/>
          </a:prstGeom>
          <a:noFill/>
          <a:ln w="15240">
            <a:solidFill>
              <a:srgbClr val="7A5732"/>
            </a:solidFill>
          </a:ln>
        </p:spPr>
      </p:sp>
      <p:sp>
        <p:nvSpPr>
          <p:cNvPr id="10" name="kicker"/>
          <p:cNvSpPr txBox="1"/>
          <p:nvPr/>
        </p:nvSpPr>
        <p:spPr>
          <a:xfrm>
            <a:off x="3556000" y="939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spc="300" kern="0">
                <a:solidFill>
                  <a:srgbClr val="C0762F"/>
                </a:solidFill>
                <a:latin typeface="MiSans"/>
                <a:ea typeface="MiSans"/>
              </a:rPr>
              <a:t>06 | 致谢 · Q&amp;A</a:t>
            </a:r>
            <a:endParaRPr lang="en-US" sz="1200" noProof="1"/>
          </a:p>
        </p:txBody>
      </p:sp>
      <p:sp>
        <p:nvSpPr>
          <p:cNvPr id="11" name="title"/>
          <p:cNvSpPr txBox="1"/>
          <p:nvPr/>
        </p:nvSpPr>
        <p:spPr>
          <a:xfrm>
            <a:off x="2286000" y="1346200"/>
            <a:ext cx="762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3000" noProof="1" spc="300" kern="0">
                <a:solidFill>
                  <a:srgbClr val="5C4630"/>
                </a:solidFill>
                <a:latin typeface="LXGW Bright"/>
                <a:ea typeface="LXGW Bright"/>
              </a:rPr>
              <a:t>谢谢大家，欢迎提问</a:t>
            </a:r>
            <a:endParaRPr lang="en-US" sz="3000" noProof="1"/>
          </a:p>
        </p:txBody>
      </p:sp>
      <p:sp>
        <p:nvSpPr>
          <p:cNvPr id="12" name="cover-rule"/>
          <p:cNvSpPr/>
          <p:nvPr/>
        </p:nvSpPr>
        <p:spPr>
          <a:xfrm>
            <a:off x="5842000" y="2209800"/>
            <a:ext cx="508000" cy="38100"/>
          </a:xfrm>
          <a:prstGeom prst="rect">
            <a:avLst/>
          </a:prstGeom>
          <a:solidFill>
            <a:srgbClr val="C0651F"/>
          </a:solidFill>
          <a:ln>
            <a:noFill/>
          </a:ln>
        </p:spPr>
      </p:sp>
      <p:sp>
        <p:nvSpPr>
          <p:cNvPr id="13" name="n1-num"/>
          <p:cNvSpPr txBox="1"/>
          <p:nvPr/>
        </p:nvSpPr>
        <p:spPr>
          <a:xfrm>
            <a:off x="965200" y="2844800"/>
            <a:ext cx="1905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C0651F"/>
                </a:solidFill>
                <a:latin typeface="Oranienbaum"/>
                <a:ea typeface="LXGW Bright"/>
              </a:rPr>
              <a:t>313.9</a:t>
            </a:r>
            <a:r>
              <a:rPr lang="en-US" sz="1200" noProof="1">
                <a:solidFill>
                  <a:srgbClr val="C0651F"/>
                </a:solidFill>
                <a:latin typeface="Oranienbaum"/>
                <a:ea typeface="LXGW Bright"/>
              </a:rPr>
              <a:t> 万</a:t>
            </a:r>
            <a:endParaRPr lang="en-US" sz="2600" noProof="1"/>
          </a:p>
        </p:txBody>
      </p:sp>
      <p:sp>
        <p:nvSpPr>
          <p:cNvPr id="14" name="n1-label"/>
          <p:cNvSpPr txBox="1"/>
          <p:nvPr/>
        </p:nvSpPr>
        <p:spPr>
          <a:xfrm>
            <a:off x="965200" y="33782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去重模型数</a:t>
            </a:r>
            <a:endParaRPr lang="en-US" sz="950" noProof="1"/>
          </a:p>
        </p:txBody>
      </p:sp>
      <p:sp>
        <p:nvSpPr>
          <p:cNvPr id="15" name="n-div1"/>
          <p:cNvSpPr/>
          <p:nvPr/>
        </p:nvSpPr>
        <p:spPr>
          <a:xfrm>
            <a:off x="3048000" y="2895600"/>
            <a:ext cx="12700" cy="660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6" name="n2-num"/>
          <p:cNvSpPr txBox="1"/>
          <p:nvPr/>
        </p:nvSpPr>
        <p:spPr>
          <a:xfrm>
            <a:off x="3225800" y="2844800"/>
            <a:ext cx="1905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5C4630"/>
                </a:solidFill>
                <a:latin typeface="Oranienbaum"/>
                <a:ea typeface="LXGW Bright"/>
              </a:rPr>
              <a:t>0.995</a:t>
            </a:r>
            <a:endParaRPr lang="en-US" sz="2600" noProof="1"/>
          </a:p>
        </p:txBody>
      </p:sp>
      <p:sp>
        <p:nvSpPr>
          <p:cNvPr id="17" name="n2-label"/>
          <p:cNvSpPr txBox="1"/>
          <p:nvPr/>
        </p:nvSpPr>
        <p:spPr>
          <a:xfrm>
            <a:off x="3225800" y="33782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Gini · 近 30 天</a:t>
            </a:r>
            <a:endParaRPr lang="en-US" sz="950" noProof="1"/>
          </a:p>
        </p:txBody>
      </p:sp>
      <p:sp>
        <p:nvSpPr>
          <p:cNvPr id="18" name="n-div2"/>
          <p:cNvSpPr/>
          <p:nvPr/>
        </p:nvSpPr>
        <p:spPr>
          <a:xfrm>
            <a:off x="5308600" y="2895600"/>
            <a:ext cx="12700" cy="660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19" name="n3-num"/>
          <p:cNvSpPr txBox="1"/>
          <p:nvPr/>
        </p:nvSpPr>
        <p:spPr>
          <a:xfrm>
            <a:off x="5486400" y="2844800"/>
            <a:ext cx="1905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5C4630"/>
                </a:solidFill>
                <a:latin typeface="Oranienbaum"/>
                <a:ea typeface="LXGW Bright"/>
              </a:rPr>
              <a:t>43,419</a:t>
            </a:r>
            <a:endParaRPr lang="en-US" sz="2600" noProof="1"/>
          </a:p>
        </p:txBody>
      </p:sp>
      <p:sp>
        <p:nvSpPr>
          <p:cNvPr id="20" name="n3-label"/>
          <p:cNvSpPr txBox="1"/>
          <p:nvPr/>
        </p:nvSpPr>
        <p:spPr>
          <a:xfrm>
            <a:off x="5486400" y="33782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最大底座直接派生</a:t>
            </a:r>
            <a:endParaRPr lang="en-US" sz="950" noProof="1"/>
          </a:p>
        </p:txBody>
      </p:sp>
      <p:sp>
        <p:nvSpPr>
          <p:cNvPr id="21" name="n-div3"/>
          <p:cNvSpPr/>
          <p:nvPr/>
        </p:nvSpPr>
        <p:spPr>
          <a:xfrm>
            <a:off x="7569200" y="2895600"/>
            <a:ext cx="12700" cy="660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22" name="n4-num"/>
          <p:cNvSpPr txBox="1"/>
          <p:nvPr/>
        </p:nvSpPr>
        <p:spPr>
          <a:xfrm>
            <a:off x="7747000" y="2844800"/>
            <a:ext cx="1651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5C4630"/>
                </a:solidFill>
                <a:latin typeface="Oranienbaum"/>
                <a:ea typeface="LXGW Bright"/>
              </a:rPr>
              <a:t>0.663</a:t>
            </a:r>
            <a:endParaRPr lang="en-US" sz="2600" noProof="1"/>
          </a:p>
        </p:txBody>
      </p:sp>
      <p:sp>
        <p:nvSpPr>
          <p:cNvPr id="23" name="n4-label"/>
          <p:cNvSpPr txBox="1"/>
          <p:nvPr/>
        </p:nvSpPr>
        <p:spPr>
          <a:xfrm>
            <a:off x="7747000" y="33782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最佳 R²</a:t>
            </a:r>
            <a:endParaRPr lang="en-US" sz="950" noProof="1"/>
          </a:p>
        </p:txBody>
      </p:sp>
      <p:sp>
        <p:nvSpPr>
          <p:cNvPr id="24" name="n-div4"/>
          <p:cNvSpPr/>
          <p:nvPr/>
        </p:nvSpPr>
        <p:spPr>
          <a:xfrm>
            <a:off x="9575800" y="2895600"/>
            <a:ext cx="12700" cy="660400"/>
          </a:xfrm>
          <a:prstGeom prst="rect">
            <a:avLst/>
          </a:prstGeom>
          <a:solidFill>
            <a:srgbClr val="DCD2BE"/>
          </a:solidFill>
          <a:ln>
            <a:noFill/>
          </a:ln>
        </p:spPr>
      </p:sp>
      <p:sp>
        <p:nvSpPr>
          <p:cNvPr id="25" name="n5-num"/>
          <p:cNvSpPr txBox="1"/>
          <p:nvPr/>
        </p:nvSpPr>
        <p:spPr>
          <a:xfrm>
            <a:off x="9753600" y="2844800"/>
            <a:ext cx="1651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5C4630"/>
                </a:solidFill>
                <a:latin typeface="Oranienbaum"/>
                <a:ea typeface="LXGW Bright"/>
              </a:rPr>
              <a:t>114 </a:t>
            </a:r>
            <a:r>
              <a:rPr lang="en-US" sz="1200" noProof="1">
                <a:solidFill>
                  <a:srgbClr val="5C4630"/>
                </a:solidFill>
                <a:latin typeface="Oranienbaum"/>
                <a:ea typeface="LXGW Bright"/>
              </a:rPr>
              <a:t>项</a:t>
            </a:r>
            <a:endParaRPr lang="en-US" sz="2600" noProof="1"/>
          </a:p>
        </p:txBody>
      </p:sp>
      <p:sp>
        <p:nvSpPr>
          <p:cNvPr id="26" name="n5-label"/>
          <p:cNvSpPr txBox="1"/>
          <p:nvPr/>
        </p:nvSpPr>
        <p:spPr>
          <a:xfrm>
            <a:off x="9753600" y="33782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一致性检查通过</a:t>
            </a:r>
            <a:endParaRPr lang="en-US" sz="950" noProof="1"/>
          </a:p>
        </p:txBody>
      </p:sp>
      <p:sp>
        <p:nvSpPr>
          <p:cNvPr id="27" name="sig-rule"/>
          <p:cNvSpPr/>
          <p:nvPr/>
        </p:nvSpPr>
        <p:spPr>
          <a:xfrm>
            <a:off x="4191000" y="4191000"/>
            <a:ext cx="3810000" cy="12700"/>
          </a:xfrm>
          <a:prstGeom prst="rect">
            <a:avLst/>
          </a:prstGeom>
          <a:solidFill>
            <a:srgbClr val="CBBFA9"/>
          </a:solidFill>
          <a:ln>
            <a:noFill/>
          </a:ln>
        </p:spPr>
      </p:sp>
      <p:sp>
        <p:nvSpPr>
          <p:cNvPr id="28" name="signature"/>
          <p:cNvSpPr txBox="1"/>
          <p:nvPr/>
        </p:nvSpPr>
        <p:spPr>
          <a:xfrm>
            <a:off x="2921000" y="4419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汇报人：XXX ｜ 计算机科学与技术专业 · 大二</a:t>
            </a:r>
            <a:endParaRPr lang="en-US" sz="1050" noProof="1"/>
          </a:p>
          <a:p>
            <a:pPr algn="ctr">
              <a:lnSpc>
                <a:spcPct val="150000"/>
              </a:lnSpc>
            </a:pPr>
            <a:r>
              <a:rPr lang="en-US" sz="1050" noProof="1">
                <a:solidFill>
                  <a:srgbClr val="A08F78"/>
                </a:solidFill>
                <a:latin typeface="MiSans"/>
                <a:ea typeface="MiSans"/>
              </a:rPr>
              <a:t>联系方式：xxx@xxx.edu.cn ｜ 课程：大数据技术基础</a:t>
            </a:r>
            <a:endParaRPr lang="en-US" sz="1050" noProof="1"/>
          </a:p>
        </p:txBody>
      </p:sp>
      <p:sp>
        <p:nvSpPr>
          <p:cNvPr id="29" name="final-note"/>
          <p:cNvSpPr txBox="1"/>
          <p:nvPr/>
        </p:nvSpPr>
        <p:spPr>
          <a:xfrm>
            <a:off x="2921000" y="558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50000"/>
              </a:lnSpc>
            </a:pPr>
            <a:r>
              <a:rPr lang="en-US" sz="950" noProof="1">
                <a:solidFill>
                  <a:srgbClr val="A08F78"/>
                </a:solidFill>
                <a:latin typeface="MiSans"/>
                <a:ea typeface="MiSans"/>
              </a:rPr>
              <a:t>本页数字速查：数据量 · Gini · 最大底座 · 最佳 R² · 一致性检查</a:t>
            </a:r>
            <a:endParaRPr lang="en-US" sz="9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20</Slides>
</Properties>
</file>

<file path=docProps/core.xml><?xml version="1.0" encoding="utf-8"?>
<cp:coreProperties xmlns:dc="http://purl.org/dc/elements/1.1/" xmlns:cp="http://schemas.openxmlformats.org/package/2006/metadata/core-properties">
  <dc:title>开源 AI 模型生态，比你想的更"卷"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
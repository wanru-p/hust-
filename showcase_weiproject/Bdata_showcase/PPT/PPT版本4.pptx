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Default Extension="gif" ContentType="image/gif"/>
  <Default Extension="svg" ContentType="image/svg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rts/chart3_1.xml" ContentType="application/vnd.openxmlformats-officedocument.drawingml.chart+xml"/>
  <Override PartName="/ppt/charts/chart11_1.xml" ContentType="application/vnd.openxmlformats-officedocument.drawingml.chart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embedTrueTypeFonts="1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notesMasterIdLst>
    <p:notesMasterId r:id="rId27"/>
  </p:notesMasterIdLst>
  <p:sldSz cx="12192000" cy="6858000" type="custom"/>
  <p:notesSz cx="12192000" cy="6858000"/>
  <p:embeddedFontLst>
    <p:embeddedFont>
      <p:font typeface="Liter" charset="-122" pitchFamily="34"/>
      <p:regular r:id="rId23"/>
    </p:embeddedFont>
    <p:embeddedFont>
      <p:font typeface="MiSans" charset="-122" pitchFamily="34"/>
      <p:regular r:id="rId24"/>
    </p:embeddedFont>
    <p:embeddedFont>
      <p:font typeface="Archivo Black" charset="-122" pitchFamily="34"/>
      <p:regular r:id="rId25"/>
    </p:embeddedFont>
    <p:embeddedFont>
      <p:font typeface="JetBrains Mono" charset="-122" pitchFamily="34"/>
      <p:regular r:id="rId26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font" Target="fonts/font1.fntdata"/><Relationship Id="rId24" Type="http://schemas.openxmlformats.org/officeDocument/2006/relationships/font" Target="fonts/font2.fntdata"/><Relationship Id="rId25" Type="http://schemas.openxmlformats.org/officeDocument/2006/relationships/font" Target="fonts/font3.fntdata"/><Relationship Id="rId26" Type="http://schemas.openxmlformats.org/officeDocument/2006/relationships/font" Target="fonts/font4.fntdata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ableStyles" Target="tableStyles.xml"/></Relationships>
</file>

<file path=ppt/charts/chart3_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plotArea>
      <c:layout/>
      <c:barChart>
        <c:barDir val="col"/>
        <c:grouping val="clustered"/>
        <c:varyColors val="0"/>
        <c:ser>
          <c:idx val="0"/>
          <c:order val="0"/>
          <c:tx>
            <c:v>年度新增模型（万个）</c:v>
          </c:tx>
          <c:spPr>
            <a:solidFill>
              <a:srgbClr val="0B1636"/>
            </a:solidFill>
          </c:spPr>
          <c:dLbls>
            <c:numFmt formatCode="0.0" sourceLinked="0"/>
            <c:txPr>
              <a:bodyPr/>
              <a:lstStyle/>
              <a:p>
                <a:pPr>
                  <a:defRPr sz="1000" noProof="1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 noProof="1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Lit>
              <c:ptCount val="4"/>
              <c:pt idx="0">
                <c:v>2022</c:v>
              </c:pt>
              <c:pt idx="1">
                <c:v>2023</c:v>
              </c:pt>
              <c:pt idx="2">
                <c:v>2024</c:v>
              </c:pt>
              <c:pt idx="3">
                <c:v>2025</c:v>
              </c:pt>
            </c:strLit>
          </c:cat>
          <c:val>
            <c:numLit>
              <c:formatCode>General</c:formatCode>
              <c:ptCount val="4"/>
              <c:pt idx="0">
                <c:v>10</c:v>
              </c:pt>
              <c:pt idx="1">
                <c:v>31.8</c:v>
              </c:pt>
              <c:pt idx="2">
                <c:v>74</c:v>
              </c:pt>
              <c:pt idx="3">
                <c:v>110</c:v>
              </c:pt>
            </c:numLit>
          </c:val>
        </c:ser>
        <c:gapWidth val="56"/>
        <c:overlap val="0"/>
        <c:axId val="1"/>
        <c:axId val="2"/>
      </c:barChart>
      <c:catAx>
        <c:axId val="1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numFmt formatCode="General" sourceLinked="1"/>
        <c:majorTickMark val="out"/>
        <c:minorTickMark val="none"/>
        <c:tickLblPos val="low"/>
        <c:spPr>
          <a:ln w="12700">
            <a:solidFill>
              <a:srgbClr val="888888"/>
            </a:solidFill>
          </a:ln>
        </c:spPr>
        <c:txPr>
          <a:bodyPr/>
          <a:lstStyle/>
          <a:p>
            <a:pPr>
              <a:defRPr sz="1000" noProof="1" b="0" i="0" u="none" strike="noStrike">
                <a:solidFill>
                  <a:srgbClr val="6E6A60"/>
                </a:solidFill>
                <a:latin typeface="Liter"/>
              </a:defRPr>
            </a:pPr>
            <a:endParaRPr lang="en-US" noProof="1"/>
          </a:p>
        </c:txPr>
        <c:crossAx val="2"/>
        <c:crosses val="autoZero"/>
        <c:auto val="1"/>
        <c:lblAlgn val="ctr"/>
        <c:noMultiLvlLbl val="1"/>
      </c:catAx>
      <c:valAx>
        <c:axId val="2"/>
        <c:scaling>
          <c:orientation val="minMax"/>
          <c:max val="120"/>
          <c:min val="0"/>
        </c:scaling>
        <c:delete val="0"/>
        <c:axPos val="l"/>
        <c:majorGridlines>
          <c:spPr>
            <a:ln w="7620">
              <a:solidFill>
                <a:srgbClr val="C9C3B6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US" sz="1200" noProof="1"/>
                  <a:t>万个</a:t>
                </a:r>
              </a:p>
            </c:rich>
          </c:tx>
          <c:layout>
            <c:manualLayout>
              <c:xMode val="edge"/>
              <c:yMode val="edge"/>
              <c:x val="0.02"/>
              <c:y val="0.44"/>
            </c:manualLayout>
          </c:layout>
          <c:overlay val="0"/>
        </c:title>
        <c:numFmt formatCode="General" sourceLinked="0"/>
        <c:majorTickMark val="out"/>
        <c:minorTickMark val="none"/>
        <c:tickLblPos val="nextTo"/>
        <c:spPr>
          <a:ln w="12700">
            <a:solidFill>
              <a:srgbClr val="888888"/>
            </a:solidFill>
          </a:ln>
        </c:spPr>
        <c:txPr>
          <a:bodyPr/>
          <a:lstStyle/>
          <a:p>
            <a:pPr>
              <a:defRPr sz="900" noProof="1" b="0" i="0" u="none" strike="noStrike">
                <a:solidFill>
                  <a:srgbClr val="6E6A60"/>
                </a:solidFill>
                <a:latin typeface="Liter"/>
              </a:defRPr>
            </a:pPr>
            <a:endParaRPr lang="en-US" noProof="1"/>
          </a:p>
        </c:txPr>
        <c:crossAx val="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</c:chart>
  <c:spPr>
    <a:noFill/>
    <a:ln>
      <a:noFill/>
    </a:ln>
  </c:spPr>
  <c:txPr>
    <a:bodyPr/>
    <a:lstStyle/>
    <a:p>
      <a:pPr>
        <a:defRPr noProof="1" b="0" i="0" u="none" strike="noStrike">
          <a:latin typeface="Liter"/>
        </a:defRPr>
      </a:pPr>
      <a:endParaRPr lang="en-US" noProof="1"/>
    </a:p>
  </c:txPr>
</c:chartSpace>
</file>

<file path=ppt/charts/chart11_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plotArea>
      <c:layout/>
      <c:barChart>
        <c:barDir val="col"/>
        <c:grouping val="clustered"/>
        <c:varyColors val="0"/>
        <c:ser>
          <c:idx val="0"/>
          <c:order val="0"/>
          <c:tx>
            <c:v>new_models</c:v>
          </c:tx>
          <c:spPr>
            <a:solidFill>
              <a:srgbClr val="7421F7"/>
            </a:solidFill>
          </c:spPr>
          <c:dLbls>
            <c:numFmt formatCode="0.0" sourceLinked="0"/>
            <c:txPr>
              <a:bodyPr/>
              <a:lstStyle/>
              <a:p>
                <a:pPr>
                  <a:defRPr sz="1000" noProof="1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 noProof="1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Lit>
              <c:ptCount val="4"/>
              <c:pt idx="0">
                <c:v>2022</c:v>
              </c:pt>
              <c:pt idx="1">
                <c:v>2023</c:v>
              </c:pt>
              <c:pt idx="2">
                <c:v>2024</c:v>
              </c:pt>
              <c:pt idx="3">
                <c:v>2025</c:v>
              </c:pt>
            </c:strLit>
          </c:cat>
          <c:val>
            <c:numLit>
              <c:formatCode>General</c:formatCode>
              <c:ptCount val="4"/>
              <c:pt idx="0">
                <c:v>10</c:v>
              </c:pt>
              <c:pt idx="1">
                <c:v>31.8</c:v>
              </c:pt>
              <c:pt idx="2">
                <c:v>74</c:v>
              </c:pt>
              <c:pt idx="3">
                <c:v>110</c:v>
              </c:pt>
            </c:numLit>
          </c:val>
        </c:ser>
        <c:gapWidth val="56"/>
        <c:overlap val="0"/>
        <c:axId val="1"/>
        <c:axId val="2"/>
      </c:barChart>
      <c:catAx>
        <c:axId val="1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numFmt formatCode="General" sourceLinked="1"/>
        <c:majorTickMark val="out"/>
        <c:minorTickMark val="none"/>
        <c:tickLblPos val="low"/>
        <c:spPr>
          <a:ln w="12700">
            <a:solidFill>
              <a:srgbClr val="888888"/>
            </a:solidFill>
          </a:ln>
        </c:spPr>
        <c:txPr>
          <a:bodyPr/>
          <a:lstStyle/>
          <a:p>
            <a:pPr>
              <a:defRPr sz="1000" noProof="1" b="0" i="0" u="none" strike="noStrike">
                <a:solidFill>
                  <a:srgbClr val="6E6A60"/>
                </a:solidFill>
                <a:latin typeface="Liter"/>
              </a:defRPr>
            </a:pPr>
            <a:endParaRPr lang="en-US" noProof="1"/>
          </a:p>
        </c:txPr>
        <c:crossAx val="2"/>
        <c:crosses val="autoZero"/>
        <c:auto val="1"/>
        <c:lblAlgn val="ctr"/>
        <c:noMultiLvlLbl val="1"/>
      </c:catAx>
      <c:valAx>
        <c:axId val="2"/>
        <c:scaling>
          <c:orientation val="minMax"/>
          <c:max val="120"/>
          <c:min val="0"/>
        </c:scaling>
        <c:delete val="0"/>
        <c:axPos val="l"/>
        <c:majorGridlines>
          <c:spPr>
            <a:ln w="7620">
              <a:solidFill>
                <a:srgbClr val="C9C3B6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US" sz="1200" noProof="1"/>
                  <a:t>万个</a:t>
                </a:r>
              </a:p>
            </c:rich>
          </c:tx>
          <c:layout>
            <c:manualLayout>
              <c:xMode val="edge"/>
              <c:yMode val="edge"/>
              <c:x val="0.02"/>
              <c:y val="0.44"/>
            </c:manualLayout>
          </c:layout>
          <c:overlay val="0"/>
        </c:title>
        <c:numFmt formatCode="General" sourceLinked="0"/>
        <c:majorTickMark val="out"/>
        <c:minorTickMark val="none"/>
        <c:tickLblPos val="nextTo"/>
        <c:spPr>
          <a:ln w="12700">
            <a:solidFill>
              <a:srgbClr val="888888"/>
            </a:solidFill>
          </a:ln>
        </c:spPr>
        <c:txPr>
          <a:bodyPr/>
          <a:lstStyle/>
          <a:p>
            <a:pPr>
              <a:defRPr sz="900" noProof="1" b="0" i="0" u="none" strike="noStrike">
                <a:solidFill>
                  <a:srgbClr val="6E6A60"/>
                </a:solidFill>
                <a:latin typeface="Liter"/>
              </a:defRPr>
            </a:pPr>
            <a:endParaRPr lang="en-US" noProof="1"/>
          </a:p>
        </c:txPr>
        <c:crossAx val="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</c:chart>
  <c:spPr>
    <a:noFill/>
    <a:ln>
      <a:noFill/>
    </a:ln>
  </c:spPr>
  <c:txPr>
    <a:bodyPr/>
    <a:lstStyle/>
    <a:p>
      <a:pPr>
        <a:defRPr noProof="1" b="0" i="0" u="none" strike="noStrike">
          <a:latin typeface="Liter"/>
        </a:defRPr>
      </a:pPr>
      <a:endParaRPr lang="en-US" noProof="1"/>
    </a:p>
  </c:txPr>
</c:chartSpace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/>
          <p:nvPr>
            <p:ph type="body" idx="1"/>
          </p:nvPr>
        </p:nvSpPr>
        <p:spPr/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开场：今天不卷大家，给大家看一个熬夜跑出来的东西——用 Spark 把 Hugging Face 上 314 万个开源模型扒了一遍，发现这个生态比咱们想的更卷。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目录页 20 秒：我按问题、数据方法、踩坑、结果、总结五步走，重点在中间两段。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用 GitHub 类比：热门仓库 star 碾压冷门仓库。Hugging Face 是不是也这样？我想用 Spark 实锤。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5 个 RQ 一张表带过；特别说明 RQ4 是关联不是预测。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数据来自 Hugging Face 官方数据集，固定 commit 加 SHA-256 校验。65.6% 任务标签缺失，我没瞎填。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为什么三层？像代码分层解耦，哪层崩了报错就报哪层。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最得意的一点：报告、图、看板都读同一个 results_manifest.json，数字绝不打架。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七个坑每个都能讲十分钟，我挑最体现排查能力的 Windows Spark 展开。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我不信没法配，就反编译 Hadoop jar 一行行看，确认没留开关；于是不硬刚，换行为正确的实现。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三套独立算法结果只在小数点后 15 位差一点，那是浮点误差；两种下载口径差 27 倍，混用就是耍流氓。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第一个结论：生态在 2024-09 达峰。首月时间戳异常我不硬解释，只当观测现象。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最震撼结论：Gini 0.995，Top-1% 拿 97.13%；43% 模型零下载，像 push 了个寂寞。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FLUX.1-dev 是最大祖师爷，直接派生 43,419。节点数要去重并集，直接相加会重复算 4 万多个。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我防了评估泄漏：不能拿测试卷当练习题。结果标签数量是最强关联特征，但不是因果。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一句话带过：不同任务下载集中度差异明显，但缺失标签不强行归类。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我跑了性能实验验证规模变大还能跑，但丑话说前面：单机多核，不代表集群横向扩展。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如果只说一件事：没有数字是手抄的，全部来自同一个结果清单，可复现可校验。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肯定有人问局限，我先自己说：快照、缺失率、单机边界、下载不等于质量。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收口：生态达峰、下载极集中、谱系有祖师爷、标签最强关联；用 Spark 做成可复现分析。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感谢大家，有问题直接问；答不上来的我老实说这块没深入。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Relationship Id="rId2" Type="http://schemas.openxmlformats.org/officeDocument/2006/relationships/chart" Target="../charts/chart3_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Relationship Id="rId2" Type="http://schemas.openxmlformats.org/officeDocument/2006/relationships/chart" Target="../charts/chart11_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0522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_meta"/>
          <p:cNvSpPr txBox="1"/>
          <p:nvPr/>
        </p:nvSpPr>
        <p:spPr>
          <a:xfrm>
            <a:off x="609600" y="330200"/>
            <a:ext cx="7112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b="1" spc="200" kern="0">
                <a:solidFill>
                  <a:srgbClr val="A4C9FF"/>
                </a:solidFill>
                <a:latin typeface="Archivo Black"/>
                <a:ea typeface="MiSans"/>
              </a:rPr>
              <a:t>BIG DATA COURSE PROJECT · HUGGING FACE OPEN MODEL ECOSYSTEM</a:t>
            </a:r>
            <a:endParaRPr lang="en-US" sz="1000" noProof="1"/>
          </a:p>
        </p:txBody>
      </p:sp>
      <p:sp>
        <p:nvSpPr>
          <p:cNvPr id="3" name="c_date"/>
          <p:cNvSpPr txBox="1"/>
          <p:nvPr/>
        </p:nvSpPr>
        <p:spPr>
          <a:xfrm>
            <a:off x="8763000" y="330200"/>
            <a:ext cx="28194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A4C9FF"/>
                </a:solidFill>
                <a:latin typeface="JetBrains Mono"/>
                <a:ea typeface="MiSans"/>
              </a:rPr>
              <a:t>2026 · CLASS SHARE · 12–15 MIN</a:t>
            </a:r>
            <a:endParaRPr lang="en-US" sz="900" noProof="1"/>
          </a:p>
        </p:txBody>
      </p:sp>
      <p:sp>
        <p:nvSpPr>
          <p:cNvPr id="4" name="c_e0"/>
          <p:cNvSpPr/>
          <p:nvPr>
            <p:extLst>
              <p:ext uri="{F5677B7D-0D2A-4D9B-9A5C-6D8D7D0E5A5D}">
                <pptd:line encoding="base64url">eyJ2aWV3Qm94IjpbMTAwLDMwXSwicG9pbnRzIjoiMCwzMCAxMDAsMCIsImN1cnZlIjoic2hhcnAifQ</pptd:line>
              </p:ext>
            </p:extLst>
          </p:nvPr>
        </p:nvSpPr>
        <p:spPr>
          <a:xfrm>
            <a:off x="8763000" y="1143000"/>
            <a:ext cx="1270000" cy="381000"/>
          </a:xfrm>
          <a:custGeom>
            <a:avLst/>
            <a:gdLst/>
            <a:ahLst/>
            <a:cxnLst/>
            <a:rect l="l" t="t" r="r" b="b"/>
            <a:pathLst>
              <a:path w="100" h="30">
                <a:moveTo>
                  <a:pt x="0" y="30"/>
                </a:moveTo>
                <a:lnTo>
                  <a:pt x="100" y="0"/>
                </a:lnTo>
              </a:path>
            </a:pathLst>
          </a:custGeom>
          <a:noFill/>
          <a:ln w="15240">
            <a:solidFill>
              <a:srgbClr val="4C36FD"/>
            </a:solidFill>
          </a:ln>
        </p:spPr>
      </p:sp>
      <p:sp>
        <p:nvSpPr>
          <p:cNvPr id="5" name="c_e1"/>
          <p:cNvSpPr/>
          <p:nvPr>
            <p:extLst>
              <p:ext uri="{F5677B7D-0D2A-4D9B-9A5C-6D8D7D0E5A5D}">
                <pptd:line encoding="base64url">eyJ2aWV3Qm94IjpbNzAsNzBdLCJwb2ludHMiOiIwLDAgNzAsNzAiLCJjdXJ2ZSI6InNoYXJwIn0</pptd:line>
              </p:ext>
            </p:extLst>
          </p:nvPr>
        </p:nvSpPr>
        <p:spPr>
          <a:xfrm>
            <a:off x="10033000" y="1143000"/>
            <a:ext cx="889000" cy="889000"/>
          </a:xfrm>
          <a:custGeom>
            <a:avLst/>
            <a:gdLst/>
            <a:ahLst/>
            <a:cxnLst/>
            <a:rect l="l" t="t" r="r" b="b"/>
            <a:pathLst>
              <a:path w="70" h="70">
                <a:moveTo>
                  <a:pt x="0" y="0"/>
                </a:moveTo>
                <a:lnTo>
                  <a:pt x="70" y="70"/>
                </a:lnTo>
              </a:path>
            </a:pathLst>
          </a:custGeom>
          <a:noFill/>
          <a:ln w="15240">
            <a:solidFill>
              <a:srgbClr val="4C36FD"/>
            </a:solidFill>
          </a:ln>
        </p:spPr>
      </p:sp>
      <p:sp>
        <p:nvSpPr>
          <p:cNvPr id="6" name="c_e2"/>
          <p:cNvSpPr/>
          <p:nvPr>
            <p:extLst>
              <p:ext uri="{F5677B7D-0D2A-4D9B-9A5C-6D8D7D0E5A5D}">
                <pptd:line encoding="base64url">eyJ2aWV3Qm94IjpbNTAsMTEwXSwicG9pbnRzIjoiMCwwIDUwLDExMCIsImN1cnZlIjoic2hhcnAifQ</pptd:line>
              </p:ext>
            </p:extLst>
          </p:nvPr>
        </p:nvSpPr>
        <p:spPr>
          <a:xfrm>
            <a:off x="8763000" y="1524000"/>
            <a:ext cx="635000" cy="1397000"/>
          </a:xfrm>
          <a:custGeom>
            <a:avLst/>
            <a:gdLst/>
            <a:ahLst/>
            <a:cxnLst/>
            <a:rect l="l" t="t" r="r" b="b"/>
            <a:pathLst>
              <a:path w="50" h="110">
                <a:moveTo>
                  <a:pt x="0" y="0"/>
                </a:moveTo>
                <a:lnTo>
                  <a:pt x="50" y="110"/>
                </a:lnTo>
              </a:path>
            </a:pathLst>
          </a:custGeom>
          <a:noFill/>
          <a:ln w="15240">
            <a:solidFill>
              <a:srgbClr val="4C36FD"/>
            </a:solidFill>
          </a:ln>
        </p:spPr>
      </p:sp>
      <p:sp>
        <p:nvSpPr>
          <p:cNvPr id="7" name="c_e3"/>
          <p:cNvSpPr/>
          <p:nvPr>
            <p:extLst>
              <p:ext uri="{F5677B7D-0D2A-4D9B-9A5C-6D8D7D0E5A5D}">
                <pptd:line encoding="base64url">eyJ2aWV3Qm94IjpbMTEwLDcwXSwicG9pbnRzIjoiMCwwIDExMCw3MCIsImN1cnZlIjoic2hhcnAifQ</pptd:line>
              </p:ext>
            </p:extLst>
          </p:nvPr>
        </p:nvSpPr>
        <p:spPr>
          <a:xfrm>
            <a:off x="9398000" y="2921000"/>
            <a:ext cx="1397000" cy="889000"/>
          </a:xfrm>
          <a:custGeom>
            <a:avLst/>
            <a:gdLst/>
            <a:ahLst/>
            <a:cxnLst/>
            <a:rect l="l" t="t" r="r" b="b"/>
            <a:pathLst>
              <a:path w="110" h="70">
                <a:moveTo>
                  <a:pt x="0" y="0"/>
                </a:moveTo>
                <a:lnTo>
                  <a:pt x="110" y="70"/>
                </a:lnTo>
              </a:path>
            </a:pathLst>
          </a:custGeom>
          <a:noFill/>
          <a:ln w="15240">
            <a:solidFill>
              <a:srgbClr val="4C36FD"/>
            </a:solidFill>
          </a:ln>
        </p:spPr>
      </p:sp>
      <p:sp>
        <p:nvSpPr>
          <p:cNvPr id="8" name="c_e4"/>
          <p:cNvSpPr/>
          <p:nvPr>
            <p:extLst>
              <p:ext uri="{F5677B7D-0D2A-4D9B-9A5C-6D8D7D0E5A5D}">
                <pptd:line encoding="base64url">eyJ2aWV3Qm94IjpbMTUwLDUwXSwicG9pbnRzIjoiMTUwLDAgMCw1MCIsImN1cnZlIjoic2hhcnAifQ</pptd:line>
              </p:ext>
            </p:extLst>
          </p:nvPr>
        </p:nvSpPr>
        <p:spPr>
          <a:xfrm>
            <a:off x="8890000" y="3810000"/>
            <a:ext cx="1905000" cy="635000"/>
          </a:xfrm>
          <a:custGeom>
            <a:avLst/>
            <a:gdLst/>
            <a:ahLst/>
            <a:cxnLst/>
            <a:rect l="l" t="t" r="r" b="b"/>
            <a:pathLst>
              <a:path w="150" h="50">
                <a:moveTo>
                  <a:pt x="150" y="0"/>
                </a:moveTo>
                <a:lnTo>
                  <a:pt x="0" y="50"/>
                </a:lnTo>
              </a:path>
            </a:pathLst>
          </a:custGeom>
          <a:noFill/>
          <a:ln w="15240">
            <a:solidFill>
              <a:srgbClr val="4C36FD"/>
            </a:solidFill>
          </a:ln>
        </p:spPr>
      </p:sp>
      <p:sp>
        <p:nvSpPr>
          <p:cNvPr id="9" name="c_e5"/>
          <p:cNvSpPr/>
          <p:nvPr>
            <p:extLst>
              <p:ext uri="{F5677B7D-0D2A-4D9B-9A5C-6D8D7D0E5A5D}">
                <pptd:line encoding="base64url">eyJ2aWV3Qm94IjpbMjAwLDQwXSwicG9pbnRzIjoiMCwwIDIwMCw0MCIsImN1cnZlIjoic2hhcnAifQ</pptd:line>
              </p:ext>
            </p:extLst>
          </p:nvPr>
        </p:nvSpPr>
        <p:spPr>
          <a:xfrm>
            <a:off x="8890000" y="4445000"/>
            <a:ext cx="2540000" cy="508000"/>
          </a:xfrm>
          <a:custGeom>
            <a:avLst/>
            <a:gdLst/>
            <a:ahLst/>
            <a:cxnLst/>
            <a:rect l="l" t="t" r="r" b="b"/>
            <a:pathLst>
              <a:path w="200" h="40">
                <a:moveTo>
                  <a:pt x="0" y="0"/>
                </a:moveTo>
                <a:lnTo>
                  <a:pt x="200" y="40"/>
                </a:lnTo>
              </a:path>
            </a:pathLst>
          </a:custGeom>
          <a:noFill/>
          <a:ln w="15240">
            <a:solidFill>
              <a:srgbClr val="4C36FD"/>
            </a:solidFill>
          </a:ln>
        </p:spPr>
      </p:sp>
      <p:sp>
        <p:nvSpPr>
          <p:cNvPr id="10" name="c_e6"/>
          <p:cNvSpPr/>
          <p:nvPr>
            <p:extLst>
              <p:ext uri="{F5677B7D-0D2A-4D9B-9A5C-6D8D7D0E5A5D}">
                <pptd:line encoding="base64url">eyJ2aWV3Qm94IjpbMTYwLDE2MF0sInBvaW50cyI6IjAsMCAxNjAsMTYwIiwiY3VydmUiOiJzaGFycCJ9</pptd:line>
              </p:ext>
            </p:extLst>
          </p:nvPr>
        </p:nvSpPr>
        <p:spPr>
          <a:xfrm>
            <a:off x="9398000" y="2921000"/>
            <a:ext cx="2032000" cy="2032000"/>
          </a:xfrm>
          <a:custGeom>
            <a:avLst/>
            <a:gdLst/>
            <a:ahLst/>
            <a:cxnLst/>
            <a:rect l="l" t="t" r="r" b="b"/>
            <a:pathLst>
              <a:path w="160" h="160">
                <a:moveTo>
                  <a:pt x="0" y="0"/>
                </a:moveTo>
                <a:lnTo>
                  <a:pt x="160" y="160"/>
                </a:lnTo>
              </a:path>
            </a:pathLst>
          </a:custGeom>
          <a:noFill/>
          <a:ln w="15240">
            <a:solidFill>
              <a:srgbClr val="4C36FD"/>
            </a:solidFill>
          </a:ln>
        </p:spPr>
      </p:sp>
      <p:sp>
        <p:nvSpPr>
          <p:cNvPr id="11" name="c_e7"/>
          <p:cNvSpPr/>
          <p:nvPr>
            <p:extLst>
              <p:ext uri="{F5677B7D-0D2A-4D9B-9A5C-6D8D7D0E5A5D}">
                <pptd:line encoding="base64url">eyJ2aWV3Qm94IjpbMTAsMTQwXSwicG9pbnRzIjoiMTAsMCAwLDE0MCIsImN1cnZlIjoic2hhcnAifQ</pptd:line>
              </p:ext>
            </p:extLst>
          </p:nvPr>
        </p:nvSpPr>
        <p:spPr>
          <a:xfrm>
            <a:off x="10795000" y="2032000"/>
            <a:ext cx="127000" cy="1778000"/>
          </a:xfrm>
          <a:custGeom>
            <a:avLst/>
            <a:gdLst/>
            <a:ahLst/>
            <a:cxnLst/>
            <a:rect l="l" t="t" r="r" b="b"/>
            <a:pathLst>
              <a:path w="10" h="140">
                <a:moveTo>
                  <a:pt x="10" y="0"/>
                </a:moveTo>
                <a:lnTo>
                  <a:pt x="0" y="140"/>
                </a:lnTo>
              </a:path>
            </a:pathLst>
          </a:custGeom>
          <a:noFill/>
          <a:ln w="15240">
            <a:solidFill>
              <a:srgbClr val="4C36FD"/>
            </a:solidFill>
          </a:ln>
        </p:spPr>
      </p:sp>
      <p:sp>
        <p:nvSpPr>
          <p:cNvPr id="12" name="c_e8"/>
          <p:cNvSpPr/>
          <p:nvPr>
            <p:extLst>
              <p:ext uri="{F5677B7D-0D2A-4D9B-9A5C-6D8D7D0E5A5D}">
                <pptd:line encoding="base64url">eyJ2aWV3Qm94IjpbMTAwLDQwXSwicG9pbnRzIjoiMTAwLDAgMCw0MCIsImN1cnZlIjoic2hhcnAifQ</pptd:line>
              </p:ext>
            </p:extLst>
          </p:nvPr>
        </p:nvSpPr>
        <p:spPr>
          <a:xfrm>
            <a:off x="10160000" y="4953000"/>
            <a:ext cx="1270000" cy="508000"/>
          </a:xfrm>
          <a:custGeom>
            <a:avLst/>
            <a:gdLst/>
            <a:ahLst/>
            <a:cxnLst/>
            <a:rect l="l" t="t" r="r" b="b"/>
            <a:pathLst>
              <a:path w="100" h="40">
                <a:moveTo>
                  <a:pt x="100" y="0"/>
                </a:moveTo>
                <a:lnTo>
                  <a:pt x="0" y="40"/>
                </a:lnTo>
              </a:path>
            </a:pathLst>
          </a:custGeom>
          <a:noFill/>
          <a:ln w="15240">
            <a:solidFill>
              <a:srgbClr val="4C36FD"/>
            </a:solidFill>
          </a:ln>
        </p:spPr>
      </p:sp>
      <p:sp>
        <p:nvSpPr>
          <p:cNvPr id="13" name="c_e9"/>
          <p:cNvSpPr/>
          <p:nvPr>
            <p:extLst>
              <p:ext uri="{F5677B7D-0D2A-4D9B-9A5C-6D8D7D0E5A5D}">
                <pptd:line encoding="base64url">eyJ2aWV3Qm94IjpbNTAsMTEwXSwicG9pbnRzIjoiMCwwIDUwLDExMCIsImN1cnZlIjoic2hhcnAifQ</pptd:line>
              </p:ext>
            </p:extLst>
          </p:nvPr>
        </p:nvSpPr>
        <p:spPr>
          <a:xfrm>
            <a:off x="8763000" y="1524000"/>
            <a:ext cx="635000" cy="1397000"/>
          </a:xfrm>
          <a:custGeom>
            <a:avLst/>
            <a:gdLst/>
            <a:ahLst/>
            <a:cxnLst/>
            <a:rect l="l" t="t" r="r" b="b"/>
            <a:pathLst>
              <a:path w="50" h="110">
                <a:moveTo>
                  <a:pt x="0" y="0"/>
                </a:moveTo>
                <a:lnTo>
                  <a:pt x="50" y="110"/>
                </a:lnTo>
              </a:path>
            </a:pathLst>
          </a:custGeom>
          <a:noFill/>
          <a:ln w="15240">
            <a:solidFill>
              <a:srgbClr val="4C36FD"/>
            </a:solidFill>
          </a:ln>
        </p:spPr>
      </p:sp>
      <p:sp>
        <p:nvSpPr>
          <p:cNvPr id="14" name="c_n0"/>
          <p:cNvSpPr/>
          <p:nvPr/>
        </p:nvSpPr>
        <p:spPr>
          <a:xfrm>
            <a:off x="8712200" y="1473200"/>
            <a:ext cx="101600" cy="101600"/>
          </a:xfrm>
          <a:prstGeom prst="ellipse">
            <a:avLst/>
          </a:prstGeom>
          <a:solidFill>
            <a:srgbClr val="08BC51"/>
          </a:solidFill>
          <a:ln>
            <a:noFill/>
          </a:ln>
        </p:spPr>
      </p:sp>
      <p:sp>
        <p:nvSpPr>
          <p:cNvPr id="15" name="c_n1"/>
          <p:cNvSpPr/>
          <p:nvPr/>
        </p:nvSpPr>
        <p:spPr>
          <a:xfrm>
            <a:off x="9982200" y="1092200"/>
            <a:ext cx="101600" cy="101600"/>
          </a:xfrm>
          <a:prstGeom prst="ellipse">
            <a:avLst/>
          </a:prstGeom>
          <a:solidFill>
            <a:srgbClr val="F9961F"/>
          </a:solidFill>
          <a:ln>
            <a:noFill/>
          </a:ln>
        </p:spPr>
      </p:sp>
      <p:sp>
        <p:nvSpPr>
          <p:cNvPr id="16" name="c_n2"/>
          <p:cNvSpPr/>
          <p:nvPr/>
        </p:nvSpPr>
        <p:spPr>
          <a:xfrm>
            <a:off x="10871200" y="1981200"/>
            <a:ext cx="101600" cy="101600"/>
          </a:xfrm>
          <a:prstGeom prst="ellipse">
            <a:avLst/>
          </a:prstGeom>
          <a:solidFill>
            <a:srgbClr val="F9961F"/>
          </a:solidFill>
          <a:ln>
            <a:noFill/>
          </a:ln>
        </p:spPr>
      </p:sp>
      <p:sp>
        <p:nvSpPr>
          <p:cNvPr id="17" name="c_n3"/>
          <p:cNvSpPr/>
          <p:nvPr/>
        </p:nvSpPr>
        <p:spPr>
          <a:xfrm>
            <a:off x="9347200" y="2870200"/>
            <a:ext cx="101600" cy="101600"/>
          </a:xfrm>
          <a:prstGeom prst="ellipse">
            <a:avLst/>
          </a:prstGeom>
          <a:solidFill>
            <a:srgbClr val="F9961F"/>
          </a:solidFill>
          <a:ln>
            <a:noFill/>
          </a:ln>
        </p:spPr>
      </p:sp>
      <p:sp>
        <p:nvSpPr>
          <p:cNvPr id="18" name="c_n4"/>
          <p:cNvSpPr/>
          <p:nvPr/>
        </p:nvSpPr>
        <p:spPr>
          <a:xfrm>
            <a:off x="10744200" y="3759200"/>
            <a:ext cx="101600" cy="101600"/>
          </a:xfrm>
          <a:prstGeom prst="ellipse">
            <a:avLst/>
          </a:prstGeom>
          <a:solidFill>
            <a:srgbClr val="08BC51"/>
          </a:solidFill>
          <a:ln>
            <a:noFill/>
          </a:ln>
        </p:spPr>
      </p:sp>
      <p:sp>
        <p:nvSpPr>
          <p:cNvPr id="19" name="c_n5"/>
          <p:cNvSpPr/>
          <p:nvPr/>
        </p:nvSpPr>
        <p:spPr>
          <a:xfrm>
            <a:off x="8839200" y="4394200"/>
            <a:ext cx="101600" cy="101600"/>
          </a:xfrm>
          <a:prstGeom prst="ellipse">
            <a:avLst/>
          </a:prstGeom>
          <a:solidFill>
            <a:srgbClr val="F9961F"/>
          </a:solidFill>
          <a:ln>
            <a:noFill/>
          </a:ln>
        </p:spPr>
      </p:sp>
      <p:sp>
        <p:nvSpPr>
          <p:cNvPr id="20" name="c_n6"/>
          <p:cNvSpPr/>
          <p:nvPr/>
        </p:nvSpPr>
        <p:spPr>
          <a:xfrm>
            <a:off x="11379200" y="4902200"/>
            <a:ext cx="101600" cy="101600"/>
          </a:xfrm>
          <a:prstGeom prst="ellipse">
            <a:avLst/>
          </a:prstGeom>
          <a:solidFill>
            <a:srgbClr val="F9961F"/>
          </a:solidFill>
          <a:ln>
            <a:noFill/>
          </a:ln>
        </p:spPr>
      </p:sp>
      <p:sp>
        <p:nvSpPr>
          <p:cNvPr id="21" name="c_n7"/>
          <p:cNvSpPr/>
          <p:nvPr/>
        </p:nvSpPr>
        <p:spPr>
          <a:xfrm>
            <a:off x="10109200" y="5410200"/>
            <a:ext cx="101600" cy="101600"/>
          </a:xfrm>
          <a:prstGeom prst="ellipse">
            <a:avLst/>
          </a:prstGeom>
          <a:solidFill>
            <a:srgbClr val="F9961F"/>
          </a:solidFill>
          <a:ln>
            <a:noFill/>
          </a:ln>
        </p:spPr>
      </p:sp>
      <p:sp>
        <p:nvSpPr>
          <p:cNvPr id="22" name="c_step1"/>
          <p:cNvSpPr/>
          <p:nvPr/>
        </p:nvSpPr>
        <p:spPr>
          <a:xfrm>
            <a:off x="8991600" y="4191000"/>
            <a:ext cx="2590800" cy="431800"/>
          </a:xfrm>
          <a:prstGeom prst="rect">
            <a:avLst/>
          </a:prstGeom>
          <a:solidFill>
            <a:srgbClr val="1058E2"/>
          </a:solidFill>
          <a:ln>
            <a:noFill/>
          </a:ln>
        </p:spPr>
      </p:sp>
      <p:sp>
        <p:nvSpPr>
          <p:cNvPr id="23" name="c_step2"/>
          <p:cNvSpPr/>
          <p:nvPr/>
        </p:nvSpPr>
        <p:spPr>
          <a:xfrm>
            <a:off x="9423400" y="4622800"/>
            <a:ext cx="2159000" cy="431800"/>
          </a:xfrm>
          <a:prstGeom prst="rect">
            <a:avLst/>
          </a:prstGeom>
          <a:solidFill>
            <a:srgbClr val="4C36FD"/>
          </a:solidFill>
          <a:ln>
            <a:noFill/>
          </a:ln>
        </p:spPr>
      </p:sp>
      <p:sp>
        <p:nvSpPr>
          <p:cNvPr id="24" name="c_step3"/>
          <p:cNvSpPr/>
          <p:nvPr/>
        </p:nvSpPr>
        <p:spPr>
          <a:xfrm>
            <a:off x="9855200" y="5054600"/>
            <a:ext cx="1727200" cy="431800"/>
          </a:xfrm>
          <a:prstGeom prst="rect">
            <a:avLst/>
          </a:prstGeom>
          <a:solidFill>
            <a:srgbClr val="08BC51"/>
          </a:solidFill>
          <a:ln>
            <a:noFill/>
          </a:ln>
        </p:spPr>
      </p:sp>
      <p:sp>
        <p:nvSpPr>
          <p:cNvPr id="25" name="c_big"/>
          <p:cNvSpPr txBox="1"/>
          <p:nvPr/>
        </p:nvSpPr>
        <p:spPr>
          <a:xfrm>
            <a:off x="8890000" y="1524000"/>
            <a:ext cx="2794000" cy="152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7400" noProof="1" b="1">
                <a:solidFill>
                  <a:srgbClr val="FFFFFF"/>
                </a:solidFill>
                <a:latin typeface="Archivo Black"/>
                <a:ea typeface="MiSans"/>
              </a:rPr>
              <a:t>314万</a:t>
            </a:r>
            <a:endParaRPr lang="en-US" sz="7400" noProof="1"/>
          </a:p>
        </p:txBody>
      </p:sp>
      <p:sp>
        <p:nvSpPr>
          <p:cNvPr id="26" name="c_big_sub"/>
          <p:cNvSpPr txBox="1"/>
          <p:nvPr/>
        </p:nvSpPr>
        <p:spPr>
          <a:xfrm>
            <a:off x="8940800" y="2997200"/>
            <a:ext cx="2667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A4C9FF"/>
                </a:solidFill>
                <a:latin typeface="Liter"/>
                <a:ea typeface="MiSans"/>
              </a:rPr>
              <a:t>去重开源模型</a:t>
            </a:r>
            <a:endParaRPr lang="en-US" sz="1300" noProof="1"/>
          </a:p>
        </p:txBody>
      </p:sp>
      <p:sp>
        <p:nvSpPr>
          <p:cNvPr id="27" name="c_title"/>
          <p:cNvSpPr txBox="1"/>
          <p:nvPr/>
        </p:nvSpPr>
        <p:spPr>
          <a:xfrm>
            <a:off x="609600" y="3403600"/>
            <a:ext cx="7874000" cy="149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02000"/>
              </a:lnSpc>
            </a:pPr>
            <a:r>
              <a:rPr lang="en-US" sz="4700" noProof="1" b="1">
                <a:solidFill>
                  <a:srgbClr val="FFFFFF"/>
                </a:solidFill>
                <a:latin typeface="Archivo Black"/>
                <a:ea typeface="MiSans"/>
              </a:rPr>
              <a:t>开源 AI 模型生态，
比你想的更“卷”</a:t>
            </a:r>
            <a:endParaRPr lang="en-US" sz="4700" noProof="1"/>
          </a:p>
        </p:txBody>
      </p:sp>
      <p:sp>
        <p:nvSpPr>
          <p:cNvPr id="28" name="c_sub"/>
          <p:cNvSpPr txBox="1"/>
          <p:nvPr/>
        </p:nvSpPr>
        <p:spPr>
          <a:xfrm>
            <a:off x="660400" y="4978400"/>
            <a:ext cx="7620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600" noProof="1">
                <a:solidFill>
                  <a:srgbClr val="F2EFE6"/>
                </a:solidFill>
                <a:latin typeface="Liter"/>
                <a:ea typeface="MiSans"/>
              </a:rPr>
              <a:t>大二大数据作业 · 用 Spark 分析 Hugging Face 上 314 万个模型</a:t>
            </a:r>
            <a:endParaRPr lang="en-US" sz="1600" noProof="1"/>
          </a:p>
        </p:txBody>
      </p:sp>
      <p:sp>
        <p:nvSpPr>
          <p:cNvPr id="29" name="c_rule"/>
          <p:cNvSpPr/>
          <p:nvPr>
            <p:extLst>
              <p:ext uri="{F5677B7D-0D2A-4D9B-9A5C-6D8D7D0E5A5D}">
                <pptd:line encoding="base64url">eyJ2aWV3Qm94IjpbNDIwLDNdLCJwb2ludHMiOiIwLDAgNDIwLDAiLCJjdXJ2ZSI6InNoYXJwIn0</pptd:line>
              </p:ext>
            </p:extLst>
          </p:nvPr>
        </p:nvSpPr>
        <p:spPr>
          <a:xfrm>
            <a:off x="660400" y="5562600"/>
            <a:ext cx="5334000" cy="38100"/>
          </a:xfrm>
          <a:custGeom>
            <a:avLst/>
            <a:gdLst/>
            <a:ahLst/>
            <a:cxnLst/>
            <a:rect l="l" t="t" r="r" b="b"/>
            <a:pathLst>
              <a:path w="420" h="3">
                <a:moveTo>
                  <a:pt x="0" y="0"/>
                </a:moveTo>
                <a:lnTo>
                  <a:pt x="420" y="0"/>
                </a:lnTo>
              </a:path>
            </a:pathLst>
          </a:custGeom>
          <a:noFill/>
          <a:ln w="50800">
            <a:solidFill>
              <a:srgbClr val="F9961F"/>
            </a:solidFill>
          </a:ln>
        </p:spPr>
      </p:sp>
      <p:sp>
        <p:nvSpPr>
          <p:cNvPr id="30" name="c_name"/>
          <p:cNvSpPr txBox="1"/>
          <p:nvPr/>
        </p:nvSpPr>
        <p:spPr>
          <a:xfrm>
            <a:off x="660400" y="5740400"/>
            <a:ext cx="7112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100" noProof="1">
                <a:solidFill>
                  <a:srgbClr val="A4C9FF"/>
                </a:solidFill>
                <a:latin typeface="Liter"/>
                <a:ea typeface="MiSans"/>
              </a:rPr>
              <a:t>姓名 / 课程：大数据技术基础 · 日期：2026-10</a:t>
            </a:r>
            <a:endParaRPr lang="en-US" sz="1100" noProof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2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2_sq"/>
          <p:cNvSpPr/>
          <p:nvPr/>
        </p:nvSpPr>
        <p:spPr>
          <a:xfrm>
            <a:off x="609600" y="330200"/>
            <a:ext cx="165100" cy="165100"/>
          </a:xfrm>
          <a:prstGeom prst="rect">
            <a:avLst/>
          </a:prstGeom>
          <a:solidFill>
            <a:srgbClr val="F9961F"/>
          </a:solidFill>
          <a:ln>
            <a:noFill/>
          </a:ln>
        </p:spPr>
      </p:sp>
      <p:sp>
        <p:nvSpPr>
          <p:cNvPr id="3" name="h2_lab"/>
          <p:cNvSpPr txBox="1"/>
          <p:nvPr/>
        </p:nvSpPr>
        <p:spPr>
          <a:xfrm>
            <a:off x="889000" y="241300"/>
            <a:ext cx="4572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00" noProof="1" b="1" spc="200" kern="0">
                <a:solidFill>
                  <a:srgbClr val="000000"/>
                </a:solidFill>
                <a:latin typeface="Archivo Black"/>
                <a:ea typeface="MiSans"/>
              </a:rPr>
              <a:t>ROADMAP</a:t>
            </a:r>
            <a:endParaRPr lang="en-US" sz="1000" noProof="1"/>
          </a:p>
        </p:txBody>
      </p:sp>
      <p:sp>
        <p:nvSpPr>
          <p:cNvPr id="4" name="t2"/>
          <p:cNvSpPr txBox="1"/>
          <p:nvPr/>
        </p:nvSpPr>
        <p:spPr>
          <a:xfrm>
            <a:off x="609600" y="685800"/>
            <a:ext cx="10972800" cy="736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04000"/>
              </a:lnSpc>
            </a:pPr>
            <a:r>
              <a:rPr lang="en-US" sz="2800" noProof="1" b="1">
                <a:solidFill>
                  <a:srgbClr val="000000"/>
                </a:solidFill>
                <a:latin typeface="Archivo Black"/>
                <a:ea typeface="MiSans"/>
              </a:rPr>
              <a:t>五个部分，重点在中间：踩坑和结果</a:t>
            </a:r>
            <a:endParaRPr lang="en-US" sz="2800" noProof="1"/>
          </a:p>
        </p:txBody>
      </p:sp>
      <p:sp>
        <p:nvSpPr>
          <p:cNvPr id="5" name="st2"/>
          <p:cNvSpPr txBox="1"/>
          <p:nvPr/>
        </p:nvSpPr>
        <p:spPr>
          <a:xfrm>
            <a:off x="609600" y="1422400"/>
            <a:ext cx="10972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1100" noProof="1">
                <a:solidFill>
                  <a:srgbClr val="6E6A60"/>
                </a:solidFill>
                <a:latin typeface="Liter"/>
                <a:ea typeface="MiSans"/>
              </a:rPr>
              <a:t>阅读方式：每页只讲一个结论；先看标题，再看证据。</a:t>
            </a:r>
            <a:endParaRPr lang="en-US" sz="1100" noProof="1"/>
          </a:p>
        </p:txBody>
      </p:sp>
      <p:sp>
        <p:nvSpPr>
          <p:cNvPr id="6" name="f2_rule"/>
          <p:cNvSpPr/>
          <p:nvPr>
            <p:extLst>
              <p:ext uri="{F5677B7D-0D2A-4D9B-9A5C-6D8D7D0E5A5D}">
                <pptd:line encoding="base64url">eyJ2aWV3Qm94IjpbODY0LDJdLCJwb2ludHMiOiIwLDAgODY0LDAiLCJjdXJ2ZSI6InNoYXJwIn0</pptd:line>
              </p:ext>
            </p:extLst>
          </p:nvPr>
        </p:nvSpPr>
        <p:spPr>
          <a:xfrm>
            <a:off x="609600" y="6324600"/>
            <a:ext cx="10972800" cy="25400"/>
          </a:xfrm>
          <a:custGeom>
            <a:avLst/>
            <a:gdLst/>
            <a:ahLst/>
            <a:cxnLst/>
            <a:rect l="l" t="t" r="r" b="b"/>
            <a:pathLst>
              <a:path w="864" h="2">
                <a:moveTo>
                  <a:pt x="0" y="0"/>
                </a:moveTo>
                <a:lnTo>
                  <a:pt x="864" y="0"/>
                </a:lnTo>
              </a:path>
            </a:pathLst>
          </a:custGeom>
          <a:noFill/>
          <a:ln w="12700">
            <a:solidFill>
              <a:srgbClr val="C9C3B6"/>
            </a:solidFill>
          </a:ln>
        </p:spPr>
      </p:sp>
      <p:sp>
        <p:nvSpPr>
          <p:cNvPr id="7" name="f2_src"/>
          <p:cNvSpPr txBox="1"/>
          <p:nvPr/>
        </p:nvSpPr>
        <p:spPr>
          <a:xfrm>
            <a:off x="609600" y="6426200"/>
            <a:ext cx="9144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850" noProof="1">
                <a:solidFill>
                  <a:srgbClr val="6E6A60"/>
                </a:solidFill>
                <a:latin typeface="Liter"/>
                <a:ea typeface="MiSans"/>
              </a:rPr>
              <a:t>来源：项目 results_manifest.json 与用户提供大纲；口径与时间范围见各页标注。</a:t>
            </a:r>
            <a:endParaRPr lang="en-US" sz="850" noProof="1"/>
          </a:p>
        </p:txBody>
      </p:sp>
      <p:sp>
        <p:nvSpPr>
          <p:cNvPr id="8" name="f2_num"/>
          <p:cNvSpPr txBox="1"/>
          <p:nvPr/>
        </p:nvSpPr>
        <p:spPr>
          <a:xfrm>
            <a:off x="10922000" y="6426200"/>
            <a:ext cx="6604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6E6A60"/>
                </a:solidFill>
                <a:latin typeface="JetBrains Mono"/>
                <a:ea typeface="MiSans"/>
              </a:rPr>
              <a:t>02</a:t>
            </a:r>
            <a:endParaRPr lang="en-US" sz="900" noProof="1"/>
          </a:p>
        </p:txBody>
      </p:sp>
      <p:sp>
        <p:nvSpPr>
          <p:cNvPr id="9" name="toc_n0"/>
          <p:cNvSpPr txBox="1"/>
          <p:nvPr/>
        </p:nvSpPr>
        <p:spPr>
          <a:xfrm>
            <a:off x="736600" y="2286000"/>
            <a:ext cx="889000" cy="685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600" noProof="1" b="1">
                <a:solidFill>
                  <a:srgbClr val="F9961F"/>
                </a:solidFill>
                <a:latin typeface="Archivo Black"/>
                <a:ea typeface="MiSans"/>
              </a:rPr>
              <a:t>01</a:t>
            </a:r>
            <a:endParaRPr lang="en-US" sz="3600" noProof="1"/>
          </a:p>
        </p:txBody>
      </p:sp>
      <p:sp>
        <p:nvSpPr>
          <p:cNvPr id="10" name="toc_l0"/>
          <p:cNvSpPr/>
          <p:nvPr>
            <p:extLst>
              <p:ext uri="{F5677B7D-0D2A-4D9B-9A5C-6D8D7D0E5A5D}">
                <pptd:line encoding="base64url">eyJ2aWV3Qm94IjpbMTQ4LDNdLCJwb2ludHMiOiIwLDAgMTQ4LDAiLCJjdXJ2ZSI6InNoYXJwIn0</pptd:line>
              </p:ext>
            </p:extLst>
          </p:nvPr>
        </p:nvSpPr>
        <p:spPr>
          <a:xfrm>
            <a:off x="736600" y="3124200"/>
            <a:ext cx="1879600" cy="38100"/>
          </a:xfrm>
          <a:custGeom>
            <a:avLst/>
            <a:gdLst/>
            <a:ahLst/>
            <a:cxnLst/>
            <a:rect l="l" t="t" r="r" b="b"/>
            <a:pathLst>
              <a:path w="148" h="3">
                <a:moveTo>
                  <a:pt x="0" y="0"/>
                </a:moveTo>
                <a:lnTo>
                  <a:pt x="148" y="0"/>
                </a:lnTo>
              </a:path>
            </a:pathLst>
          </a:custGeom>
          <a:noFill/>
          <a:ln w="38100">
            <a:solidFill>
              <a:srgbClr val="F9961F"/>
            </a:solidFill>
          </a:ln>
        </p:spPr>
      </p:sp>
      <p:sp>
        <p:nvSpPr>
          <p:cNvPr id="11" name="toc_name0"/>
          <p:cNvSpPr txBox="1"/>
          <p:nvPr/>
        </p:nvSpPr>
        <p:spPr>
          <a:xfrm>
            <a:off x="736600" y="3327400"/>
            <a:ext cx="1905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900" noProof="1" b="1">
                <a:solidFill>
                  <a:srgbClr val="000000"/>
                </a:solidFill>
                <a:latin typeface="Archivo Black"/>
                <a:ea typeface="MiSans"/>
              </a:rPr>
              <a:t>研究问题</a:t>
            </a:r>
            <a:endParaRPr lang="en-US" sz="1900" noProof="1"/>
          </a:p>
        </p:txBody>
      </p:sp>
      <p:sp>
        <p:nvSpPr>
          <p:cNvPr id="12" name="toc_desc0"/>
          <p:cNvSpPr txBox="1"/>
          <p:nvPr/>
        </p:nvSpPr>
        <p:spPr>
          <a:xfrm>
            <a:off x="736600" y="3759200"/>
            <a:ext cx="1905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5000"/>
              </a:lnSpc>
            </a:pPr>
            <a:r>
              <a:rPr lang="en-US" sz="1150" noProof="1">
                <a:solidFill>
                  <a:srgbClr val="6E6A60"/>
                </a:solidFill>
                <a:latin typeface="Liter"/>
                <a:ea typeface="MiSans"/>
              </a:rPr>
              <a:t>RQ1–RQ5</a:t>
            </a:r>
            <a:endParaRPr lang="en-US" sz="1150" noProof="1"/>
          </a:p>
        </p:txBody>
      </p:sp>
      <p:sp>
        <p:nvSpPr>
          <p:cNvPr id="13" name="toc_n1"/>
          <p:cNvSpPr txBox="1"/>
          <p:nvPr/>
        </p:nvSpPr>
        <p:spPr>
          <a:xfrm>
            <a:off x="2997200" y="2286000"/>
            <a:ext cx="889000" cy="685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600" noProof="1" b="1">
                <a:solidFill>
                  <a:srgbClr val="08BC51"/>
                </a:solidFill>
                <a:latin typeface="Archivo Black"/>
                <a:ea typeface="MiSans"/>
              </a:rPr>
              <a:t>02</a:t>
            </a:r>
            <a:endParaRPr lang="en-US" sz="3600" noProof="1"/>
          </a:p>
        </p:txBody>
      </p:sp>
      <p:sp>
        <p:nvSpPr>
          <p:cNvPr id="14" name="toc_l1"/>
          <p:cNvSpPr/>
          <p:nvPr>
            <p:extLst>
              <p:ext uri="{F5677B7D-0D2A-4D9B-9A5C-6D8D7D0E5A5D}">
                <pptd:line encoding="base64url">eyJ2aWV3Qm94IjpbMTQ4LDNdLCJwb2ludHMiOiIwLDAgMTQ4LDAiLCJjdXJ2ZSI6InNoYXJwIn0</pptd:line>
              </p:ext>
            </p:extLst>
          </p:nvPr>
        </p:nvSpPr>
        <p:spPr>
          <a:xfrm>
            <a:off x="2997200" y="3124200"/>
            <a:ext cx="1879600" cy="38100"/>
          </a:xfrm>
          <a:custGeom>
            <a:avLst/>
            <a:gdLst/>
            <a:ahLst/>
            <a:cxnLst/>
            <a:rect l="l" t="t" r="r" b="b"/>
            <a:pathLst>
              <a:path w="148" h="3">
                <a:moveTo>
                  <a:pt x="0" y="0"/>
                </a:moveTo>
                <a:lnTo>
                  <a:pt x="148" y="0"/>
                </a:lnTo>
              </a:path>
            </a:pathLst>
          </a:custGeom>
          <a:noFill/>
          <a:ln w="38100">
            <a:solidFill>
              <a:srgbClr val="08BC51"/>
            </a:solidFill>
          </a:ln>
        </p:spPr>
      </p:sp>
      <p:sp>
        <p:nvSpPr>
          <p:cNvPr id="15" name="toc_name1"/>
          <p:cNvSpPr txBox="1"/>
          <p:nvPr/>
        </p:nvSpPr>
        <p:spPr>
          <a:xfrm>
            <a:off x="2997200" y="3327400"/>
            <a:ext cx="1905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900" noProof="1" b="1">
                <a:solidFill>
                  <a:srgbClr val="000000"/>
                </a:solidFill>
                <a:latin typeface="Archivo Black"/>
                <a:ea typeface="MiSans"/>
              </a:rPr>
              <a:t>数据与方法</a:t>
            </a:r>
            <a:endParaRPr lang="en-US" sz="1900" noProof="1"/>
          </a:p>
        </p:txBody>
      </p:sp>
      <p:sp>
        <p:nvSpPr>
          <p:cNvPr id="16" name="toc_desc1"/>
          <p:cNvSpPr txBox="1"/>
          <p:nvPr/>
        </p:nvSpPr>
        <p:spPr>
          <a:xfrm>
            <a:off x="2997200" y="3759200"/>
            <a:ext cx="1905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5000"/>
              </a:lnSpc>
            </a:pPr>
            <a:r>
              <a:rPr lang="en-US" sz="1150" noProof="1">
                <a:solidFill>
                  <a:srgbClr val="6E6A60"/>
                </a:solidFill>
                <a:latin typeface="Liter"/>
                <a:ea typeface="MiSans"/>
              </a:rPr>
              <a:t>314 万行怎么洗</a:t>
            </a:r>
            <a:endParaRPr lang="en-US" sz="1150" noProof="1"/>
          </a:p>
        </p:txBody>
      </p:sp>
      <p:sp>
        <p:nvSpPr>
          <p:cNvPr id="17" name="toc_n2"/>
          <p:cNvSpPr txBox="1"/>
          <p:nvPr/>
        </p:nvSpPr>
        <p:spPr>
          <a:xfrm>
            <a:off x="5257800" y="2286000"/>
            <a:ext cx="889000" cy="685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600" noProof="1" b="1">
                <a:solidFill>
                  <a:srgbClr val="FFC1A8"/>
                </a:solidFill>
                <a:latin typeface="Archivo Black"/>
                <a:ea typeface="MiSans"/>
              </a:rPr>
              <a:t>03</a:t>
            </a:r>
            <a:endParaRPr lang="en-US" sz="3600" noProof="1"/>
          </a:p>
        </p:txBody>
      </p:sp>
      <p:sp>
        <p:nvSpPr>
          <p:cNvPr id="18" name="toc_l2"/>
          <p:cNvSpPr/>
          <p:nvPr>
            <p:extLst>
              <p:ext uri="{F5677B7D-0D2A-4D9B-9A5C-6D8D7D0E5A5D}">
                <pptd:line encoding="base64url">eyJ2aWV3Qm94IjpbMTQ4LDNdLCJwb2ludHMiOiIwLDAgMTQ4LDAiLCJjdXJ2ZSI6InNoYXJwIn0</pptd:line>
              </p:ext>
            </p:extLst>
          </p:nvPr>
        </p:nvSpPr>
        <p:spPr>
          <a:xfrm>
            <a:off x="5257800" y="3124200"/>
            <a:ext cx="1879600" cy="38100"/>
          </a:xfrm>
          <a:custGeom>
            <a:avLst/>
            <a:gdLst/>
            <a:ahLst/>
            <a:cxnLst/>
            <a:rect l="l" t="t" r="r" b="b"/>
            <a:pathLst>
              <a:path w="148" h="3">
                <a:moveTo>
                  <a:pt x="0" y="0"/>
                </a:moveTo>
                <a:lnTo>
                  <a:pt x="148" y="0"/>
                </a:lnTo>
              </a:path>
            </a:pathLst>
          </a:custGeom>
          <a:noFill/>
          <a:ln w="38100">
            <a:solidFill>
              <a:srgbClr val="FFC1A8"/>
            </a:solidFill>
          </a:ln>
        </p:spPr>
      </p:sp>
      <p:sp>
        <p:nvSpPr>
          <p:cNvPr id="19" name="toc_name2"/>
          <p:cNvSpPr txBox="1"/>
          <p:nvPr/>
        </p:nvSpPr>
        <p:spPr>
          <a:xfrm>
            <a:off x="5257800" y="3327400"/>
            <a:ext cx="1905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900" noProof="1" b="1">
                <a:solidFill>
                  <a:srgbClr val="000000"/>
                </a:solidFill>
                <a:latin typeface="Archivo Black"/>
                <a:ea typeface="MiSans"/>
              </a:rPr>
              <a:t>踩坑记录</a:t>
            </a:r>
            <a:endParaRPr lang="en-US" sz="1900" noProof="1"/>
          </a:p>
        </p:txBody>
      </p:sp>
      <p:sp>
        <p:nvSpPr>
          <p:cNvPr id="20" name="toc_desc2"/>
          <p:cNvSpPr txBox="1"/>
          <p:nvPr/>
        </p:nvSpPr>
        <p:spPr>
          <a:xfrm>
            <a:off x="5257800" y="3759200"/>
            <a:ext cx="1905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5000"/>
              </a:lnSpc>
            </a:pPr>
            <a:r>
              <a:rPr lang="en-US" sz="1150" noProof="1">
                <a:solidFill>
                  <a:srgbClr val="6E6A60"/>
                </a:solidFill>
                <a:latin typeface="Liter"/>
                <a:ea typeface="MiSans"/>
              </a:rPr>
              <a:t>Windows / 时区 / 图计算</a:t>
            </a:r>
            <a:endParaRPr lang="en-US" sz="1150" noProof="1"/>
          </a:p>
        </p:txBody>
      </p:sp>
      <p:sp>
        <p:nvSpPr>
          <p:cNvPr id="21" name="toc_n3"/>
          <p:cNvSpPr txBox="1"/>
          <p:nvPr/>
        </p:nvSpPr>
        <p:spPr>
          <a:xfrm>
            <a:off x="7518400" y="2286000"/>
            <a:ext cx="889000" cy="685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600" noProof="1" b="1">
                <a:solidFill>
                  <a:srgbClr val="D772FF"/>
                </a:solidFill>
                <a:latin typeface="Archivo Black"/>
                <a:ea typeface="MiSans"/>
              </a:rPr>
              <a:t>04</a:t>
            </a:r>
            <a:endParaRPr lang="en-US" sz="3600" noProof="1"/>
          </a:p>
        </p:txBody>
      </p:sp>
      <p:sp>
        <p:nvSpPr>
          <p:cNvPr id="22" name="toc_l3"/>
          <p:cNvSpPr/>
          <p:nvPr>
            <p:extLst>
              <p:ext uri="{F5677B7D-0D2A-4D9B-9A5C-6D8D7D0E5A5D}">
                <pptd:line encoding="base64url">eyJ2aWV3Qm94IjpbMTQ4LDNdLCJwb2ludHMiOiIwLDAgMTQ4LDAiLCJjdXJ2ZSI6InNoYXJwIn0</pptd:line>
              </p:ext>
            </p:extLst>
          </p:nvPr>
        </p:nvSpPr>
        <p:spPr>
          <a:xfrm>
            <a:off x="7518400" y="3124200"/>
            <a:ext cx="1879600" cy="38100"/>
          </a:xfrm>
          <a:custGeom>
            <a:avLst/>
            <a:gdLst/>
            <a:ahLst/>
            <a:cxnLst/>
            <a:rect l="l" t="t" r="r" b="b"/>
            <a:pathLst>
              <a:path w="148" h="3">
                <a:moveTo>
                  <a:pt x="0" y="0"/>
                </a:moveTo>
                <a:lnTo>
                  <a:pt x="148" y="0"/>
                </a:lnTo>
              </a:path>
            </a:pathLst>
          </a:custGeom>
          <a:noFill/>
          <a:ln w="38100">
            <a:solidFill>
              <a:srgbClr val="D772FF"/>
            </a:solidFill>
          </a:ln>
        </p:spPr>
      </p:sp>
      <p:sp>
        <p:nvSpPr>
          <p:cNvPr id="23" name="toc_name3"/>
          <p:cNvSpPr txBox="1"/>
          <p:nvPr/>
        </p:nvSpPr>
        <p:spPr>
          <a:xfrm>
            <a:off x="7518400" y="3327400"/>
            <a:ext cx="1905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900" noProof="1" b="1">
                <a:solidFill>
                  <a:srgbClr val="000000"/>
                </a:solidFill>
                <a:latin typeface="Archivo Black"/>
                <a:ea typeface="MiSans"/>
              </a:rPr>
              <a:t>实验结果</a:t>
            </a:r>
            <a:endParaRPr lang="en-US" sz="1900" noProof="1"/>
          </a:p>
        </p:txBody>
      </p:sp>
      <p:sp>
        <p:nvSpPr>
          <p:cNvPr id="24" name="toc_desc3"/>
          <p:cNvSpPr txBox="1"/>
          <p:nvPr/>
        </p:nvSpPr>
        <p:spPr>
          <a:xfrm>
            <a:off x="7518400" y="3759200"/>
            <a:ext cx="1905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5000"/>
              </a:lnSpc>
            </a:pPr>
            <a:r>
              <a:rPr lang="en-US" sz="1150" noProof="1">
                <a:solidFill>
                  <a:srgbClr val="6E6A60"/>
                </a:solidFill>
                <a:latin typeface="Liter"/>
                <a:ea typeface="MiSans"/>
              </a:rPr>
              <a:t>5 组结论</a:t>
            </a:r>
            <a:endParaRPr lang="en-US" sz="1150" noProof="1"/>
          </a:p>
        </p:txBody>
      </p:sp>
      <p:sp>
        <p:nvSpPr>
          <p:cNvPr id="25" name="toc_n4"/>
          <p:cNvSpPr txBox="1"/>
          <p:nvPr/>
        </p:nvSpPr>
        <p:spPr>
          <a:xfrm>
            <a:off x="9779000" y="2286000"/>
            <a:ext cx="889000" cy="685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600" noProof="1" b="1">
                <a:solidFill>
                  <a:srgbClr val="4C36FD"/>
                </a:solidFill>
                <a:latin typeface="Archivo Black"/>
                <a:ea typeface="MiSans"/>
              </a:rPr>
              <a:t>05</a:t>
            </a:r>
            <a:endParaRPr lang="en-US" sz="3600" noProof="1"/>
          </a:p>
        </p:txBody>
      </p:sp>
      <p:sp>
        <p:nvSpPr>
          <p:cNvPr id="26" name="toc_l4"/>
          <p:cNvSpPr/>
          <p:nvPr>
            <p:extLst>
              <p:ext uri="{F5677B7D-0D2A-4D9B-9A5C-6D8D7D0E5A5D}">
                <pptd:line encoding="base64url">eyJ2aWV3Qm94IjpbMTQ4LDNdLCJwb2ludHMiOiIwLDAgMTQ4LDAiLCJjdXJ2ZSI6InNoYXJwIn0</pptd:line>
              </p:ext>
            </p:extLst>
          </p:nvPr>
        </p:nvSpPr>
        <p:spPr>
          <a:xfrm>
            <a:off x="9779000" y="3124200"/>
            <a:ext cx="1879600" cy="38100"/>
          </a:xfrm>
          <a:custGeom>
            <a:avLst/>
            <a:gdLst/>
            <a:ahLst/>
            <a:cxnLst/>
            <a:rect l="l" t="t" r="r" b="b"/>
            <a:pathLst>
              <a:path w="148" h="3">
                <a:moveTo>
                  <a:pt x="0" y="0"/>
                </a:moveTo>
                <a:lnTo>
                  <a:pt x="148" y="0"/>
                </a:lnTo>
              </a:path>
            </a:pathLst>
          </a:custGeom>
          <a:noFill/>
          <a:ln w="38100">
            <a:solidFill>
              <a:srgbClr val="4C36FD"/>
            </a:solidFill>
          </a:ln>
        </p:spPr>
      </p:sp>
      <p:sp>
        <p:nvSpPr>
          <p:cNvPr id="27" name="toc_name4"/>
          <p:cNvSpPr txBox="1"/>
          <p:nvPr/>
        </p:nvSpPr>
        <p:spPr>
          <a:xfrm>
            <a:off x="9779000" y="3327400"/>
            <a:ext cx="1905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900" noProof="1" b="1">
                <a:solidFill>
                  <a:srgbClr val="000000"/>
                </a:solidFill>
                <a:latin typeface="Archivo Black"/>
                <a:ea typeface="MiSans"/>
              </a:rPr>
              <a:t>创新与总结</a:t>
            </a:r>
            <a:endParaRPr lang="en-US" sz="1900" noProof="1"/>
          </a:p>
        </p:txBody>
      </p:sp>
      <p:sp>
        <p:nvSpPr>
          <p:cNvPr id="28" name="toc_desc4"/>
          <p:cNvSpPr txBox="1"/>
          <p:nvPr/>
        </p:nvSpPr>
        <p:spPr>
          <a:xfrm>
            <a:off x="9779000" y="3759200"/>
            <a:ext cx="1905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5000"/>
              </a:lnSpc>
            </a:pPr>
            <a:r>
              <a:rPr lang="en-US" sz="1150" noProof="1">
                <a:solidFill>
                  <a:srgbClr val="6E6A60"/>
                </a:solidFill>
                <a:latin typeface="Liter"/>
                <a:ea typeface="MiSans"/>
              </a:rPr>
              <a:t>4 个亮点 + 边界</a:t>
            </a:r>
            <a:endParaRPr lang="en-US" sz="1150" noProof="1"/>
          </a:p>
        </p:txBody>
      </p:sp>
      <p:sp>
        <p:nvSpPr>
          <p:cNvPr id="29" name="toc_tip"/>
          <p:cNvSpPr txBox="1"/>
          <p:nvPr/>
        </p:nvSpPr>
        <p:spPr>
          <a:xfrm>
            <a:off x="736600" y="4927600"/>
            <a:ext cx="10668000" cy="736600"/>
          </a:xfrm>
          <a:prstGeom prst="rect">
            <a:avLst/>
          </a:prstGeom>
          <a:solidFill>
            <a:srgbClr val="FFC1A8"/>
          </a:solidFill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2100" noProof="1" b="1">
                <a:solidFill>
                  <a:srgbClr val="000000"/>
                </a:solidFill>
                <a:latin typeface="Archivo Black"/>
                <a:ea typeface="MiSans"/>
              </a:rPr>
              <a:t>一句话预告：1% 的模型拿走 97% 的下载；模型之间像 GitHub 一样互相 fork。</a:t>
            </a:r>
            <a:endParaRPr lang="en-US" sz="2100" noProof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2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3_sq"/>
          <p:cNvSpPr/>
          <p:nvPr/>
        </p:nvSpPr>
        <p:spPr>
          <a:xfrm>
            <a:off x="609600" y="330200"/>
            <a:ext cx="165100" cy="165100"/>
          </a:xfrm>
          <a:prstGeom prst="rect">
            <a:avLst/>
          </a:prstGeom>
          <a:solidFill>
            <a:srgbClr val="F9961F"/>
          </a:solidFill>
          <a:ln>
            <a:noFill/>
          </a:ln>
        </p:spPr>
      </p:sp>
      <p:sp>
        <p:nvSpPr>
          <p:cNvPr id="3" name="h3_lab"/>
          <p:cNvSpPr txBox="1"/>
          <p:nvPr/>
        </p:nvSpPr>
        <p:spPr>
          <a:xfrm>
            <a:off x="889000" y="241300"/>
            <a:ext cx="4572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00" noProof="1" b="1" spc="200" kern="0">
                <a:solidFill>
                  <a:srgbClr val="000000"/>
                </a:solidFill>
                <a:latin typeface="Archivo Black"/>
                <a:ea typeface="MiSans"/>
              </a:rPr>
              <a:t>01 QUESTION</a:t>
            </a:r>
            <a:endParaRPr lang="en-US" sz="1000" noProof="1"/>
          </a:p>
        </p:txBody>
      </p:sp>
      <p:sp>
        <p:nvSpPr>
          <p:cNvPr id="4" name="t3"/>
          <p:cNvSpPr txBox="1"/>
          <p:nvPr/>
        </p:nvSpPr>
        <p:spPr>
          <a:xfrm>
            <a:off x="609600" y="685800"/>
            <a:ext cx="10972800" cy="736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04000"/>
              </a:lnSpc>
            </a:pPr>
            <a:r>
              <a:rPr lang="en-US" sz="2800" noProof="1" b="1">
                <a:solidFill>
                  <a:srgbClr val="000000"/>
                </a:solidFill>
                <a:latin typeface="Archivo Black"/>
                <a:ea typeface="MiSans"/>
              </a:rPr>
              <a:t>GitHub 有 314 万个仓库，Hugging Face 有 314 万个模型</a:t>
            </a:r>
            <a:endParaRPr lang="en-US" sz="2800" noProof="1"/>
          </a:p>
        </p:txBody>
      </p:sp>
      <p:sp>
        <p:nvSpPr>
          <p:cNvPr id="5" name="st3"/>
          <p:cNvSpPr txBox="1"/>
          <p:nvPr/>
        </p:nvSpPr>
        <p:spPr>
          <a:xfrm>
            <a:off x="609600" y="1422400"/>
            <a:ext cx="10972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1100" noProof="1">
                <a:solidFill>
                  <a:srgbClr val="6E6A60"/>
                </a:solidFill>
                <a:latin typeface="Liter"/>
                <a:ea typeface="MiSans"/>
              </a:rPr>
              <a:t>范围：Hugging Face 公开可见模型快照；年度新增按创建时间归集（用户提供口径）。</a:t>
            </a:r>
            <a:endParaRPr lang="en-US" sz="1100" noProof="1"/>
          </a:p>
        </p:txBody>
      </p:sp>
      <p:sp>
        <p:nvSpPr>
          <p:cNvPr id="6" name="f3_rule"/>
          <p:cNvSpPr/>
          <p:nvPr>
            <p:extLst>
              <p:ext uri="{F5677B7D-0D2A-4D9B-9A5C-6D8D7D0E5A5D}">
                <pptd:line encoding="base64url">eyJ2aWV3Qm94IjpbODY0LDJdLCJwb2ludHMiOiIwLDAgODY0LDAiLCJjdXJ2ZSI6InNoYXJwIn0</pptd:line>
              </p:ext>
            </p:extLst>
          </p:nvPr>
        </p:nvSpPr>
        <p:spPr>
          <a:xfrm>
            <a:off x="609600" y="6324600"/>
            <a:ext cx="10972800" cy="25400"/>
          </a:xfrm>
          <a:custGeom>
            <a:avLst/>
            <a:gdLst/>
            <a:ahLst/>
            <a:cxnLst/>
            <a:rect l="l" t="t" r="r" b="b"/>
            <a:pathLst>
              <a:path w="864" h="2">
                <a:moveTo>
                  <a:pt x="0" y="0"/>
                </a:moveTo>
                <a:lnTo>
                  <a:pt x="864" y="0"/>
                </a:lnTo>
              </a:path>
            </a:pathLst>
          </a:custGeom>
          <a:noFill/>
          <a:ln w="12700">
            <a:solidFill>
              <a:srgbClr val="C9C3B6"/>
            </a:solidFill>
          </a:ln>
        </p:spPr>
      </p:sp>
      <p:sp>
        <p:nvSpPr>
          <p:cNvPr id="7" name="f3_src"/>
          <p:cNvSpPr txBox="1"/>
          <p:nvPr/>
        </p:nvSpPr>
        <p:spPr>
          <a:xfrm>
            <a:off x="609600" y="6426200"/>
            <a:ext cx="9144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850" noProof="1">
                <a:solidFill>
                  <a:srgbClr val="6E6A60"/>
                </a:solidFill>
                <a:latin typeface="Liter"/>
                <a:ea typeface="MiSans"/>
              </a:rPr>
              <a:t>来源：项目 results_manifest.json 与用户提供大纲；口径与时间范围见各页标注。</a:t>
            </a:r>
            <a:endParaRPr lang="en-US" sz="850" noProof="1"/>
          </a:p>
        </p:txBody>
      </p:sp>
      <p:sp>
        <p:nvSpPr>
          <p:cNvPr id="8" name="f3_num"/>
          <p:cNvSpPr txBox="1"/>
          <p:nvPr/>
        </p:nvSpPr>
        <p:spPr>
          <a:xfrm>
            <a:off x="10922000" y="6426200"/>
            <a:ext cx="6604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6E6A60"/>
                </a:solidFill>
                <a:latin typeface="JetBrains Mono"/>
                <a:ea typeface="MiSans"/>
              </a:rPr>
              <a:t>03</a:t>
            </a:r>
            <a:endParaRPr lang="en-US" sz="900" noProof="1"/>
          </a:p>
        </p:txBody>
      </p:sp>
      <p:sp>
        <p:nvSpPr>
          <p:cNvPr id="9" name="p3_left"/>
          <p:cNvSpPr txBox="1"/>
          <p:nvPr/>
        </p:nvSpPr>
        <p:spPr>
          <a:xfrm>
            <a:off x="660400" y="2006600"/>
            <a:ext cx="3175000" cy="266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5000"/>
              </a:lnSpc>
            </a:pPr>
            <a:r>
              <a:rPr lang="en-US" sz="2000" noProof="1" b="1">
                <a:solidFill>
                  <a:srgbClr val="000000"/>
                </a:solidFill>
                <a:latin typeface="Liter"/>
                <a:ea typeface="MiSans"/>
              </a:rPr>
              <a:t>三件事没人系统算过</a:t>
            </a:r>
            <a:endParaRPr lang="en-US" sz="1400" noProof="1"/>
          </a:p>
          <a:p>
            <a:pPr>
              <a:lnSpc>
                <a:spcPct val="135000"/>
              </a:lnSpc>
              <a:spcBef>
                <a:spcPts val="1400"/>
              </a:spcBef>
            </a:pPr>
            <a:r>
              <a:rPr lang="en-US" sz="1400" noProof="1">
                <a:solidFill>
                  <a:srgbClr val="000000"/>
                </a:solidFill>
                <a:latin typeface="Liter"/>
                <a:ea typeface="MiSans"/>
              </a:rPr>
              <a:t>① 头部模型拿走绝大多数下载</a:t>
            </a:r>
            <a:endParaRPr lang="en-US" sz="1400" noProof="1"/>
          </a:p>
          <a:p>
            <a:pPr>
              <a:lnSpc>
                <a:spcPct val="135000"/>
              </a:lnSpc>
              <a:spcBef>
                <a:spcPts val="800"/>
              </a:spcBef>
            </a:pPr>
            <a:r>
              <a:rPr lang="en-US" sz="1400" noProof="1">
                <a:solidFill>
                  <a:srgbClr val="000000"/>
                </a:solidFill>
                <a:latin typeface="Liter"/>
                <a:ea typeface="MiSans"/>
              </a:rPr>
              <a:t>② 模型像 GitHub 一样互相 fork</a:t>
            </a:r>
            <a:endParaRPr lang="en-US" sz="1400" noProof="1"/>
          </a:p>
          <a:p>
            <a:pPr>
              <a:lnSpc>
                <a:spcPct val="135000"/>
              </a:lnSpc>
              <a:spcBef>
                <a:spcPts val="800"/>
              </a:spcBef>
            </a:pPr>
            <a:r>
              <a:rPr lang="en-US" sz="1400" noProof="1">
                <a:solidFill>
                  <a:srgbClr val="000000"/>
                </a:solidFill>
                <a:latin typeface="Liter"/>
                <a:ea typeface="MiSans"/>
              </a:rPr>
              <a:t>③ 不同任务冷热差老远</a:t>
            </a:r>
            <a:endParaRPr lang="en-US" sz="1400" noProof="1"/>
          </a:p>
          <a:p>
            <a:pPr>
              <a:lnSpc>
                <a:spcPct val="135000"/>
              </a:lnSpc>
              <a:spcBef>
                <a:spcPts val="1600"/>
              </a:spcBef>
            </a:pPr>
            <a:r>
              <a:rPr lang="en-US" sz="1400" noProof="1">
                <a:solidFill>
                  <a:srgbClr val="000000"/>
                </a:solidFill>
                <a:latin typeface="Liter"/>
                <a:ea typeface="MiSans"/>
              </a:rPr>
              <a:t>目标：用课上的 Spark 把这三件事量化。</a:t>
            </a:r>
            <a:endParaRPr lang="en-US" sz="1400" noProof="1"/>
          </a:p>
        </p:txBody>
      </p:sp>
      <p:sp>
        <p:nvSpPr>
          <p:cNvPr id="10" name="p3_call"/>
          <p:cNvSpPr/>
          <p:nvPr/>
        </p:nvSpPr>
        <p:spPr>
          <a:xfrm>
            <a:off x="660400" y="4927600"/>
            <a:ext cx="3175000" cy="812800"/>
          </a:xfrm>
          <a:prstGeom prst="rect">
            <a:avLst/>
          </a:prstGeom>
          <a:solidFill>
            <a:srgbClr val="F9961F">
              <a:alpha val="16000"/>
            </a:srgbClr>
          </a:solidFill>
          <a:ln>
            <a:noFill/>
          </a:ln>
        </p:spPr>
      </p:sp>
      <p:sp>
        <p:nvSpPr>
          <p:cNvPr id="11" name="p3_call_t"/>
          <p:cNvSpPr txBox="1"/>
          <p:nvPr/>
        </p:nvSpPr>
        <p:spPr>
          <a:xfrm>
            <a:off x="812800" y="5054600"/>
            <a:ext cx="28702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0000"/>
              </a:lnSpc>
            </a:pPr>
            <a:r>
              <a:rPr lang="en-US" sz="1300" noProof="1">
                <a:solidFill>
                  <a:srgbClr val="000000"/>
                </a:solidFill>
                <a:latin typeface="Liter"/>
                <a:ea typeface="MiSans"/>
              </a:rPr>
              <a:t>类比：这不是“模型社区”，更像一个巨型 GitHub。</a:t>
            </a:r>
            <a:endParaRPr lang="en-US" sz="1300" noProof="1"/>
          </a:p>
        </p:txBody>
      </p:sp>
      <p:graphicFrame>
        <p:nvGraphicFramePr>
          <p:cNvPr id="12" name="p3_chart"/>
          <p:cNvGraphicFramePr/>
          <p:nvPr/>
        </p:nvGraphicFramePr>
        <p:xfrm>
          <a:off x="4191000" y="2006600"/>
          <a:ext cx="7366000" cy="3810000"/>
        </p:xfrm>
        <a:graphic>
          <a:graphicData uri="http://schemas.openxmlformats.org/drawingml/2006/chart">
            <c:chart r:id="rId2"/>
          </a:graphicData>
        </a:graphic>
      </p:graphicFrame>
      <p:sp>
        <p:nvSpPr>
          <p:cNvPr id="13" name="p3_note"/>
          <p:cNvSpPr txBox="1"/>
          <p:nvPr/>
        </p:nvSpPr>
        <p:spPr>
          <a:xfrm>
            <a:off x="4191000" y="5918200"/>
            <a:ext cx="7366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950" noProof="1">
                <a:solidFill>
                  <a:srgbClr val="6E6A60"/>
                </a:solidFill>
                <a:latin typeface="Liter"/>
                <a:ea typeface="MiSans"/>
              </a:rPr>
              <a:t>2022→2025 年新增：10.0 → 31.8 → 74.0 → 110.0 万个；首月时间戳异常仅作观测。</a:t>
            </a:r>
            <a:endParaRPr lang="en-US" sz="950" noProof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2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4_sq"/>
          <p:cNvSpPr/>
          <p:nvPr/>
        </p:nvSpPr>
        <p:spPr>
          <a:xfrm>
            <a:off x="609600" y="330200"/>
            <a:ext cx="165100" cy="165100"/>
          </a:xfrm>
          <a:prstGeom prst="rect">
            <a:avLst/>
          </a:prstGeom>
          <a:solidFill>
            <a:srgbClr val="F9961F"/>
          </a:solidFill>
          <a:ln>
            <a:noFill/>
          </a:ln>
        </p:spPr>
      </p:sp>
      <p:sp>
        <p:nvSpPr>
          <p:cNvPr id="3" name="h4_lab"/>
          <p:cNvSpPr txBox="1"/>
          <p:nvPr/>
        </p:nvSpPr>
        <p:spPr>
          <a:xfrm>
            <a:off x="889000" y="241300"/>
            <a:ext cx="4572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00" noProof="1" b="1" spc="200" kern="0">
                <a:solidFill>
                  <a:srgbClr val="000000"/>
                </a:solidFill>
                <a:latin typeface="Archivo Black"/>
                <a:ea typeface="MiSans"/>
              </a:rPr>
              <a:t>01 QUESTION</a:t>
            </a:r>
            <a:endParaRPr lang="en-US" sz="1000" noProof="1"/>
          </a:p>
        </p:txBody>
      </p:sp>
      <p:sp>
        <p:nvSpPr>
          <p:cNvPr id="4" name="t4"/>
          <p:cNvSpPr txBox="1"/>
          <p:nvPr/>
        </p:nvSpPr>
        <p:spPr>
          <a:xfrm>
            <a:off x="609600" y="685800"/>
            <a:ext cx="10972800" cy="736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04000"/>
              </a:lnSpc>
            </a:pPr>
            <a:r>
              <a:rPr lang="en-US" sz="2800" noProof="1" b="1">
                <a:solidFill>
                  <a:srgbClr val="000000"/>
                </a:solidFill>
                <a:latin typeface="Archivo Black"/>
                <a:ea typeface="MiSans"/>
              </a:rPr>
              <a:t>5 个问题，5 种方法；RQ4 只做关联，不算命</a:t>
            </a:r>
            <a:endParaRPr lang="en-US" sz="2800" noProof="1"/>
          </a:p>
        </p:txBody>
      </p:sp>
      <p:sp>
        <p:nvSpPr>
          <p:cNvPr id="5" name="st4"/>
          <p:cNvSpPr txBox="1"/>
          <p:nvPr/>
        </p:nvSpPr>
        <p:spPr>
          <a:xfrm>
            <a:off x="609600" y="1422400"/>
            <a:ext cx="10972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1100" noProof="1">
                <a:solidFill>
                  <a:srgbClr val="6E6A60"/>
                </a:solidFill>
                <a:latin typeface="Liter"/>
                <a:ea typeface="MiSans"/>
              </a:rPr>
              <a:t>边界：RQ4 是同期统计关联，不预测未来会不会火。</a:t>
            </a:r>
            <a:endParaRPr lang="en-US" sz="1100" noProof="1"/>
          </a:p>
        </p:txBody>
      </p:sp>
      <p:sp>
        <p:nvSpPr>
          <p:cNvPr id="6" name="f4_rule"/>
          <p:cNvSpPr/>
          <p:nvPr>
            <p:extLst>
              <p:ext uri="{F5677B7D-0D2A-4D9B-9A5C-6D8D7D0E5A5D}">
                <pptd:line encoding="base64url">eyJ2aWV3Qm94IjpbODY0LDJdLCJwb2ludHMiOiIwLDAgODY0LDAiLCJjdXJ2ZSI6InNoYXJwIn0</pptd:line>
              </p:ext>
            </p:extLst>
          </p:nvPr>
        </p:nvSpPr>
        <p:spPr>
          <a:xfrm>
            <a:off x="609600" y="6324600"/>
            <a:ext cx="10972800" cy="25400"/>
          </a:xfrm>
          <a:custGeom>
            <a:avLst/>
            <a:gdLst/>
            <a:ahLst/>
            <a:cxnLst/>
            <a:rect l="l" t="t" r="r" b="b"/>
            <a:pathLst>
              <a:path w="864" h="2">
                <a:moveTo>
                  <a:pt x="0" y="0"/>
                </a:moveTo>
                <a:lnTo>
                  <a:pt x="864" y="0"/>
                </a:lnTo>
              </a:path>
            </a:pathLst>
          </a:custGeom>
          <a:noFill/>
          <a:ln w="12700">
            <a:solidFill>
              <a:srgbClr val="C9C3B6"/>
            </a:solidFill>
          </a:ln>
        </p:spPr>
      </p:sp>
      <p:sp>
        <p:nvSpPr>
          <p:cNvPr id="7" name="f4_src"/>
          <p:cNvSpPr txBox="1"/>
          <p:nvPr/>
        </p:nvSpPr>
        <p:spPr>
          <a:xfrm>
            <a:off x="609600" y="6426200"/>
            <a:ext cx="9144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850" noProof="1">
                <a:solidFill>
                  <a:srgbClr val="6E6A60"/>
                </a:solidFill>
                <a:latin typeface="Liter"/>
                <a:ea typeface="MiSans"/>
              </a:rPr>
              <a:t>来源：项目 results_manifest.json 与用户提供大纲；口径与时间范围见各页标注。</a:t>
            </a:r>
            <a:endParaRPr lang="en-US" sz="850" noProof="1"/>
          </a:p>
        </p:txBody>
      </p:sp>
      <p:sp>
        <p:nvSpPr>
          <p:cNvPr id="8" name="f4_num"/>
          <p:cNvSpPr txBox="1"/>
          <p:nvPr/>
        </p:nvSpPr>
        <p:spPr>
          <a:xfrm>
            <a:off x="10922000" y="6426200"/>
            <a:ext cx="6604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6E6A60"/>
                </a:solidFill>
                <a:latin typeface="JetBrains Mono"/>
                <a:ea typeface="MiSans"/>
              </a:rPr>
              <a:t>04</a:t>
            </a:r>
            <a:endParaRPr lang="en-US" sz="900" noProof="1"/>
          </a:p>
        </p:txBody>
      </p:sp>
      <p:graphicFrame>
        <p:nvGraphicFramePr>
          <p:cNvPr id="9" name="p4_table"/>
          <p:cNvGraphicFramePr>
            <a:graphicFrameLocks noGrp="1"/>
          </p:cNvGraphicFramePr>
          <p:nvPr/>
        </p:nvGraphicFramePr>
        <p:xfrm>
          <a:off x="889000" y="2032000"/>
          <a:ext cx="10414000" cy="3632200"/>
        </p:xfrm>
        <a:graphic>
          <a:graphicData uri="http://schemas.openxmlformats.org/drawingml/2006/table">
            <a:tbl>
              <a:tblPr/>
              <a:tblGrid>
                <a:gridCol w="1249680"/>
                <a:gridCol w="5207000"/>
                <a:gridCol w="2082800"/>
                <a:gridCol w="1874520"/>
              </a:tblGrid>
              <a:tr h="581152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 b="1">
                          <a:solidFill>
                            <a:srgbClr val="FFFFFF"/>
                          </a:solidFill>
                          <a:latin typeface="JetBrains Mono"/>
                          <a:ea typeface="MiSans"/>
                        </a:rPr>
                        <a:t>RQ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0160">
                      <a:solidFill>
                        <a:srgbClr val="C9C3B6"/>
                      </a:solidFill>
                    </a:lnT>
                    <a:lnB w="10160">
                      <a:solidFill>
                        <a:srgbClr val="C9C3B6"/>
                      </a:solidFill>
                    </a:lnB>
                    <a:solidFill>
                      <a:srgbClr val="0B1636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 b="1">
                          <a:solidFill>
                            <a:srgbClr val="FFFFFF"/>
                          </a:solidFill>
                          <a:latin typeface="Liter"/>
                          <a:ea typeface="MiSans"/>
                        </a:rPr>
                        <a:t>问题（大白话）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0160">
                      <a:solidFill>
                        <a:srgbClr val="C9C3B6"/>
                      </a:solidFill>
                    </a:lnT>
                    <a:lnB w="10160">
                      <a:solidFill>
                        <a:srgbClr val="C9C3B6"/>
                      </a:solidFill>
                    </a:lnB>
                    <a:solidFill>
                      <a:srgbClr val="0B1636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 b="1">
                          <a:solidFill>
                            <a:srgbClr val="FFFFFF"/>
                          </a:solidFill>
                          <a:latin typeface="Liter"/>
                          <a:ea typeface="MiSans"/>
                        </a:rPr>
                        <a:t>方法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0160">
                      <a:solidFill>
                        <a:srgbClr val="C9C3B6"/>
                      </a:solidFill>
                    </a:lnT>
                    <a:lnB w="10160">
                      <a:solidFill>
                        <a:srgbClr val="C9C3B6"/>
                      </a:solidFill>
                    </a:lnB>
                    <a:solidFill>
                      <a:srgbClr val="0B1636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 b="1">
                          <a:solidFill>
                            <a:srgbClr val="FFFFFF"/>
                          </a:solidFill>
                          <a:latin typeface="Liter"/>
                          <a:ea typeface="MiSans"/>
                        </a:rPr>
                        <a:t>输出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0160">
                      <a:solidFill>
                        <a:srgbClr val="C9C3B6"/>
                      </a:solidFill>
                    </a:lnT>
                    <a:lnB w="10160">
                      <a:solidFill>
                        <a:srgbClr val="C9C3B6"/>
                      </a:solidFill>
                    </a:lnB>
                    <a:solidFill>
                      <a:srgbClr val="0B1636"/>
                    </a:solidFill>
                  </a:tcPr>
                </a:tc>
              </a:tr>
              <a:tr h="61021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300" noProof="1" b="1">
                          <a:solidFill>
                            <a:srgbClr val="F9961F"/>
                          </a:solidFill>
                          <a:latin typeface="JetBrains Mono"/>
                          <a:ea typeface="MiSans"/>
                        </a:rPr>
                        <a:t>RQ1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0160">
                      <a:solidFill>
                        <a:srgbClr val="C9C3B6"/>
                      </a:solidFill>
                    </a:lnT>
                    <a:lnB w="10160">
                      <a:solidFill>
                        <a:srgbClr val="C9C3B6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300" noProof="1">
                          <a:solidFill>
                            <a:srgbClr val="000000"/>
                          </a:solidFill>
                          <a:latin typeface="Liter"/>
                          <a:ea typeface="MiSans"/>
                        </a:rPr>
                        <a:t>模型一年年怎么涨起来的？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0160">
                      <a:solidFill>
                        <a:srgbClr val="C9C3B6"/>
                      </a:solidFill>
                    </a:lnT>
                    <a:lnB w="10160">
                      <a:solidFill>
                        <a:srgbClr val="C9C3B6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300" noProof="1">
                          <a:solidFill>
                            <a:srgbClr val="000000"/>
                          </a:solidFill>
                          <a:latin typeface="Liter"/>
                          <a:ea typeface="MiSans"/>
                        </a:rPr>
                        <a:t>时间序列统计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0160">
                      <a:solidFill>
                        <a:srgbClr val="C9C3B6"/>
                      </a:solidFill>
                    </a:lnT>
                    <a:lnB w="10160">
                      <a:solidFill>
                        <a:srgbClr val="C9C3B6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300" noProof="1">
                          <a:solidFill>
                            <a:srgbClr val="000000"/>
                          </a:solidFill>
                          <a:latin typeface="Liter"/>
                          <a:ea typeface="MiSans"/>
                        </a:rPr>
                        <a:t>演化曲线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0160">
                      <a:solidFill>
                        <a:srgbClr val="C9C3B6"/>
                      </a:solidFill>
                    </a:lnT>
                    <a:lnB w="10160">
                      <a:solidFill>
                        <a:srgbClr val="C9C3B6"/>
                      </a:solidFill>
                    </a:lnB>
                    <a:noFill/>
                  </a:tcPr>
                </a:tc>
              </a:tr>
              <a:tr h="61021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300" noProof="1" b="1">
                          <a:solidFill>
                            <a:srgbClr val="F9961F"/>
                          </a:solidFill>
                          <a:latin typeface="JetBrains Mono"/>
                          <a:ea typeface="MiSans"/>
                        </a:rPr>
                        <a:t>RQ2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0160">
                      <a:solidFill>
                        <a:srgbClr val="C9C3B6"/>
                      </a:solidFill>
                    </a:lnT>
                    <a:lnB w="10160">
                      <a:solidFill>
                        <a:srgbClr val="C9C3B6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300" noProof="1">
                          <a:solidFill>
                            <a:srgbClr val="000000"/>
                          </a:solidFill>
                          <a:latin typeface="Liter"/>
                          <a:ea typeface="MiSans"/>
                        </a:rPr>
                        <a:t>下载有多“贫富不均”？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0160">
                      <a:solidFill>
                        <a:srgbClr val="C9C3B6"/>
                      </a:solidFill>
                    </a:lnT>
                    <a:lnB w="10160">
                      <a:solidFill>
                        <a:srgbClr val="C9C3B6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300" noProof="1">
                          <a:solidFill>
                            <a:srgbClr val="000000"/>
                          </a:solidFill>
                          <a:latin typeface="Liter"/>
                          <a:ea typeface="MiSans"/>
                        </a:rPr>
                        <a:t>集中度 / 长尾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0160">
                      <a:solidFill>
                        <a:srgbClr val="C9C3B6"/>
                      </a:solidFill>
                    </a:lnT>
                    <a:lnB w="10160">
                      <a:solidFill>
                        <a:srgbClr val="C9C3B6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300" noProof="1">
                          <a:solidFill>
                            <a:srgbClr val="000000"/>
                          </a:solidFill>
                          <a:latin typeface="Liter"/>
                          <a:ea typeface="MiSans"/>
                        </a:rPr>
                        <a:t>Gini / Top 份额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0160">
                      <a:solidFill>
                        <a:srgbClr val="C9C3B6"/>
                      </a:solidFill>
                    </a:lnT>
                    <a:lnB w="10160">
                      <a:solidFill>
                        <a:srgbClr val="C9C3B6"/>
                      </a:solidFill>
                    </a:lnB>
                    <a:noFill/>
                  </a:tcPr>
                </a:tc>
              </a:tr>
              <a:tr h="61021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300" noProof="1" b="1">
                          <a:solidFill>
                            <a:srgbClr val="F9961F"/>
                          </a:solidFill>
                          <a:latin typeface="JetBrains Mono"/>
                          <a:ea typeface="MiSans"/>
                        </a:rPr>
                        <a:t>RQ3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0160">
                      <a:solidFill>
                        <a:srgbClr val="C9C3B6"/>
                      </a:solidFill>
                    </a:lnT>
                    <a:lnB w="10160">
                      <a:solidFill>
                        <a:srgbClr val="C9C3B6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300" noProof="1">
                          <a:solidFill>
                            <a:srgbClr val="000000"/>
                          </a:solidFill>
                          <a:latin typeface="Liter"/>
                          <a:ea typeface="MiSans"/>
                        </a:rPr>
                        <a:t>谁在 fork 谁？谱系长啥样？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0160">
                      <a:solidFill>
                        <a:srgbClr val="C9C3B6"/>
                      </a:solidFill>
                    </a:lnT>
                    <a:lnB w="10160">
                      <a:solidFill>
                        <a:srgbClr val="C9C3B6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300" noProof="1">
                          <a:solidFill>
                            <a:srgbClr val="000000"/>
                          </a:solidFill>
                          <a:latin typeface="Liter"/>
                          <a:ea typeface="MiSans"/>
                        </a:rPr>
                        <a:t>图算法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0160">
                      <a:solidFill>
                        <a:srgbClr val="C9C3B6"/>
                      </a:solidFill>
                    </a:lnT>
                    <a:lnB w="10160">
                      <a:solidFill>
                        <a:srgbClr val="C9C3B6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300" noProof="1">
                          <a:solidFill>
                            <a:srgbClr val="000000"/>
                          </a:solidFill>
                          <a:latin typeface="Liter"/>
                          <a:ea typeface="MiSans"/>
                        </a:rPr>
                        <a:t>谱系网络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0160">
                      <a:solidFill>
                        <a:srgbClr val="C9C3B6"/>
                      </a:solidFill>
                    </a:lnT>
                    <a:lnB w="10160">
                      <a:solidFill>
                        <a:srgbClr val="C9C3B6"/>
                      </a:solidFill>
                    </a:lnB>
                    <a:noFill/>
                  </a:tcPr>
                </a:tc>
              </a:tr>
              <a:tr h="61021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300" noProof="1" b="1">
                          <a:solidFill>
                            <a:srgbClr val="F9961F"/>
                          </a:solidFill>
                          <a:latin typeface="JetBrains Mono"/>
                          <a:ea typeface="MiSans"/>
                        </a:rPr>
                        <a:t>RQ4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0160">
                      <a:solidFill>
                        <a:srgbClr val="C9C3B6"/>
                      </a:solidFill>
                    </a:lnT>
                    <a:lnB w="10160">
                      <a:solidFill>
                        <a:srgbClr val="C9C3B6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300" noProof="1">
                          <a:solidFill>
                            <a:srgbClr val="000000"/>
                          </a:solidFill>
                          <a:latin typeface="Liter"/>
                          <a:ea typeface="MiSans"/>
                        </a:rPr>
                        <a:t>哪些属性跟“火”有关系？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0160">
                      <a:solidFill>
                        <a:srgbClr val="C9C3B6"/>
                      </a:solidFill>
                    </a:lnT>
                    <a:lnB w="10160">
                      <a:solidFill>
                        <a:srgbClr val="C9C3B6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300" noProof="1">
                          <a:solidFill>
                            <a:srgbClr val="000000"/>
                          </a:solidFill>
                          <a:latin typeface="Liter"/>
                          <a:ea typeface="MiSans"/>
                        </a:rPr>
                        <a:t>机器学习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0160">
                      <a:solidFill>
                        <a:srgbClr val="C9C3B6"/>
                      </a:solidFill>
                    </a:lnT>
                    <a:lnB w="10160">
                      <a:solidFill>
                        <a:srgbClr val="C9C3B6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300" noProof="1">
                          <a:solidFill>
                            <a:srgbClr val="000000"/>
                          </a:solidFill>
                          <a:latin typeface="Liter"/>
                          <a:ea typeface="MiSans"/>
                        </a:rPr>
                        <a:t>关联强度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0160">
                      <a:solidFill>
                        <a:srgbClr val="C9C3B6"/>
                      </a:solidFill>
                    </a:lnT>
                    <a:lnB w="10160">
                      <a:solidFill>
                        <a:srgbClr val="C9C3B6"/>
                      </a:solidFill>
                    </a:lnB>
                    <a:noFill/>
                  </a:tcPr>
                </a:tc>
              </a:tr>
              <a:tr h="61021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300" noProof="1" b="1">
                          <a:solidFill>
                            <a:srgbClr val="F9961F"/>
                          </a:solidFill>
                          <a:latin typeface="JetBrains Mono"/>
                          <a:ea typeface="MiSans"/>
                        </a:rPr>
                        <a:t>RQ5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0160">
                      <a:solidFill>
                        <a:srgbClr val="C9C3B6"/>
                      </a:solidFill>
                    </a:lnT>
                    <a:lnB w="10160">
                      <a:solidFill>
                        <a:srgbClr val="C9C3B6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300" noProof="1">
                          <a:solidFill>
                            <a:srgbClr val="000000"/>
                          </a:solidFill>
                          <a:latin typeface="Liter"/>
                          <a:ea typeface="MiSans"/>
                        </a:rPr>
                        <a:t>不同任务生态差在哪？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0160">
                      <a:solidFill>
                        <a:srgbClr val="C9C3B6"/>
                      </a:solidFill>
                    </a:lnT>
                    <a:lnB w="10160">
                      <a:solidFill>
                        <a:srgbClr val="C9C3B6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300" noProof="1">
                          <a:solidFill>
                            <a:srgbClr val="000000"/>
                          </a:solidFill>
                          <a:latin typeface="Liter"/>
                          <a:ea typeface="MiSans"/>
                        </a:rPr>
                        <a:t>分组对比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0160">
                      <a:solidFill>
                        <a:srgbClr val="C9C3B6"/>
                      </a:solidFill>
                    </a:lnT>
                    <a:lnB w="10160">
                      <a:solidFill>
                        <a:srgbClr val="C9C3B6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300" noProof="1">
                          <a:solidFill>
                            <a:srgbClr val="000000"/>
                          </a:solidFill>
                          <a:latin typeface="Liter"/>
                          <a:ea typeface="MiSans"/>
                        </a:rPr>
                        <a:t>任务画像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0160">
                      <a:solidFill>
                        <a:srgbClr val="C9C3B6"/>
                      </a:solidFill>
                    </a:lnT>
                    <a:lnB w="10160">
                      <a:solidFill>
                        <a:srgbClr val="C9C3B6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" name="p4_note"/>
          <p:cNvSpPr txBox="1"/>
          <p:nvPr/>
        </p:nvSpPr>
        <p:spPr>
          <a:xfrm>
            <a:off x="889000" y="5867400"/>
            <a:ext cx="10414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050" noProof="1">
                <a:solidFill>
                  <a:srgbClr val="6E6A60"/>
                </a:solidFill>
                <a:latin typeface="Liter"/>
                <a:ea typeface="MiSans"/>
              </a:rPr>
              <a:t>特别说明：RQ4 的目标不是“预测未来会不会火”，而是解释同一时点上哪些属性与热度同向变化。</a:t>
            </a:r>
            <a:endParaRPr lang="en-US" sz="1050" noProof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2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5_sq"/>
          <p:cNvSpPr/>
          <p:nvPr/>
        </p:nvSpPr>
        <p:spPr>
          <a:xfrm>
            <a:off x="609600" y="330200"/>
            <a:ext cx="165100" cy="165100"/>
          </a:xfrm>
          <a:prstGeom prst="rect">
            <a:avLst/>
          </a:prstGeom>
          <a:solidFill>
            <a:srgbClr val="08BC51"/>
          </a:solidFill>
          <a:ln>
            <a:noFill/>
          </a:ln>
        </p:spPr>
      </p:sp>
      <p:sp>
        <p:nvSpPr>
          <p:cNvPr id="3" name="h5_lab"/>
          <p:cNvSpPr txBox="1"/>
          <p:nvPr/>
        </p:nvSpPr>
        <p:spPr>
          <a:xfrm>
            <a:off x="889000" y="241300"/>
            <a:ext cx="4572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00" noProof="1" b="1" spc="200" kern="0">
                <a:solidFill>
                  <a:srgbClr val="000000"/>
                </a:solidFill>
                <a:latin typeface="Archivo Black"/>
                <a:ea typeface="MiSans"/>
              </a:rPr>
              <a:t>02 DATA</a:t>
            </a:r>
            <a:endParaRPr lang="en-US" sz="1000" noProof="1"/>
          </a:p>
        </p:txBody>
      </p:sp>
      <p:sp>
        <p:nvSpPr>
          <p:cNvPr id="4" name="t5"/>
          <p:cNvSpPr txBox="1"/>
          <p:nvPr/>
        </p:nvSpPr>
        <p:spPr>
          <a:xfrm>
            <a:off x="609600" y="685800"/>
            <a:ext cx="10972800" cy="736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04000"/>
              </a:lnSpc>
            </a:pPr>
            <a:r>
              <a:rPr lang="en-US" sz="2800" noProof="1" b="1">
                <a:solidFill>
                  <a:srgbClr val="000000"/>
                </a:solidFill>
                <a:latin typeface="Archivo Black"/>
                <a:ea typeface="MiSans"/>
              </a:rPr>
              <a:t>314 万行数据：够大、够杂、有点脏，但来源可校验</a:t>
            </a:r>
            <a:endParaRPr lang="en-US" sz="2800" noProof="1"/>
          </a:p>
        </p:txBody>
      </p:sp>
      <p:sp>
        <p:nvSpPr>
          <p:cNvPr id="5" name="st5"/>
          <p:cNvSpPr txBox="1"/>
          <p:nvPr/>
        </p:nvSpPr>
        <p:spPr>
          <a:xfrm>
            <a:off x="609600" y="1422400"/>
            <a:ext cx="10972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1100" noProof="1">
                <a:solidFill>
                  <a:srgbClr val="6E6A60"/>
                </a:solidFill>
                <a:latin typeface="Liter"/>
                <a:ea typeface="MiSans"/>
              </a:rPr>
              <a:t>数据源：cfahlgren1/hub-stats；固定提交版本，SHA-256 校验通过。</a:t>
            </a:r>
            <a:endParaRPr lang="en-US" sz="1100" noProof="1"/>
          </a:p>
        </p:txBody>
      </p:sp>
      <p:sp>
        <p:nvSpPr>
          <p:cNvPr id="6" name="f5_rule"/>
          <p:cNvSpPr/>
          <p:nvPr>
            <p:extLst>
              <p:ext uri="{F5677B7D-0D2A-4D9B-9A5C-6D8D7D0E5A5D}">
                <pptd:line encoding="base64url">eyJ2aWV3Qm94IjpbODY0LDJdLCJwb2ludHMiOiIwLDAgODY0LDAiLCJjdXJ2ZSI6InNoYXJwIn0</pptd:line>
              </p:ext>
            </p:extLst>
          </p:nvPr>
        </p:nvSpPr>
        <p:spPr>
          <a:xfrm>
            <a:off x="609600" y="6324600"/>
            <a:ext cx="10972800" cy="25400"/>
          </a:xfrm>
          <a:custGeom>
            <a:avLst/>
            <a:gdLst/>
            <a:ahLst/>
            <a:cxnLst/>
            <a:rect l="l" t="t" r="r" b="b"/>
            <a:pathLst>
              <a:path w="864" h="2">
                <a:moveTo>
                  <a:pt x="0" y="0"/>
                </a:moveTo>
                <a:lnTo>
                  <a:pt x="864" y="0"/>
                </a:lnTo>
              </a:path>
            </a:pathLst>
          </a:custGeom>
          <a:noFill/>
          <a:ln w="12700">
            <a:solidFill>
              <a:srgbClr val="C9C3B6"/>
            </a:solidFill>
          </a:ln>
        </p:spPr>
      </p:sp>
      <p:sp>
        <p:nvSpPr>
          <p:cNvPr id="7" name="f5_src"/>
          <p:cNvSpPr txBox="1"/>
          <p:nvPr/>
        </p:nvSpPr>
        <p:spPr>
          <a:xfrm>
            <a:off x="609600" y="6426200"/>
            <a:ext cx="9144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850" noProof="1">
                <a:solidFill>
                  <a:srgbClr val="6E6A60"/>
                </a:solidFill>
                <a:latin typeface="Liter"/>
                <a:ea typeface="MiSans"/>
              </a:rPr>
              <a:t>来源：项目 results_manifest.json 与用户提供大纲；口径与时间范围见各页标注。</a:t>
            </a:r>
            <a:endParaRPr lang="en-US" sz="850" noProof="1"/>
          </a:p>
        </p:txBody>
      </p:sp>
      <p:sp>
        <p:nvSpPr>
          <p:cNvPr id="8" name="f5_num"/>
          <p:cNvSpPr txBox="1"/>
          <p:nvPr/>
        </p:nvSpPr>
        <p:spPr>
          <a:xfrm>
            <a:off x="10922000" y="6426200"/>
            <a:ext cx="6604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6E6A60"/>
                </a:solidFill>
                <a:latin typeface="JetBrains Mono"/>
                <a:ea typeface="MiSans"/>
              </a:rPr>
              <a:t>05</a:t>
            </a:r>
            <a:endParaRPr lang="en-US" sz="900" noProof="1"/>
          </a:p>
        </p:txBody>
      </p:sp>
      <p:sp>
        <p:nvSpPr>
          <p:cNvPr id="9" name="p5_big"/>
          <p:cNvSpPr txBox="1"/>
          <p:nvPr/>
        </p:nvSpPr>
        <p:spPr>
          <a:xfrm>
            <a:off x="3810000" y="2159000"/>
            <a:ext cx="4572000" cy="1092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5400" noProof="1" b="1">
                <a:solidFill>
                  <a:srgbClr val="000000"/>
                </a:solidFill>
                <a:latin typeface="JetBrains Mono"/>
                <a:ea typeface="MiSans"/>
              </a:rPr>
              <a:t>3,138,954</a:t>
            </a:r>
            <a:endParaRPr lang="en-US" sz="5400" noProof="1"/>
          </a:p>
        </p:txBody>
      </p:sp>
      <p:sp>
        <p:nvSpPr>
          <p:cNvPr id="10" name="p5_big_sub"/>
          <p:cNvSpPr txBox="1"/>
          <p:nvPr/>
        </p:nvSpPr>
        <p:spPr>
          <a:xfrm>
            <a:off x="4191000" y="3276600"/>
            <a:ext cx="3810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200" noProof="1">
                <a:solidFill>
                  <a:srgbClr val="6E6A60"/>
                </a:solidFill>
                <a:latin typeface="Liter"/>
                <a:ea typeface="MiSans"/>
              </a:rPr>
              <a:t>去重模型数 · 源文件 1.49 GiB</a:t>
            </a:r>
            <a:endParaRPr lang="en-US" sz="1200" noProof="1"/>
          </a:p>
        </p:txBody>
      </p:sp>
      <p:sp>
        <p:nvSpPr>
          <p:cNvPr id="11" name="p5_badge"/>
          <p:cNvSpPr/>
          <p:nvPr/>
        </p:nvSpPr>
        <p:spPr>
          <a:xfrm>
            <a:off x="4978400" y="3708400"/>
            <a:ext cx="2235200" cy="330200"/>
          </a:xfrm>
          <a:prstGeom prst="rect">
            <a:avLst/>
          </a:prstGeom>
          <a:solidFill>
            <a:srgbClr val="08BC51"/>
          </a:solidFill>
          <a:ln>
            <a:noFill/>
          </a:ln>
        </p:spPr>
      </p:sp>
      <p:sp>
        <p:nvSpPr>
          <p:cNvPr id="12" name="p5_badge_t"/>
          <p:cNvSpPr txBox="1"/>
          <p:nvPr/>
        </p:nvSpPr>
        <p:spPr>
          <a:xfrm>
            <a:off x="4978400" y="3708400"/>
            <a:ext cx="22352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100" noProof="1" b="1">
                <a:solidFill>
                  <a:srgbClr val="FFFFFF"/>
                </a:solidFill>
                <a:latin typeface="Liter"/>
                <a:ea typeface="MiSans"/>
              </a:rPr>
              <a:t>SHA-256 校验通过 ✓</a:t>
            </a:r>
            <a:endParaRPr lang="en-US" sz="1100" noProof="1"/>
          </a:p>
        </p:txBody>
      </p:sp>
      <p:sp>
        <p:nvSpPr>
          <p:cNvPr id="13" name="p5_l0"/>
          <p:cNvSpPr/>
          <p:nvPr>
            <p:extLst>
              <p:ext uri="{F5677B7D-0D2A-4D9B-9A5C-6D8D7D0E5A5D}">
                <pptd:line encoding="base64url">eyJ2aWV3Qm94IjpbMiw5Ml0sInBvaW50cyI6IjAsMCAwLDkyIiwiY3VydmUiOiJzaGFycCJ9</pptd:line>
              </p:ext>
            </p:extLst>
          </p:nvPr>
        </p:nvSpPr>
        <p:spPr>
          <a:xfrm>
            <a:off x="736600" y="1905000"/>
            <a:ext cx="25400" cy="1168400"/>
          </a:xfrm>
          <a:custGeom>
            <a:avLst/>
            <a:gdLst/>
            <a:ahLst/>
            <a:cxnLst/>
            <a:rect l="l" t="t" r="r" b="b"/>
            <a:pathLst>
              <a:path w="2" h="92">
                <a:moveTo>
                  <a:pt x="0" y="0"/>
                </a:moveTo>
                <a:lnTo>
                  <a:pt x="0" y="92"/>
                </a:lnTo>
              </a:path>
            </a:pathLst>
          </a:custGeom>
          <a:noFill/>
          <a:ln w="38100">
            <a:solidFill>
              <a:srgbClr val="08BC51"/>
            </a:solidFill>
          </a:ln>
        </p:spPr>
      </p:sp>
      <p:sp>
        <p:nvSpPr>
          <p:cNvPr id="14" name="p5_h0"/>
          <p:cNvSpPr txBox="1"/>
          <p:nvPr/>
        </p:nvSpPr>
        <p:spPr>
          <a:xfrm>
            <a:off x="914400" y="1905000"/>
            <a:ext cx="2413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600" noProof="1" b="1">
                <a:solidFill>
                  <a:srgbClr val="000000"/>
                </a:solidFill>
                <a:latin typeface="Archivo Black"/>
                <a:ea typeface="MiSans"/>
              </a:rPr>
              <a:t>Volume 大</a:t>
            </a:r>
            <a:endParaRPr lang="en-US" sz="1600" noProof="1"/>
          </a:p>
        </p:txBody>
      </p:sp>
      <p:sp>
        <p:nvSpPr>
          <p:cNvPr id="15" name="p5_b0"/>
          <p:cNvSpPr txBox="1"/>
          <p:nvPr/>
        </p:nvSpPr>
        <p:spPr>
          <a:xfrm>
            <a:off x="914400" y="2286000"/>
            <a:ext cx="24130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2000"/>
              </a:lnSpc>
            </a:pPr>
            <a:r>
              <a:rPr lang="en-US" sz="1250" noProof="1">
                <a:solidFill>
                  <a:srgbClr val="000000"/>
                </a:solidFill>
                <a:latin typeface="Liter"/>
                <a:ea typeface="MiSans"/>
              </a:rPr>
              <a:t>3,138,954 个去重模型；比中型 monorepo 还大。</a:t>
            </a:r>
            <a:endParaRPr lang="en-US" sz="1250" noProof="1"/>
          </a:p>
        </p:txBody>
      </p:sp>
      <p:sp>
        <p:nvSpPr>
          <p:cNvPr id="16" name="p5_l1"/>
          <p:cNvSpPr/>
          <p:nvPr>
            <p:extLst>
              <p:ext uri="{F5677B7D-0D2A-4D9B-9A5C-6D8D7D0E5A5D}">
                <pptd:line encoding="base64url">eyJ2aWV3Qm94IjpbMiw5Ml0sInBvaW50cyI6IjAsMCAwLDkyIiwiY3VydmUiOiJzaGFycCJ9</pptd:line>
              </p:ext>
            </p:extLst>
          </p:nvPr>
        </p:nvSpPr>
        <p:spPr>
          <a:xfrm>
            <a:off x="736600" y="4191000"/>
            <a:ext cx="25400" cy="1168400"/>
          </a:xfrm>
          <a:custGeom>
            <a:avLst/>
            <a:gdLst/>
            <a:ahLst/>
            <a:cxnLst/>
            <a:rect l="l" t="t" r="r" b="b"/>
            <a:pathLst>
              <a:path w="2" h="92">
                <a:moveTo>
                  <a:pt x="0" y="0"/>
                </a:moveTo>
                <a:lnTo>
                  <a:pt x="0" y="92"/>
                </a:lnTo>
              </a:path>
            </a:pathLst>
          </a:custGeom>
          <a:noFill/>
          <a:ln w="38100">
            <a:solidFill>
              <a:srgbClr val="08BC51"/>
            </a:solidFill>
          </a:ln>
        </p:spPr>
      </p:sp>
      <p:sp>
        <p:nvSpPr>
          <p:cNvPr id="17" name="p5_h1"/>
          <p:cNvSpPr txBox="1"/>
          <p:nvPr/>
        </p:nvSpPr>
        <p:spPr>
          <a:xfrm>
            <a:off x="914400" y="4191000"/>
            <a:ext cx="2413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600" noProof="1" b="1">
                <a:solidFill>
                  <a:srgbClr val="000000"/>
                </a:solidFill>
                <a:latin typeface="Archivo Black"/>
                <a:ea typeface="MiSans"/>
              </a:rPr>
              <a:t>Variety 杂</a:t>
            </a:r>
            <a:endParaRPr lang="en-US" sz="1600" noProof="1"/>
          </a:p>
        </p:txBody>
      </p:sp>
      <p:sp>
        <p:nvSpPr>
          <p:cNvPr id="18" name="p5_b1"/>
          <p:cNvSpPr txBox="1"/>
          <p:nvPr/>
        </p:nvSpPr>
        <p:spPr>
          <a:xfrm>
            <a:off x="914400" y="4572000"/>
            <a:ext cx="24130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2000"/>
              </a:lnSpc>
            </a:pPr>
            <a:r>
              <a:rPr lang="en-US" sz="1250" noProof="1">
                <a:solidFill>
                  <a:srgbClr val="000000"/>
                </a:solidFill>
                <a:latin typeface="Liter"/>
                <a:ea typeface="MiSans"/>
              </a:rPr>
              <a:t>数字、嵌套 struct、标签数组、底座关系字段混着来。</a:t>
            </a:r>
            <a:endParaRPr lang="en-US" sz="1250" noProof="1"/>
          </a:p>
        </p:txBody>
      </p:sp>
      <p:sp>
        <p:nvSpPr>
          <p:cNvPr id="19" name="p5_l2"/>
          <p:cNvSpPr/>
          <p:nvPr>
            <p:extLst>
              <p:ext uri="{F5677B7D-0D2A-4D9B-9A5C-6D8D7D0E5A5D}">
                <pptd:line encoding="base64url">eyJ2aWV3Qm94IjpbMiw5Ml0sInBvaW50cyI6IjAsMCAwLDkyIiwiY3VydmUiOiJzaGFycCJ9</pptd:line>
              </p:ext>
            </p:extLst>
          </p:nvPr>
        </p:nvSpPr>
        <p:spPr>
          <a:xfrm>
            <a:off x="8763000" y="1905000"/>
            <a:ext cx="25400" cy="1168400"/>
          </a:xfrm>
          <a:custGeom>
            <a:avLst/>
            <a:gdLst/>
            <a:ahLst/>
            <a:cxnLst/>
            <a:rect l="l" t="t" r="r" b="b"/>
            <a:pathLst>
              <a:path w="2" h="92">
                <a:moveTo>
                  <a:pt x="0" y="0"/>
                </a:moveTo>
                <a:lnTo>
                  <a:pt x="0" y="92"/>
                </a:lnTo>
              </a:path>
            </a:pathLst>
          </a:custGeom>
          <a:noFill/>
          <a:ln w="38100">
            <a:solidFill>
              <a:srgbClr val="08BC51"/>
            </a:solidFill>
          </a:ln>
        </p:spPr>
      </p:sp>
      <p:sp>
        <p:nvSpPr>
          <p:cNvPr id="20" name="p5_h2"/>
          <p:cNvSpPr txBox="1"/>
          <p:nvPr/>
        </p:nvSpPr>
        <p:spPr>
          <a:xfrm>
            <a:off x="8940800" y="1905000"/>
            <a:ext cx="2413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600" noProof="1" b="1">
                <a:solidFill>
                  <a:srgbClr val="000000"/>
                </a:solidFill>
                <a:latin typeface="Archivo Black"/>
                <a:ea typeface="MiSans"/>
              </a:rPr>
              <a:t>Velocity 快</a:t>
            </a:r>
            <a:endParaRPr lang="en-US" sz="1600" noProof="1"/>
          </a:p>
        </p:txBody>
      </p:sp>
      <p:sp>
        <p:nvSpPr>
          <p:cNvPr id="21" name="p5_b2"/>
          <p:cNvSpPr txBox="1"/>
          <p:nvPr/>
        </p:nvSpPr>
        <p:spPr>
          <a:xfrm>
            <a:off x="8940800" y="2286000"/>
            <a:ext cx="24130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2000"/>
              </a:lnSpc>
            </a:pPr>
            <a:r>
              <a:rPr lang="en-US" sz="1250" noProof="1">
                <a:solidFill>
                  <a:srgbClr val="000000"/>
                </a:solidFill>
                <a:latin typeface="Liter"/>
                <a:ea typeface="MiSans"/>
              </a:rPr>
              <a:t>带“近 30 天下载”滚动窗口，数据天天变。</a:t>
            </a:r>
            <a:endParaRPr lang="en-US" sz="1250" noProof="1"/>
          </a:p>
        </p:txBody>
      </p:sp>
      <p:sp>
        <p:nvSpPr>
          <p:cNvPr id="22" name="p5_l3"/>
          <p:cNvSpPr/>
          <p:nvPr>
            <p:extLst>
              <p:ext uri="{F5677B7D-0D2A-4D9B-9A5C-6D8D7D0E5A5D}">
                <pptd:line encoding="base64url">eyJ2aWV3Qm94IjpbMiw5Ml0sInBvaW50cyI6IjAsMCAwLDkyIiwiY3VydmUiOiJzaGFycCJ9</pptd:line>
              </p:ext>
            </p:extLst>
          </p:nvPr>
        </p:nvSpPr>
        <p:spPr>
          <a:xfrm>
            <a:off x="8763000" y="4191000"/>
            <a:ext cx="25400" cy="1168400"/>
          </a:xfrm>
          <a:custGeom>
            <a:avLst/>
            <a:gdLst/>
            <a:ahLst/>
            <a:cxnLst/>
            <a:rect l="l" t="t" r="r" b="b"/>
            <a:pathLst>
              <a:path w="2" h="92">
                <a:moveTo>
                  <a:pt x="0" y="0"/>
                </a:moveTo>
                <a:lnTo>
                  <a:pt x="0" y="92"/>
                </a:lnTo>
              </a:path>
            </a:pathLst>
          </a:custGeom>
          <a:noFill/>
          <a:ln w="38100">
            <a:solidFill>
              <a:srgbClr val="08BC51"/>
            </a:solidFill>
          </a:ln>
        </p:spPr>
      </p:sp>
      <p:sp>
        <p:nvSpPr>
          <p:cNvPr id="23" name="p5_h3"/>
          <p:cNvSpPr txBox="1"/>
          <p:nvPr/>
        </p:nvSpPr>
        <p:spPr>
          <a:xfrm>
            <a:off x="8940800" y="4191000"/>
            <a:ext cx="2413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600" noProof="1" b="1">
                <a:solidFill>
                  <a:srgbClr val="000000"/>
                </a:solidFill>
                <a:latin typeface="Archivo Black"/>
                <a:ea typeface="MiSans"/>
              </a:rPr>
              <a:t>Veracity 脏</a:t>
            </a:r>
            <a:endParaRPr lang="en-US" sz="1600" noProof="1"/>
          </a:p>
        </p:txBody>
      </p:sp>
      <p:sp>
        <p:nvSpPr>
          <p:cNvPr id="24" name="p5_b3"/>
          <p:cNvSpPr txBox="1"/>
          <p:nvPr/>
        </p:nvSpPr>
        <p:spPr>
          <a:xfrm>
            <a:off x="8940800" y="4572000"/>
            <a:ext cx="24130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2000"/>
              </a:lnSpc>
            </a:pPr>
            <a:r>
              <a:rPr lang="en-US" sz="1250" noProof="1">
                <a:solidFill>
                  <a:srgbClr val="000000"/>
                </a:solidFill>
                <a:latin typeface="Liter"/>
                <a:ea typeface="MiSans"/>
              </a:rPr>
              <a:t>任务标签缺 65.6%、底座关系缺 71.7%；显式标注单独算。</a:t>
            </a:r>
            <a:endParaRPr lang="en-US" sz="1250" noProof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2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6_sq"/>
          <p:cNvSpPr/>
          <p:nvPr/>
        </p:nvSpPr>
        <p:spPr>
          <a:xfrm>
            <a:off x="609600" y="330200"/>
            <a:ext cx="165100" cy="165100"/>
          </a:xfrm>
          <a:prstGeom prst="rect">
            <a:avLst/>
          </a:prstGeom>
          <a:solidFill>
            <a:srgbClr val="08BC51"/>
          </a:solidFill>
          <a:ln>
            <a:noFill/>
          </a:ln>
        </p:spPr>
      </p:sp>
      <p:sp>
        <p:nvSpPr>
          <p:cNvPr id="3" name="h6_lab"/>
          <p:cNvSpPr txBox="1"/>
          <p:nvPr/>
        </p:nvSpPr>
        <p:spPr>
          <a:xfrm>
            <a:off x="889000" y="241300"/>
            <a:ext cx="4572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00" noProof="1" b="1" spc="200" kern="0">
                <a:solidFill>
                  <a:srgbClr val="000000"/>
                </a:solidFill>
                <a:latin typeface="Archivo Black"/>
                <a:ea typeface="MiSans"/>
              </a:rPr>
              <a:t>02 METHOD</a:t>
            </a:r>
            <a:endParaRPr lang="en-US" sz="1000" noProof="1"/>
          </a:p>
        </p:txBody>
      </p:sp>
      <p:sp>
        <p:nvSpPr>
          <p:cNvPr id="4" name="t6"/>
          <p:cNvSpPr txBox="1"/>
          <p:nvPr/>
        </p:nvSpPr>
        <p:spPr>
          <a:xfrm>
            <a:off x="609600" y="685800"/>
            <a:ext cx="10972800" cy="736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04000"/>
              </a:lnSpc>
            </a:pPr>
            <a:r>
              <a:rPr lang="en-US" sz="2800" noProof="1" b="1">
                <a:solidFill>
                  <a:srgbClr val="000000"/>
                </a:solidFill>
                <a:latin typeface="Archivo Black"/>
                <a:ea typeface="MiSans"/>
              </a:rPr>
              <a:t>Bronze → Silver → Gold：像做菜一样层层加工</a:t>
            </a:r>
            <a:endParaRPr lang="en-US" sz="2800" noProof="1"/>
          </a:p>
        </p:txBody>
      </p:sp>
      <p:sp>
        <p:nvSpPr>
          <p:cNvPr id="5" name="st6"/>
          <p:cNvSpPr txBox="1"/>
          <p:nvPr/>
        </p:nvSpPr>
        <p:spPr>
          <a:xfrm>
            <a:off x="609600" y="1422400"/>
            <a:ext cx="10972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1100" noProof="1">
                <a:solidFill>
                  <a:srgbClr val="6E6A60"/>
                </a:solidFill>
                <a:latin typeface="Liter"/>
                <a:ea typeface="MiSans"/>
              </a:rPr>
              <a:t>收益：每层可单独验证，出错能定位到层，而不是一锅端。</a:t>
            </a:r>
            <a:endParaRPr lang="en-US" sz="1100" noProof="1"/>
          </a:p>
        </p:txBody>
      </p:sp>
      <p:sp>
        <p:nvSpPr>
          <p:cNvPr id="6" name="f6_rule"/>
          <p:cNvSpPr/>
          <p:nvPr>
            <p:extLst>
              <p:ext uri="{F5677B7D-0D2A-4D9B-9A5C-6D8D7D0E5A5D}">
                <pptd:line encoding="base64url">eyJ2aWV3Qm94IjpbODY0LDJdLCJwb2ludHMiOiIwLDAgODY0LDAiLCJjdXJ2ZSI6InNoYXJwIn0</pptd:line>
              </p:ext>
            </p:extLst>
          </p:nvPr>
        </p:nvSpPr>
        <p:spPr>
          <a:xfrm>
            <a:off x="609600" y="6324600"/>
            <a:ext cx="10972800" cy="25400"/>
          </a:xfrm>
          <a:custGeom>
            <a:avLst/>
            <a:gdLst/>
            <a:ahLst/>
            <a:cxnLst/>
            <a:rect l="l" t="t" r="r" b="b"/>
            <a:pathLst>
              <a:path w="864" h="2">
                <a:moveTo>
                  <a:pt x="0" y="0"/>
                </a:moveTo>
                <a:lnTo>
                  <a:pt x="864" y="0"/>
                </a:lnTo>
              </a:path>
            </a:pathLst>
          </a:custGeom>
          <a:noFill/>
          <a:ln w="12700">
            <a:solidFill>
              <a:srgbClr val="C9C3B6"/>
            </a:solidFill>
          </a:ln>
        </p:spPr>
      </p:sp>
      <p:sp>
        <p:nvSpPr>
          <p:cNvPr id="7" name="f6_src"/>
          <p:cNvSpPr txBox="1"/>
          <p:nvPr/>
        </p:nvSpPr>
        <p:spPr>
          <a:xfrm>
            <a:off x="609600" y="6426200"/>
            <a:ext cx="9144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850" noProof="1">
                <a:solidFill>
                  <a:srgbClr val="6E6A60"/>
                </a:solidFill>
                <a:latin typeface="Liter"/>
                <a:ea typeface="MiSans"/>
              </a:rPr>
              <a:t>来源：项目 results_manifest.json 与用户提供大纲；口径与时间范围见各页标注。</a:t>
            </a:r>
            <a:endParaRPr lang="en-US" sz="850" noProof="1"/>
          </a:p>
        </p:txBody>
      </p:sp>
      <p:sp>
        <p:nvSpPr>
          <p:cNvPr id="8" name="f6_num"/>
          <p:cNvSpPr txBox="1"/>
          <p:nvPr/>
        </p:nvSpPr>
        <p:spPr>
          <a:xfrm>
            <a:off x="10922000" y="6426200"/>
            <a:ext cx="6604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6E6A60"/>
                </a:solidFill>
                <a:latin typeface="JetBrains Mono"/>
                <a:ea typeface="MiSans"/>
              </a:rPr>
              <a:t>06</a:t>
            </a:r>
            <a:endParaRPr lang="en-US" sz="900" noProof="1"/>
          </a:p>
        </p:txBody>
      </p:sp>
      <p:sp>
        <p:nvSpPr>
          <p:cNvPr id="9" name="p6_layer0"/>
          <p:cNvSpPr/>
          <p:nvPr/>
        </p:nvSpPr>
        <p:spPr>
          <a:xfrm>
            <a:off x="889000" y="2032000"/>
            <a:ext cx="7112000" cy="812800"/>
          </a:xfrm>
          <a:prstGeom prst="rect">
            <a:avLst/>
          </a:prstGeom>
          <a:solidFill>
            <a:srgbClr val="A4C9FF"/>
          </a:solidFill>
          <a:ln>
            <a:noFill/>
          </a:ln>
        </p:spPr>
      </p:sp>
      <p:sp>
        <p:nvSpPr>
          <p:cNvPr id="10" name="p6_name0"/>
          <p:cNvSpPr txBox="1"/>
          <p:nvPr/>
        </p:nvSpPr>
        <p:spPr>
          <a:xfrm>
            <a:off x="1143000" y="2159000"/>
            <a:ext cx="2794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00000"/>
                </a:solidFill>
                <a:latin typeface="Archivo Black"/>
                <a:ea typeface="MiSans"/>
              </a:rPr>
              <a:t>BRONZE 原料</a:t>
            </a:r>
            <a:endParaRPr lang="en-US" sz="1500" noProof="1"/>
          </a:p>
        </p:txBody>
      </p:sp>
      <p:sp>
        <p:nvSpPr>
          <p:cNvPr id="11" name="p6_stat0"/>
          <p:cNvSpPr txBox="1"/>
          <p:nvPr/>
        </p:nvSpPr>
        <p:spPr>
          <a:xfrm>
            <a:off x="1143000" y="2463800"/>
            <a:ext cx="558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50" noProof="1">
                <a:solidFill>
                  <a:srgbClr val="000000"/>
                </a:solidFill>
                <a:latin typeface="JetBrains Mono"/>
                <a:ea typeface="MiSans"/>
              </a:rPr>
              <a:t>原始 parquet · 3,138,959 行</a:t>
            </a:r>
            <a:endParaRPr lang="en-US" sz="1150" noProof="1"/>
          </a:p>
        </p:txBody>
      </p:sp>
      <p:sp>
        <p:nvSpPr>
          <p:cNvPr id="12" name="p6_desc0"/>
          <p:cNvSpPr txBox="1"/>
          <p:nvPr/>
        </p:nvSpPr>
        <p:spPr>
          <a:xfrm>
            <a:off x="4826000" y="2260600"/>
            <a:ext cx="2921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r">
              <a:lnSpc>
                <a:spcPct val="120000"/>
              </a:lnSpc>
            </a:pPr>
            <a:r>
              <a:rPr lang="en-US" sz="1100" noProof="1">
                <a:solidFill>
                  <a:srgbClr val="000000"/>
                </a:solidFill>
                <a:latin typeface="Liter"/>
                <a:ea typeface="MiSans"/>
              </a:rPr>
              <a:t>刚买回来的食材，原样入库</a:t>
            </a:r>
            <a:endParaRPr lang="en-US" sz="1100" noProof="1"/>
          </a:p>
        </p:txBody>
      </p:sp>
      <p:sp>
        <p:nvSpPr>
          <p:cNvPr id="13" name="p6_ar0"/>
          <p:cNvSpPr/>
          <p:nvPr>
            <p:extLst>
              <p:ext uri="{F5677B7D-0D2A-4D9B-9A5C-6D8D7D0E5A5D}">
                <pptd:line encoding="base64url">eyJ2aWV3Qm94IjpbMiwyOF0sInBvaW50cyI6IjAsMCAwLDI4IiwiY3VydmUiOiJzaGFycCJ9</pptd:line>
              </p:ext>
            </p:extLst>
          </p:nvPr>
        </p:nvSpPr>
        <p:spPr>
          <a:xfrm>
            <a:off x="4572000" y="2844800"/>
            <a:ext cx="25400" cy="355600"/>
          </a:xfrm>
          <a:custGeom>
            <a:avLst/>
            <a:gdLst/>
            <a:ahLst/>
            <a:cxnLst/>
            <a:rect l="l" t="t" r="r" b="b"/>
            <a:pathLst>
              <a:path w="2" h="28">
                <a:moveTo>
                  <a:pt x="0" y="0"/>
                </a:moveTo>
                <a:lnTo>
                  <a:pt x="0" y="28"/>
                </a:lnTo>
              </a:path>
            </a:pathLst>
          </a:custGeom>
          <a:noFill/>
          <a:ln w="19050">
            <a:solidFill>
              <a:srgbClr val="000000"/>
            </a:solidFill>
            <a:tailEnd type="arrow"/>
          </a:ln>
        </p:spPr>
      </p:sp>
      <p:sp>
        <p:nvSpPr>
          <p:cNvPr id="14" name="p6_layer1"/>
          <p:cNvSpPr/>
          <p:nvPr/>
        </p:nvSpPr>
        <p:spPr>
          <a:xfrm>
            <a:off x="889000" y="3200400"/>
            <a:ext cx="6223000" cy="812800"/>
          </a:xfrm>
          <a:prstGeom prst="rect">
            <a:avLst/>
          </a:prstGeom>
          <a:solidFill>
            <a:srgbClr val="1058E2"/>
          </a:solidFill>
          <a:ln>
            <a:noFill/>
          </a:ln>
        </p:spPr>
      </p:sp>
      <p:sp>
        <p:nvSpPr>
          <p:cNvPr id="15" name="p6_name1"/>
          <p:cNvSpPr txBox="1"/>
          <p:nvPr/>
        </p:nvSpPr>
        <p:spPr>
          <a:xfrm>
            <a:off x="1143000" y="3327400"/>
            <a:ext cx="2794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FFFFFF"/>
                </a:solidFill>
                <a:latin typeface="Archivo Black"/>
                <a:ea typeface="MiSans"/>
              </a:rPr>
              <a:t>SILVER 洗切配</a:t>
            </a:r>
            <a:endParaRPr lang="en-US" sz="1500" noProof="1"/>
          </a:p>
        </p:txBody>
      </p:sp>
      <p:sp>
        <p:nvSpPr>
          <p:cNvPr id="16" name="p6_stat1"/>
          <p:cNvSpPr txBox="1"/>
          <p:nvPr/>
        </p:nvSpPr>
        <p:spPr>
          <a:xfrm>
            <a:off x="1143000" y="3632200"/>
            <a:ext cx="4699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50" noProof="1">
                <a:solidFill>
                  <a:srgbClr val="FFFFFF"/>
                </a:solidFill>
                <a:latin typeface="JetBrains Mono"/>
                <a:ea typeface="MiSans"/>
              </a:rPr>
              <a:t>主表 3,138,954 行 · 标签 2063 万 · 血缘边 92 万</a:t>
            </a:r>
            <a:endParaRPr lang="en-US" sz="1150" noProof="1"/>
          </a:p>
        </p:txBody>
      </p:sp>
      <p:sp>
        <p:nvSpPr>
          <p:cNvPr id="17" name="p6_desc1"/>
          <p:cNvSpPr txBox="1"/>
          <p:nvPr/>
        </p:nvSpPr>
        <p:spPr>
          <a:xfrm>
            <a:off x="3937000" y="3429000"/>
            <a:ext cx="2921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r">
              <a:lnSpc>
                <a:spcPct val="120000"/>
              </a:lnSpc>
            </a:pPr>
            <a:r>
              <a:rPr lang="en-US" sz="1100" noProof="1">
                <a:solidFill>
                  <a:srgbClr val="FFFFFF"/>
                </a:solidFill>
                <a:latin typeface="Liter"/>
                <a:ea typeface="MiSans"/>
              </a:rPr>
              <a:t>去重 + 展开标签/血缘，分装好</a:t>
            </a:r>
            <a:endParaRPr lang="en-US" sz="1100" noProof="1"/>
          </a:p>
        </p:txBody>
      </p:sp>
      <p:sp>
        <p:nvSpPr>
          <p:cNvPr id="18" name="p6_ar1"/>
          <p:cNvSpPr/>
          <p:nvPr>
            <p:extLst>
              <p:ext uri="{F5677B7D-0D2A-4D9B-9A5C-6D8D7D0E5A5D}">
                <pptd:line encoding="base64url">eyJ2aWV3Qm94IjpbMiwyOF0sInBvaW50cyI6IjAsMCAwLDI4IiwiY3VydmUiOiJzaGFycCJ9</pptd:line>
              </p:ext>
            </p:extLst>
          </p:nvPr>
        </p:nvSpPr>
        <p:spPr>
          <a:xfrm>
            <a:off x="4572000" y="4013200"/>
            <a:ext cx="25400" cy="355600"/>
          </a:xfrm>
          <a:custGeom>
            <a:avLst/>
            <a:gdLst/>
            <a:ahLst/>
            <a:cxnLst/>
            <a:rect l="l" t="t" r="r" b="b"/>
            <a:pathLst>
              <a:path w="2" h="28">
                <a:moveTo>
                  <a:pt x="0" y="0"/>
                </a:moveTo>
                <a:lnTo>
                  <a:pt x="0" y="28"/>
                </a:lnTo>
              </a:path>
            </a:pathLst>
          </a:custGeom>
          <a:noFill/>
          <a:ln w="19050">
            <a:solidFill>
              <a:srgbClr val="000000"/>
            </a:solidFill>
            <a:tailEnd type="arrow"/>
          </a:ln>
        </p:spPr>
      </p:sp>
      <p:sp>
        <p:nvSpPr>
          <p:cNvPr id="19" name="p6_layer2"/>
          <p:cNvSpPr/>
          <p:nvPr/>
        </p:nvSpPr>
        <p:spPr>
          <a:xfrm>
            <a:off x="889000" y="4368800"/>
            <a:ext cx="5334000" cy="812800"/>
          </a:xfrm>
          <a:prstGeom prst="rect">
            <a:avLst/>
          </a:prstGeom>
          <a:solidFill>
            <a:srgbClr val="08BC51"/>
          </a:solidFill>
          <a:ln>
            <a:noFill/>
          </a:ln>
        </p:spPr>
      </p:sp>
      <p:sp>
        <p:nvSpPr>
          <p:cNvPr id="20" name="p6_name2"/>
          <p:cNvSpPr txBox="1"/>
          <p:nvPr/>
        </p:nvSpPr>
        <p:spPr>
          <a:xfrm>
            <a:off x="1143000" y="4495800"/>
            <a:ext cx="2794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FFFFFF"/>
                </a:solidFill>
                <a:latin typeface="Archivo Black"/>
                <a:ea typeface="MiSans"/>
              </a:rPr>
              <a:t>GOLD 上桌</a:t>
            </a:r>
            <a:endParaRPr lang="en-US" sz="1500" noProof="1"/>
          </a:p>
        </p:txBody>
      </p:sp>
      <p:sp>
        <p:nvSpPr>
          <p:cNvPr id="21" name="p6_stat2"/>
          <p:cNvSpPr txBox="1"/>
          <p:nvPr/>
        </p:nvSpPr>
        <p:spPr>
          <a:xfrm>
            <a:off x="1143000" y="4800600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50" noProof="1">
                <a:solidFill>
                  <a:srgbClr val="FFFFFF"/>
                </a:solidFill>
                <a:latin typeface="JetBrains Mono"/>
                <a:ea typeface="MiSans"/>
              </a:rPr>
              <a:t>7 张分析表 + 集中度统计表</a:t>
            </a:r>
            <a:endParaRPr lang="en-US" sz="1150" noProof="1"/>
          </a:p>
        </p:txBody>
      </p:sp>
      <p:sp>
        <p:nvSpPr>
          <p:cNvPr id="22" name="p6_desc2"/>
          <p:cNvSpPr txBox="1"/>
          <p:nvPr/>
        </p:nvSpPr>
        <p:spPr>
          <a:xfrm>
            <a:off x="3048000" y="4597400"/>
            <a:ext cx="2921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r">
              <a:lnSpc>
                <a:spcPct val="120000"/>
              </a:lnSpc>
            </a:pPr>
            <a:r>
              <a:rPr lang="en-US" sz="1100" noProof="1">
                <a:solidFill>
                  <a:srgbClr val="05201B"/>
                </a:solidFill>
                <a:latin typeface="Liter"/>
                <a:ea typeface="MiSans"/>
              </a:rPr>
              <a:t>直接能吃的菜</a:t>
            </a:r>
            <a:endParaRPr lang="en-US" sz="1100" noProof="1"/>
          </a:p>
        </p:txBody>
      </p:sp>
      <p:sp>
        <p:nvSpPr>
          <p:cNvPr id="23" name="p6_side_rule"/>
          <p:cNvSpPr/>
          <p:nvPr>
            <p:extLst>
              <p:ext uri="{F5677B7D-0D2A-4D9B-9A5C-6D8D7D0E5A5D}">
                <pptd:line encoding="base64url">eyJ2aWV3Qm94IjpbMiwyNDhdLCJwb2ludHMiOiIwLDAgMCwyNDgiLCJjdXJ2ZSI6InNoYXJwIn0</pptd:line>
              </p:ext>
            </p:extLst>
          </p:nvPr>
        </p:nvSpPr>
        <p:spPr>
          <a:xfrm>
            <a:off x="8890000" y="2032000"/>
            <a:ext cx="25400" cy="3149600"/>
          </a:xfrm>
          <a:custGeom>
            <a:avLst/>
            <a:gdLst/>
            <a:ahLst/>
            <a:cxnLst/>
            <a:rect l="l" t="t" r="r" b="b"/>
            <a:pathLst>
              <a:path w="2" h="248">
                <a:moveTo>
                  <a:pt x="0" y="0"/>
                </a:moveTo>
                <a:lnTo>
                  <a:pt x="0" y="248"/>
                </a:lnTo>
              </a:path>
            </a:pathLst>
          </a:custGeom>
          <a:noFill/>
          <a:ln w="12700">
            <a:solidFill>
              <a:srgbClr val="C9C3B6"/>
            </a:solidFill>
          </a:ln>
        </p:spPr>
      </p:sp>
      <p:sp>
        <p:nvSpPr>
          <p:cNvPr id="24" name="p6_stack_h"/>
          <p:cNvSpPr txBox="1"/>
          <p:nvPr/>
        </p:nvSpPr>
        <p:spPr>
          <a:xfrm>
            <a:off x="9194800" y="2032000"/>
            <a:ext cx="2286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00000"/>
                </a:solidFill>
                <a:latin typeface="Archivo Black"/>
                <a:ea typeface="MiSans"/>
              </a:rPr>
              <a:t>技术栈</a:t>
            </a:r>
            <a:endParaRPr lang="en-US" sz="1500" noProof="1"/>
          </a:p>
        </p:txBody>
      </p:sp>
      <p:sp>
        <p:nvSpPr>
          <p:cNvPr id="25" name="p6_stack"/>
          <p:cNvSpPr txBox="1"/>
          <p:nvPr/>
        </p:nvSpPr>
        <p:spPr>
          <a:xfrm>
            <a:off x="9194800" y="2463800"/>
            <a:ext cx="2413000" cy="152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250" noProof="1">
                <a:solidFill>
                  <a:srgbClr val="000000"/>
                </a:solidFill>
                <a:latin typeface="JetBrains Mono"/>
                <a:ea typeface="MiSans"/>
              </a:rPr>
              <a:t>PySpark 4.2.0</a:t>
            </a:r>
            <a:endParaRPr lang="en-US" sz="1250" noProof="1"/>
          </a:p>
          <a:p>
            <a:pPr>
              <a:lnSpc>
                <a:spcPct val="160000"/>
              </a:lnSpc>
            </a:pPr>
            <a:r>
              <a:rPr lang="en-US" sz="1250" noProof="1">
                <a:solidFill>
                  <a:srgbClr val="000000"/>
                </a:solidFill>
                <a:latin typeface="JetBrains Mono"/>
                <a:ea typeface="MiSans"/>
              </a:rPr>
              <a:t>GraphFrames 0.12.3</a:t>
            </a:r>
            <a:endParaRPr lang="en-US" sz="1250" noProof="1"/>
          </a:p>
          <a:p>
            <a:pPr>
              <a:lnSpc>
                <a:spcPct val="160000"/>
              </a:lnSpc>
            </a:pPr>
            <a:r>
              <a:rPr lang="en-US" sz="1250" noProof="1">
                <a:solidFill>
                  <a:srgbClr val="000000"/>
                </a:solidFill>
                <a:latin typeface="JetBrains Mono"/>
                <a:ea typeface="MiSans"/>
              </a:rPr>
              <a:t>MLlib</a:t>
            </a:r>
            <a:endParaRPr lang="en-US" sz="1250" noProof="1"/>
          </a:p>
          <a:p>
            <a:pPr>
              <a:lnSpc>
                <a:spcPct val="160000"/>
              </a:lnSpc>
            </a:pPr>
            <a:r>
              <a:rPr lang="en-US" sz="1250" noProof="1">
                <a:solidFill>
                  <a:srgbClr val="000000"/>
                </a:solidFill>
                <a:latin typeface="JetBrains Mono"/>
                <a:ea typeface="MiSans"/>
              </a:rPr>
              <a:t>Python 3.11 · Java 17</a:t>
            </a:r>
            <a:endParaRPr lang="en-US" sz="1250" noProof="1"/>
          </a:p>
        </p:txBody>
      </p:sp>
      <p:sp>
        <p:nvSpPr>
          <p:cNvPr id="26" name="p6_stack_note"/>
          <p:cNvSpPr txBox="1"/>
          <p:nvPr/>
        </p:nvSpPr>
        <p:spPr>
          <a:xfrm>
            <a:off x="9194800" y="4140200"/>
            <a:ext cx="2387600" cy="1041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5000"/>
              </a:lnSpc>
            </a:pPr>
            <a:r>
              <a:rPr lang="en-US" sz="1100" noProof="1">
                <a:solidFill>
                  <a:srgbClr val="6E6A60"/>
                </a:solidFill>
                <a:latin typeface="Liter"/>
                <a:ea typeface="MiSans"/>
              </a:rPr>
              <a:t>分层不是仪式感：每层落盘，验证通过才进入下一层。</a:t>
            </a:r>
            <a:endParaRPr lang="en-US" sz="1100" noProof="1"/>
          </a:p>
        </p:txBody>
      </p:sp>
      <p:sp>
        <p:nvSpPr>
          <p:cNvPr id="27" name="p6_gate_rule"/>
          <p:cNvSpPr/>
          <p:nvPr>
            <p:extLst>
              <p:ext uri="{F5677B7D-0D2A-4D9B-9A5C-6D8D7D0E5A5D}">
                <pptd:line encoding="base64url">eyJ2aWV3Qm94IjpbNTYwLDNdLCJwb2ludHMiOiIwLDAgNTYwLDAiLCJjdXJ2ZSI6InNoYXJwIn0</pptd:line>
              </p:ext>
            </p:extLst>
          </p:nvPr>
        </p:nvSpPr>
        <p:spPr>
          <a:xfrm>
            <a:off x="889000" y="5384800"/>
            <a:ext cx="7112000" cy="38100"/>
          </a:xfrm>
          <a:custGeom>
            <a:avLst/>
            <a:gdLst/>
            <a:ahLst/>
            <a:cxnLst/>
            <a:rect l="l" t="t" r="r" b="b"/>
            <a:pathLst>
              <a:path w="560" h="3">
                <a:moveTo>
                  <a:pt x="0" y="0"/>
                </a:moveTo>
                <a:lnTo>
                  <a:pt x="560" y="0"/>
                </a:lnTo>
              </a:path>
            </a:pathLst>
          </a:custGeom>
          <a:noFill/>
          <a:ln w="38100">
            <a:solidFill>
              <a:srgbClr val="08BC51"/>
            </a:solidFill>
          </a:ln>
        </p:spPr>
      </p:sp>
      <p:sp>
        <p:nvSpPr>
          <p:cNvPr id="28" name="p6_gate"/>
          <p:cNvSpPr txBox="1"/>
          <p:nvPr/>
        </p:nvSpPr>
        <p:spPr>
          <a:xfrm>
            <a:off x="889000" y="5562600"/>
            <a:ext cx="7112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5000"/>
              </a:lnSpc>
            </a:pPr>
            <a:r>
              <a:rPr lang="en-US" sz="1250" noProof="1">
                <a:solidFill>
                  <a:srgbClr val="000000"/>
                </a:solidFill>
                <a:latin typeface="Liter"/>
                <a:ea typeface="MiSans"/>
              </a:rPr>
              <a:t>验证门：Bronze 看行数与校验和；Silver 看去重、标签展开、血缘边；Gold 看 7 张分析表能否直接出数。哪层失败，回哪层重跑。</a:t>
            </a:r>
            <a:endParaRPr lang="en-US" sz="1250" noProof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2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7_sq"/>
          <p:cNvSpPr/>
          <p:nvPr/>
        </p:nvSpPr>
        <p:spPr>
          <a:xfrm>
            <a:off x="609600" y="330200"/>
            <a:ext cx="165100" cy="165100"/>
          </a:xfrm>
          <a:prstGeom prst="rect">
            <a:avLst/>
          </a:prstGeom>
          <a:solidFill>
            <a:srgbClr val="08BC51"/>
          </a:solidFill>
          <a:ln>
            <a:noFill/>
          </a:ln>
        </p:spPr>
      </p:sp>
      <p:sp>
        <p:nvSpPr>
          <p:cNvPr id="3" name="h7_lab"/>
          <p:cNvSpPr txBox="1"/>
          <p:nvPr/>
        </p:nvSpPr>
        <p:spPr>
          <a:xfrm>
            <a:off x="889000" y="241300"/>
            <a:ext cx="4572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00" noProof="1" b="1" spc="200" kern="0">
                <a:solidFill>
                  <a:srgbClr val="000000"/>
                </a:solidFill>
                <a:latin typeface="Archivo Black"/>
                <a:ea typeface="MiSans"/>
              </a:rPr>
              <a:t>02 METHOD</a:t>
            </a:r>
            <a:endParaRPr lang="en-US" sz="1000" noProof="1"/>
          </a:p>
        </p:txBody>
      </p:sp>
      <p:sp>
        <p:nvSpPr>
          <p:cNvPr id="4" name="t7"/>
          <p:cNvSpPr txBox="1"/>
          <p:nvPr/>
        </p:nvSpPr>
        <p:spPr>
          <a:xfrm>
            <a:off x="609600" y="685800"/>
            <a:ext cx="10972800" cy="736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04000"/>
              </a:lnSpc>
            </a:pPr>
            <a:r>
              <a:rPr lang="en-US" sz="2800" noProof="1" b="1">
                <a:solidFill>
                  <a:srgbClr val="000000"/>
                </a:solidFill>
                <a:latin typeface="Archivo Black"/>
                <a:ea typeface="MiSans"/>
              </a:rPr>
              <a:t>一键重跑：所有数字只从同一个结果清单来</a:t>
            </a:r>
            <a:endParaRPr lang="en-US" sz="2800" noProof="1"/>
          </a:p>
        </p:txBody>
      </p:sp>
      <p:sp>
        <p:nvSpPr>
          <p:cNvPr id="5" name="st7"/>
          <p:cNvSpPr txBox="1"/>
          <p:nvPr/>
        </p:nvSpPr>
        <p:spPr>
          <a:xfrm>
            <a:off x="609600" y="1422400"/>
            <a:ext cx="10972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1100" noProof="1">
                <a:solidFill>
                  <a:srgbClr val="6E6A60"/>
                </a:solidFill>
                <a:latin typeface="Liter"/>
                <a:ea typeface="MiSans"/>
              </a:rPr>
              <a:t>34 个 Python 脚本串成链；Spark 与 pandas 结果分目录隔离。</a:t>
            </a:r>
            <a:endParaRPr lang="en-US" sz="1100" noProof="1"/>
          </a:p>
        </p:txBody>
      </p:sp>
      <p:sp>
        <p:nvSpPr>
          <p:cNvPr id="6" name="f7_rule"/>
          <p:cNvSpPr/>
          <p:nvPr>
            <p:extLst>
              <p:ext uri="{F5677B7D-0D2A-4D9B-9A5C-6D8D7D0E5A5D}">
                <pptd:line encoding="base64url">eyJ2aWV3Qm94IjpbODY0LDJdLCJwb2ludHMiOiIwLDAgODY0LDAiLCJjdXJ2ZSI6InNoYXJwIn0</pptd:line>
              </p:ext>
            </p:extLst>
          </p:nvPr>
        </p:nvSpPr>
        <p:spPr>
          <a:xfrm>
            <a:off x="609600" y="6324600"/>
            <a:ext cx="10972800" cy="25400"/>
          </a:xfrm>
          <a:custGeom>
            <a:avLst/>
            <a:gdLst/>
            <a:ahLst/>
            <a:cxnLst/>
            <a:rect l="l" t="t" r="r" b="b"/>
            <a:pathLst>
              <a:path w="864" h="2">
                <a:moveTo>
                  <a:pt x="0" y="0"/>
                </a:moveTo>
                <a:lnTo>
                  <a:pt x="864" y="0"/>
                </a:lnTo>
              </a:path>
            </a:pathLst>
          </a:custGeom>
          <a:noFill/>
          <a:ln w="12700">
            <a:solidFill>
              <a:srgbClr val="C9C3B6"/>
            </a:solidFill>
          </a:ln>
        </p:spPr>
      </p:sp>
      <p:sp>
        <p:nvSpPr>
          <p:cNvPr id="7" name="f7_src"/>
          <p:cNvSpPr txBox="1"/>
          <p:nvPr/>
        </p:nvSpPr>
        <p:spPr>
          <a:xfrm>
            <a:off x="609600" y="6426200"/>
            <a:ext cx="9144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850" noProof="1">
                <a:solidFill>
                  <a:srgbClr val="6E6A60"/>
                </a:solidFill>
                <a:latin typeface="Liter"/>
                <a:ea typeface="MiSans"/>
              </a:rPr>
              <a:t>来源：项目 results_manifest.json 与用户提供大纲；口径与时间范围见各页标注。</a:t>
            </a:r>
            <a:endParaRPr lang="en-US" sz="850" noProof="1"/>
          </a:p>
        </p:txBody>
      </p:sp>
      <p:sp>
        <p:nvSpPr>
          <p:cNvPr id="8" name="f7_num"/>
          <p:cNvSpPr txBox="1"/>
          <p:nvPr/>
        </p:nvSpPr>
        <p:spPr>
          <a:xfrm>
            <a:off x="10922000" y="6426200"/>
            <a:ext cx="6604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6E6A60"/>
                </a:solidFill>
                <a:latin typeface="JetBrains Mono"/>
                <a:ea typeface="MiSans"/>
              </a:rPr>
              <a:t>07</a:t>
            </a:r>
            <a:endParaRPr lang="en-US" sz="900" noProof="1"/>
          </a:p>
        </p:txBody>
      </p:sp>
      <p:sp>
        <p:nvSpPr>
          <p:cNvPr id="9" name="p7_node0"/>
          <p:cNvSpPr/>
          <p:nvPr/>
        </p:nvSpPr>
        <p:spPr>
          <a:xfrm>
            <a:off x="660400" y="2794000"/>
            <a:ext cx="1092200" cy="584200"/>
          </a:xfrm>
          <a:prstGeom prst="rect">
            <a:avLst/>
          </a:prstGeom>
          <a:solidFill>
            <a:srgbClr val="0B1636"/>
          </a:solidFill>
          <a:ln>
            <a:noFill/>
          </a:ln>
        </p:spPr>
      </p:sp>
      <p:sp>
        <p:nvSpPr>
          <p:cNvPr id="10" name="p7_node_t0"/>
          <p:cNvSpPr txBox="1"/>
          <p:nvPr/>
        </p:nvSpPr>
        <p:spPr>
          <a:xfrm>
            <a:off x="660400" y="2794000"/>
            <a:ext cx="10922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150" noProof="1">
                <a:solidFill>
                  <a:srgbClr val="FFFFFF"/>
                </a:solidFill>
                <a:latin typeface="Liter"/>
                <a:ea typeface="MiSans"/>
              </a:rPr>
              <a:t>下载</a:t>
            </a:r>
            <a:endParaRPr lang="en-US" sz="1150" noProof="1"/>
          </a:p>
        </p:txBody>
      </p:sp>
      <p:sp>
        <p:nvSpPr>
          <p:cNvPr id="11" name="p7_ar0"/>
          <p:cNvSpPr/>
          <p:nvPr>
            <p:extLst>
              <p:ext uri="{F5677B7D-0D2A-4D9B-9A5C-6D8D7D0E5A5D}">
                <pptd:line encoding="base64url">eyJ2aWV3Qm94IjpbMjAsNF0sInBvaW50cyI6IjAsMCAyMCwwIiwiY3VydmUiOiJzaGFycCJ9</pptd:line>
              </p:ext>
            </p:extLst>
          </p:nvPr>
        </p:nvSpPr>
        <p:spPr>
          <a:xfrm>
            <a:off x="1752600" y="3060700"/>
            <a:ext cx="254000" cy="50800"/>
          </a:xfrm>
          <a:custGeom>
            <a:avLst/>
            <a:gdLst/>
            <a:ahLst/>
            <a:cxnLst/>
            <a:rect l="l" t="t" r="r" b="b"/>
            <a:pathLst>
              <a:path w="20" h="4">
                <a:moveTo>
                  <a:pt x="0" y="0"/>
                </a:moveTo>
                <a:lnTo>
                  <a:pt x="20" y="0"/>
                </a:lnTo>
              </a:path>
            </a:pathLst>
          </a:custGeom>
          <a:noFill/>
          <a:ln w="17780">
            <a:solidFill>
              <a:srgbClr val="000000"/>
            </a:solidFill>
            <a:tailEnd type="arrow"/>
          </a:ln>
        </p:spPr>
      </p:sp>
      <p:sp>
        <p:nvSpPr>
          <p:cNvPr id="12" name="p7_node1"/>
          <p:cNvSpPr/>
          <p:nvPr/>
        </p:nvSpPr>
        <p:spPr>
          <a:xfrm>
            <a:off x="2006600" y="2794000"/>
            <a:ext cx="1092200" cy="584200"/>
          </a:xfrm>
          <a:prstGeom prst="rect">
            <a:avLst/>
          </a:prstGeom>
          <a:solidFill>
            <a:srgbClr val="0B1636"/>
          </a:solidFill>
          <a:ln>
            <a:noFill/>
          </a:ln>
        </p:spPr>
      </p:sp>
      <p:sp>
        <p:nvSpPr>
          <p:cNvPr id="13" name="p7_node_t1"/>
          <p:cNvSpPr txBox="1"/>
          <p:nvPr/>
        </p:nvSpPr>
        <p:spPr>
          <a:xfrm>
            <a:off x="2006600" y="2794000"/>
            <a:ext cx="10922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150" noProof="1">
                <a:solidFill>
                  <a:srgbClr val="FFFFFF"/>
                </a:solidFill>
                <a:latin typeface="Liter"/>
                <a:ea typeface="MiSans"/>
              </a:rPr>
              <a:t>ETL</a:t>
            </a:r>
            <a:endParaRPr lang="en-US" sz="1150" noProof="1"/>
          </a:p>
        </p:txBody>
      </p:sp>
      <p:sp>
        <p:nvSpPr>
          <p:cNvPr id="14" name="p7_ar1"/>
          <p:cNvSpPr/>
          <p:nvPr>
            <p:extLst>
              <p:ext uri="{F5677B7D-0D2A-4D9B-9A5C-6D8D7D0E5A5D}">
                <pptd:line encoding="base64url">eyJ2aWV3Qm94IjpbMjAsNF0sInBvaW50cyI6IjAsMCAyMCwwIiwiY3VydmUiOiJzaGFycCJ9</pptd:line>
              </p:ext>
            </p:extLst>
          </p:nvPr>
        </p:nvSpPr>
        <p:spPr>
          <a:xfrm>
            <a:off x="3098800" y="3060700"/>
            <a:ext cx="254000" cy="50800"/>
          </a:xfrm>
          <a:custGeom>
            <a:avLst/>
            <a:gdLst/>
            <a:ahLst/>
            <a:cxnLst/>
            <a:rect l="l" t="t" r="r" b="b"/>
            <a:pathLst>
              <a:path w="20" h="4">
                <a:moveTo>
                  <a:pt x="0" y="0"/>
                </a:moveTo>
                <a:lnTo>
                  <a:pt x="20" y="0"/>
                </a:lnTo>
              </a:path>
            </a:pathLst>
          </a:custGeom>
          <a:noFill/>
          <a:ln w="17780">
            <a:solidFill>
              <a:srgbClr val="000000"/>
            </a:solidFill>
            <a:tailEnd type="arrow"/>
          </a:ln>
        </p:spPr>
      </p:sp>
      <p:sp>
        <p:nvSpPr>
          <p:cNvPr id="15" name="p7_node2"/>
          <p:cNvSpPr/>
          <p:nvPr/>
        </p:nvSpPr>
        <p:spPr>
          <a:xfrm>
            <a:off x="3352800" y="2794000"/>
            <a:ext cx="1092200" cy="584200"/>
          </a:xfrm>
          <a:prstGeom prst="rect">
            <a:avLst/>
          </a:prstGeom>
          <a:solidFill>
            <a:srgbClr val="0B1636"/>
          </a:solidFill>
          <a:ln>
            <a:noFill/>
          </a:ln>
        </p:spPr>
      </p:sp>
      <p:sp>
        <p:nvSpPr>
          <p:cNvPr id="16" name="p7_node_t2"/>
          <p:cNvSpPr txBox="1"/>
          <p:nvPr/>
        </p:nvSpPr>
        <p:spPr>
          <a:xfrm>
            <a:off x="3352800" y="2794000"/>
            <a:ext cx="10922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150" noProof="1">
                <a:solidFill>
                  <a:srgbClr val="FFFFFF"/>
                </a:solidFill>
                <a:latin typeface="Liter"/>
                <a:ea typeface="MiSans"/>
              </a:rPr>
              <a:t>验证</a:t>
            </a:r>
            <a:endParaRPr lang="en-US" sz="1150" noProof="1"/>
          </a:p>
        </p:txBody>
      </p:sp>
      <p:sp>
        <p:nvSpPr>
          <p:cNvPr id="17" name="p7_ar2"/>
          <p:cNvSpPr/>
          <p:nvPr>
            <p:extLst>
              <p:ext uri="{F5677B7D-0D2A-4D9B-9A5C-6D8D7D0E5A5D}">
                <pptd:line encoding="base64url">eyJ2aWV3Qm94IjpbMjAsNF0sInBvaW50cyI6IjAsMCAyMCwwIiwiY3VydmUiOiJzaGFycCJ9</pptd:line>
              </p:ext>
            </p:extLst>
          </p:nvPr>
        </p:nvSpPr>
        <p:spPr>
          <a:xfrm>
            <a:off x="4445000" y="3060700"/>
            <a:ext cx="254000" cy="50800"/>
          </a:xfrm>
          <a:custGeom>
            <a:avLst/>
            <a:gdLst/>
            <a:ahLst/>
            <a:cxnLst/>
            <a:rect l="l" t="t" r="r" b="b"/>
            <a:pathLst>
              <a:path w="20" h="4">
                <a:moveTo>
                  <a:pt x="0" y="0"/>
                </a:moveTo>
                <a:lnTo>
                  <a:pt x="20" y="0"/>
                </a:lnTo>
              </a:path>
            </a:pathLst>
          </a:custGeom>
          <a:noFill/>
          <a:ln w="17780">
            <a:solidFill>
              <a:srgbClr val="000000"/>
            </a:solidFill>
            <a:tailEnd type="arrow"/>
          </a:ln>
        </p:spPr>
      </p:sp>
      <p:sp>
        <p:nvSpPr>
          <p:cNvPr id="18" name="p7_node3"/>
          <p:cNvSpPr/>
          <p:nvPr/>
        </p:nvSpPr>
        <p:spPr>
          <a:xfrm>
            <a:off x="4699000" y="2794000"/>
            <a:ext cx="1092200" cy="584200"/>
          </a:xfrm>
          <a:prstGeom prst="rect">
            <a:avLst/>
          </a:prstGeom>
          <a:solidFill>
            <a:srgbClr val="0B1636"/>
          </a:solidFill>
          <a:ln>
            <a:noFill/>
          </a:ln>
        </p:spPr>
      </p:sp>
      <p:sp>
        <p:nvSpPr>
          <p:cNvPr id="19" name="p7_node_t3"/>
          <p:cNvSpPr txBox="1"/>
          <p:nvPr/>
        </p:nvSpPr>
        <p:spPr>
          <a:xfrm>
            <a:off x="4699000" y="2794000"/>
            <a:ext cx="10922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150" noProof="1">
                <a:solidFill>
                  <a:srgbClr val="FFFFFF"/>
                </a:solidFill>
                <a:latin typeface="Liter"/>
                <a:ea typeface="MiSans"/>
              </a:rPr>
              <a:t>5 个分析</a:t>
            </a:r>
            <a:endParaRPr lang="en-US" sz="1150" noProof="1"/>
          </a:p>
        </p:txBody>
      </p:sp>
      <p:sp>
        <p:nvSpPr>
          <p:cNvPr id="20" name="p7_ar3"/>
          <p:cNvSpPr/>
          <p:nvPr>
            <p:extLst>
              <p:ext uri="{F5677B7D-0D2A-4D9B-9A5C-6D8D7D0E5A5D}">
                <pptd:line encoding="base64url">eyJ2aWV3Qm94IjpbMjAsNF0sInBvaW50cyI6IjAsMCAyMCwwIiwiY3VydmUiOiJzaGFycCJ9</pptd:line>
              </p:ext>
            </p:extLst>
          </p:nvPr>
        </p:nvSpPr>
        <p:spPr>
          <a:xfrm>
            <a:off x="5791200" y="3060700"/>
            <a:ext cx="254000" cy="50800"/>
          </a:xfrm>
          <a:custGeom>
            <a:avLst/>
            <a:gdLst/>
            <a:ahLst/>
            <a:cxnLst/>
            <a:rect l="l" t="t" r="r" b="b"/>
            <a:pathLst>
              <a:path w="20" h="4">
                <a:moveTo>
                  <a:pt x="0" y="0"/>
                </a:moveTo>
                <a:lnTo>
                  <a:pt x="20" y="0"/>
                </a:lnTo>
              </a:path>
            </a:pathLst>
          </a:custGeom>
          <a:noFill/>
          <a:ln w="17780">
            <a:solidFill>
              <a:srgbClr val="000000"/>
            </a:solidFill>
            <a:tailEnd type="arrow"/>
          </a:ln>
        </p:spPr>
      </p:sp>
      <p:sp>
        <p:nvSpPr>
          <p:cNvPr id="21" name="p7_node4"/>
          <p:cNvSpPr/>
          <p:nvPr/>
        </p:nvSpPr>
        <p:spPr>
          <a:xfrm>
            <a:off x="6045200" y="2794000"/>
            <a:ext cx="1092200" cy="584200"/>
          </a:xfrm>
          <a:prstGeom prst="rect">
            <a:avLst/>
          </a:prstGeom>
          <a:solidFill>
            <a:srgbClr val="0B1636"/>
          </a:solidFill>
          <a:ln>
            <a:noFill/>
          </a:ln>
        </p:spPr>
      </p:sp>
      <p:sp>
        <p:nvSpPr>
          <p:cNvPr id="22" name="p7_node_t4"/>
          <p:cNvSpPr txBox="1"/>
          <p:nvPr/>
        </p:nvSpPr>
        <p:spPr>
          <a:xfrm>
            <a:off x="6045200" y="2794000"/>
            <a:ext cx="10922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150" noProof="1">
                <a:solidFill>
                  <a:srgbClr val="FFFFFF"/>
                </a:solidFill>
                <a:latin typeface="Liter"/>
                <a:ea typeface="MiSans"/>
              </a:rPr>
              <a:t>图算法</a:t>
            </a:r>
            <a:endParaRPr lang="en-US" sz="1150" noProof="1"/>
          </a:p>
        </p:txBody>
      </p:sp>
      <p:sp>
        <p:nvSpPr>
          <p:cNvPr id="23" name="p7_ar4"/>
          <p:cNvSpPr/>
          <p:nvPr>
            <p:extLst>
              <p:ext uri="{F5677B7D-0D2A-4D9B-9A5C-6D8D7D0E5A5D}">
                <pptd:line encoding="base64url">eyJ2aWV3Qm94IjpbMjAsNF0sInBvaW50cyI6IjAsMCAyMCwwIiwiY3VydmUiOiJzaGFycCJ9</pptd:line>
              </p:ext>
            </p:extLst>
          </p:nvPr>
        </p:nvSpPr>
        <p:spPr>
          <a:xfrm>
            <a:off x="7137400" y="3060700"/>
            <a:ext cx="254000" cy="50800"/>
          </a:xfrm>
          <a:custGeom>
            <a:avLst/>
            <a:gdLst/>
            <a:ahLst/>
            <a:cxnLst/>
            <a:rect l="l" t="t" r="r" b="b"/>
            <a:pathLst>
              <a:path w="20" h="4">
                <a:moveTo>
                  <a:pt x="0" y="0"/>
                </a:moveTo>
                <a:lnTo>
                  <a:pt x="20" y="0"/>
                </a:lnTo>
              </a:path>
            </a:pathLst>
          </a:custGeom>
          <a:noFill/>
          <a:ln w="17780">
            <a:solidFill>
              <a:srgbClr val="000000"/>
            </a:solidFill>
            <a:tailEnd type="arrow"/>
          </a:ln>
        </p:spPr>
      </p:sp>
      <p:sp>
        <p:nvSpPr>
          <p:cNvPr id="24" name="p7_node5"/>
          <p:cNvSpPr/>
          <p:nvPr/>
        </p:nvSpPr>
        <p:spPr>
          <a:xfrm>
            <a:off x="7391400" y="2794000"/>
            <a:ext cx="1092200" cy="584200"/>
          </a:xfrm>
          <a:prstGeom prst="rect">
            <a:avLst/>
          </a:prstGeom>
          <a:solidFill>
            <a:srgbClr val="0B1636"/>
          </a:solidFill>
          <a:ln>
            <a:noFill/>
          </a:ln>
        </p:spPr>
      </p:sp>
      <p:sp>
        <p:nvSpPr>
          <p:cNvPr id="25" name="p7_node_t5"/>
          <p:cNvSpPr txBox="1"/>
          <p:nvPr/>
        </p:nvSpPr>
        <p:spPr>
          <a:xfrm>
            <a:off x="7391400" y="2794000"/>
            <a:ext cx="10922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150" noProof="1">
                <a:solidFill>
                  <a:srgbClr val="FFFFFF"/>
                </a:solidFill>
                <a:latin typeface="Liter"/>
                <a:ea typeface="MiSans"/>
              </a:rPr>
              <a:t>出图</a:t>
            </a:r>
            <a:endParaRPr lang="en-US" sz="1150" noProof="1"/>
          </a:p>
        </p:txBody>
      </p:sp>
      <p:sp>
        <p:nvSpPr>
          <p:cNvPr id="26" name="p7_ar5"/>
          <p:cNvSpPr/>
          <p:nvPr>
            <p:extLst>
              <p:ext uri="{F5677B7D-0D2A-4D9B-9A5C-6D8D7D0E5A5D}">
                <pptd:line encoding="base64url">eyJ2aWV3Qm94IjpbMjAsNF0sInBvaW50cyI6IjAsMCAyMCwwIiwiY3VydmUiOiJzaGFycCJ9</pptd:line>
              </p:ext>
            </p:extLst>
          </p:nvPr>
        </p:nvSpPr>
        <p:spPr>
          <a:xfrm>
            <a:off x="8483600" y="3060700"/>
            <a:ext cx="254000" cy="50800"/>
          </a:xfrm>
          <a:custGeom>
            <a:avLst/>
            <a:gdLst/>
            <a:ahLst/>
            <a:cxnLst/>
            <a:rect l="l" t="t" r="r" b="b"/>
            <a:pathLst>
              <a:path w="20" h="4">
                <a:moveTo>
                  <a:pt x="0" y="0"/>
                </a:moveTo>
                <a:lnTo>
                  <a:pt x="20" y="0"/>
                </a:lnTo>
              </a:path>
            </a:pathLst>
          </a:custGeom>
          <a:noFill/>
          <a:ln w="17780">
            <a:solidFill>
              <a:srgbClr val="000000"/>
            </a:solidFill>
            <a:tailEnd type="arrow"/>
          </a:ln>
        </p:spPr>
      </p:sp>
      <p:sp>
        <p:nvSpPr>
          <p:cNvPr id="27" name="p7_node6"/>
          <p:cNvSpPr/>
          <p:nvPr/>
        </p:nvSpPr>
        <p:spPr>
          <a:xfrm>
            <a:off x="8737600" y="2794000"/>
            <a:ext cx="1092200" cy="584200"/>
          </a:xfrm>
          <a:prstGeom prst="rect">
            <a:avLst/>
          </a:prstGeom>
          <a:solidFill>
            <a:srgbClr val="08BC51"/>
          </a:solidFill>
          <a:ln>
            <a:noFill/>
          </a:ln>
        </p:spPr>
      </p:sp>
      <p:sp>
        <p:nvSpPr>
          <p:cNvPr id="28" name="p7_node_t6"/>
          <p:cNvSpPr txBox="1"/>
          <p:nvPr/>
        </p:nvSpPr>
        <p:spPr>
          <a:xfrm>
            <a:off x="8737600" y="2794000"/>
            <a:ext cx="10922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150" noProof="1" b="1">
                <a:solidFill>
                  <a:srgbClr val="FFFFFF"/>
                </a:solidFill>
                <a:latin typeface="Liter"/>
                <a:ea typeface="MiSans"/>
              </a:rPr>
              <a:t>结果清单</a:t>
            </a:r>
            <a:endParaRPr lang="en-US" sz="1150" noProof="1"/>
          </a:p>
        </p:txBody>
      </p:sp>
      <p:sp>
        <p:nvSpPr>
          <p:cNvPr id="29" name="p7_ar6"/>
          <p:cNvSpPr/>
          <p:nvPr>
            <p:extLst>
              <p:ext uri="{F5677B7D-0D2A-4D9B-9A5C-6D8D7D0E5A5D}">
                <pptd:line encoding="base64url">eyJ2aWV3Qm94IjpbMjAsNF0sInBvaW50cyI6IjAsMCAyMCwwIiwiY3VydmUiOiJzaGFycCJ9</pptd:line>
              </p:ext>
            </p:extLst>
          </p:nvPr>
        </p:nvSpPr>
        <p:spPr>
          <a:xfrm>
            <a:off x="9829800" y="3060700"/>
            <a:ext cx="254000" cy="50800"/>
          </a:xfrm>
          <a:custGeom>
            <a:avLst/>
            <a:gdLst/>
            <a:ahLst/>
            <a:cxnLst/>
            <a:rect l="l" t="t" r="r" b="b"/>
            <a:pathLst>
              <a:path w="20" h="4">
                <a:moveTo>
                  <a:pt x="0" y="0"/>
                </a:moveTo>
                <a:lnTo>
                  <a:pt x="20" y="0"/>
                </a:lnTo>
              </a:path>
            </a:pathLst>
          </a:custGeom>
          <a:noFill/>
          <a:ln w="17780">
            <a:solidFill>
              <a:srgbClr val="000000"/>
            </a:solidFill>
            <a:tailEnd type="arrow"/>
          </a:ln>
        </p:spPr>
      </p:sp>
      <p:sp>
        <p:nvSpPr>
          <p:cNvPr id="30" name="p7_node7"/>
          <p:cNvSpPr/>
          <p:nvPr/>
        </p:nvSpPr>
        <p:spPr>
          <a:xfrm>
            <a:off x="10083800" y="2794000"/>
            <a:ext cx="1092200" cy="584200"/>
          </a:xfrm>
          <a:prstGeom prst="rect">
            <a:avLst/>
          </a:prstGeom>
          <a:solidFill>
            <a:srgbClr val="0B1636"/>
          </a:solidFill>
          <a:ln>
            <a:noFill/>
          </a:ln>
        </p:spPr>
      </p:sp>
      <p:sp>
        <p:nvSpPr>
          <p:cNvPr id="31" name="p7_node_t7"/>
          <p:cNvSpPr txBox="1"/>
          <p:nvPr/>
        </p:nvSpPr>
        <p:spPr>
          <a:xfrm>
            <a:off x="10083800" y="2794000"/>
            <a:ext cx="10922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150" noProof="1">
                <a:solidFill>
                  <a:srgbClr val="FFFFFF"/>
                </a:solidFill>
                <a:latin typeface="Liter"/>
                <a:ea typeface="MiSans"/>
              </a:rPr>
              <a:t>一致性检查</a:t>
            </a:r>
            <a:endParaRPr lang="en-US" sz="1150" noProof="1"/>
          </a:p>
        </p:txBody>
      </p:sp>
      <p:sp>
        <p:nvSpPr>
          <p:cNvPr id="32" name="p7_mani"/>
          <p:cNvSpPr txBox="1"/>
          <p:nvPr/>
        </p:nvSpPr>
        <p:spPr>
          <a:xfrm>
            <a:off x="4191000" y="3886200"/>
            <a:ext cx="3810000" cy="558800"/>
          </a:xfrm>
          <a:prstGeom prst="rect">
            <a:avLst/>
          </a:prstGeom>
          <a:solidFill>
            <a:srgbClr val="FFC1A8"/>
          </a:solidFill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2400" noProof="1" b="1">
                <a:solidFill>
                  <a:srgbClr val="000000"/>
                </a:solidFill>
                <a:latin typeface="JetBrains Mono"/>
                <a:ea typeface="MiSans"/>
              </a:rPr>
              <a:t>results_manifest.json</a:t>
            </a:r>
            <a:endParaRPr lang="en-US" sz="2400" noProof="1"/>
          </a:p>
        </p:txBody>
      </p:sp>
      <p:sp>
        <p:nvSpPr>
          <p:cNvPr id="33" name="p7_b1"/>
          <p:cNvSpPr txBox="1"/>
          <p:nvPr/>
        </p:nvSpPr>
        <p:spPr>
          <a:xfrm>
            <a:off x="889000" y="4724400"/>
            <a:ext cx="10414000" cy="939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350" noProof="1" b="1">
                <a:solidFill>
                  <a:srgbClr val="000000"/>
                </a:solidFill>
                <a:latin typeface="Liter"/>
                <a:ea typeface="MiSans"/>
              </a:rPr>
              <a:t>单一事实来源：</a:t>
            </a:r>
            <a:r>
              <a:rPr lang="en-US" sz="1350" noProof="1">
                <a:solidFill>
                  <a:srgbClr val="000000"/>
                </a:solidFill>
                <a:latin typeface="Liter"/>
                <a:ea typeface="MiSans"/>
              </a:rPr>
              <a:t>报告、图、看板都从同一清单读数，一处改处处改。</a:t>
            </a:r>
            <a:endParaRPr lang="en-US" sz="1350" noProof="1"/>
          </a:p>
          <a:p>
            <a:pPr>
              <a:lnSpc>
                <a:spcPct val="140000"/>
              </a:lnSpc>
              <a:spcBef>
                <a:spcPts val="800"/>
              </a:spcBef>
            </a:pPr>
            <a:r>
              <a:rPr lang="en-US" sz="1350" noProof="1" b="1">
                <a:solidFill>
                  <a:srgbClr val="000000"/>
                </a:solidFill>
                <a:latin typeface="Liter"/>
                <a:ea typeface="MiSans"/>
              </a:rPr>
              <a:t>隔离：</a:t>
            </a:r>
            <a:r>
              <a:rPr lang="en-US" sz="1350" noProof="1">
                <a:solidFill>
                  <a:srgbClr val="000000"/>
                </a:solidFill>
                <a:latin typeface="Liter"/>
                <a:ea typeface="MiSans"/>
              </a:rPr>
              <a:t>Spark 与 pandas 两条引擎结果分目录，像 main 分支和实验分支，互不污染。</a:t>
            </a:r>
            <a:endParaRPr lang="en-US" sz="1350" noProof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2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8_sq"/>
          <p:cNvSpPr/>
          <p:nvPr/>
        </p:nvSpPr>
        <p:spPr>
          <a:xfrm>
            <a:off x="609600" y="330200"/>
            <a:ext cx="165100" cy="165100"/>
          </a:xfrm>
          <a:prstGeom prst="rect">
            <a:avLst/>
          </a:prstGeom>
          <a:solidFill>
            <a:srgbClr val="FFC1A8"/>
          </a:solidFill>
          <a:ln>
            <a:noFill/>
          </a:ln>
        </p:spPr>
      </p:sp>
      <p:sp>
        <p:nvSpPr>
          <p:cNvPr id="3" name="h8_lab"/>
          <p:cNvSpPr txBox="1"/>
          <p:nvPr/>
        </p:nvSpPr>
        <p:spPr>
          <a:xfrm>
            <a:off x="889000" y="241300"/>
            <a:ext cx="4572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00" noProof="1" b="1" spc="200" kern="0">
                <a:solidFill>
                  <a:srgbClr val="000000"/>
                </a:solidFill>
                <a:latin typeface="Archivo Black"/>
                <a:ea typeface="MiSans"/>
              </a:rPr>
              <a:t>03 DEBUG</a:t>
            </a:r>
            <a:endParaRPr lang="en-US" sz="1000" noProof="1"/>
          </a:p>
        </p:txBody>
      </p:sp>
      <p:sp>
        <p:nvSpPr>
          <p:cNvPr id="4" name="t8"/>
          <p:cNvSpPr txBox="1"/>
          <p:nvPr/>
        </p:nvSpPr>
        <p:spPr>
          <a:xfrm>
            <a:off x="609600" y="685800"/>
            <a:ext cx="10972800" cy="736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04000"/>
              </a:lnSpc>
            </a:pPr>
            <a:r>
              <a:rPr lang="en-US" sz="2800" noProof="1" b="1">
                <a:solidFill>
                  <a:srgbClr val="000000"/>
                </a:solidFill>
                <a:latin typeface="Archivo Black"/>
                <a:ea typeface="MiSans"/>
              </a:rPr>
              <a:t>七个坑都填过；最狠的是 Windows 上的祖传报错</a:t>
            </a:r>
            <a:endParaRPr lang="en-US" sz="2800" noProof="1"/>
          </a:p>
        </p:txBody>
      </p:sp>
      <p:sp>
        <p:nvSpPr>
          <p:cNvPr id="5" name="st8"/>
          <p:cNvSpPr txBox="1"/>
          <p:nvPr/>
        </p:nvSpPr>
        <p:spPr>
          <a:xfrm>
            <a:off x="609600" y="1422400"/>
            <a:ext cx="10972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1100" noProof="1">
                <a:solidFill>
                  <a:srgbClr val="6E6A60"/>
                </a:solidFill>
                <a:latin typeface="Liter"/>
                <a:ea typeface="MiSans"/>
              </a:rPr>
              <a:t>本页 30 秒快讲；下一页展开最有共鸣的一个。</a:t>
            </a:r>
            <a:endParaRPr lang="en-US" sz="1100" noProof="1"/>
          </a:p>
        </p:txBody>
      </p:sp>
      <p:sp>
        <p:nvSpPr>
          <p:cNvPr id="6" name="f8_rule"/>
          <p:cNvSpPr/>
          <p:nvPr>
            <p:extLst>
              <p:ext uri="{F5677B7D-0D2A-4D9B-9A5C-6D8D7D0E5A5D}">
                <pptd:line encoding="base64url">eyJ2aWV3Qm94IjpbODY0LDJdLCJwb2ludHMiOiIwLDAgODY0LDAiLCJjdXJ2ZSI6InNoYXJwIn0</pptd:line>
              </p:ext>
            </p:extLst>
          </p:nvPr>
        </p:nvSpPr>
        <p:spPr>
          <a:xfrm>
            <a:off x="609600" y="6324600"/>
            <a:ext cx="10972800" cy="25400"/>
          </a:xfrm>
          <a:custGeom>
            <a:avLst/>
            <a:gdLst/>
            <a:ahLst/>
            <a:cxnLst/>
            <a:rect l="l" t="t" r="r" b="b"/>
            <a:pathLst>
              <a:path w="864" h="2">
                <a:moveTo>
                  <a:pt x="0" y="0"/>
                </a:moveTo>
                <a:lnTo>
                  <a:pt x="864" y="0"/>
                </a:lnTo>
              </a:path>
            </a:pathLst>
          </a:custGeom>
          <a:noFill/>
          <a:ln w="12700">
            <a:solidFill>
              <a:srgbClr val="C9C3B6"/>
            </a:solidFill>
          </a:ln>
        </p:spPr>
      </p:sp>
      <p:sp>
        <p:nvSpPr>
          <p:cNvPr id="7" name="f8_src"/>
          <p:cNvSpPr txBox="1"/>
          <p:nvPr/>
        </p:nvSpPr>
        <p:spPr>
          <a:xfrm>
            <a:off x="609600" y="6426200"/>
            <a:ext cx="9144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850" noProof="1">
                <a:solidFill>
                  <a:srgbClr val="6E6A60"/>
                </a:solidFill>
                <a:latin typeface="Liter"/>
                <a:ea typeface="MiSans"/>
              </a:rPr>
              <a:t>来源：项目 results_manifest.json 与用户提供大纲；口径与时间范围见各页标注。</a:t>
            </a:r>
            <a:endParaRPr lang="en-US" sz="850" noProof="1"/>
          </a:p>
        </p:txBody>
      </p:sp>
      <p:sp>
        <p:nvSpPr>
          <p:cNvPr id="8" name="f8_num"/>
          <p:cNvSpPr txBox="1"/>
          <p:nvPr/>
        </p:nvSpPr>
        <p:spPr>
          <a:xfrm>
            <a:off x="10922000" y="6426200"/>
            <a:ext cx="6604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6E6A60"/>
                </a:solidFill>
                <a:latin typeface="JetBrains Mono"/>
                <a:ea typeface="MiSans"/>
              </a:rPr>
              <a:t>08</a:t>
            </a:r>
            <a:endParaRPr lang="en-US" sz="900" noProof="1"/>
          </a:p>
        </p:txBody>
      </p:sp>
      <p:sp>
        <p:nvSpPr>
          <p:cNvPr id="9" name="p8_n0"/>
          <p:cNvSpPr txBox="1"/>
          <p:nvPr/>
        </p:nvSpPr>
        <p:spPr>
          <a:xfrm>
            <a:off x="762000" y="1905000"/>
            <a:ext cx="5334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800" noProof="1" b="1">
                <a:solidFill>
                  <a:srgbClr val="FFC1A8"/>
                </a:solidFill>
                <a:latin typeface="JetBrains Mono"/>
                <a:ea typeface="MiSans"/>
              </a:rPr>
              <a:t>01</a:t>
            </a:r>
            <a:endParaRPr lang="en-US" sz="1800" noProof="1"/>
          </a:p>
        </p:txBody>
      </p:sp>
      <p:sp>
        <p:nvSpPr>
          <p:cNvPr id="10" name="p8_a0"/>
          <p:cNvSpPr txBox="1"/>
          <p:nvPr/>
        </p:nvSpPr>
        <p:spPr>
          <a:xfrm>
            <a:off x="1422400" y="1905000"/>
            <a:ext cx="4572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450" noProof="1" b="1">
                <a:solidFill>
                  <a:srgbClr val="000000"/>
                </a:solidFill>
                <a:latin typeface="Liter"/>
                <a:ea typeface="MiSans"/>
              </a:rPr>
              <a:t>Windows 缺 winutils.exe</a:t>
            </a:r>
            <a:endParaRPr lang="en-US" sz="1450" noProof="1"/>
          </a:p>
        </p:txBody>
      </p:sp>
      <p:sp>
        <p:nvSpPr>
          <p:cNvPr id="11" name="p8_arrow0"/>
          <p:cNvSpPr txBox="1"/>
          <p:nvPr/>
        </p:nvSpPr>
        <p:spPr>
          <a:xfrm>
            <a:off x="6070600" y="1905000"/>
            <a:ext cx="381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400" noProof="1">
                <a:solidFill>
                  <a:srgbClr val="6E6A60"/>
                </a:solidFill>
                <a:latin typeface="Liter"/>
                <a:ea typeface="MiSans"/>
              </a:rPr>
              <a:t>→</a:t>
            </a:r>
            <a:endParaRPr lang="en-US" sz="1400" noProof="1"/>
          </a:p>
        </p:txBody>
      </p:sp>
      <p:sp>
        <p:nvSpPr>
          <p:cNvPr id="12" name="p8_b0"/>
          <p:cNvSpPr txBox="1"/>
          <p:nvPr/>
        </p:nvSpPr>
        <p:spPr>
          <a:xfrm>
            <a:off x="6553200" y="1905000"/>
            <a:ext cx="4826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350" noProof="1">
                <a:solidFill>
                  <a:srgbClr val="000000"/>
                </a:solidFill>
                <a:latin typeface="Liter"/>
                <a:ea typeface="MiSans"/>
              </a:rPr>
              <a:t>换纯 Java 文件系统</a:t>
            </a:r>
            <a:endParaRPr lang="en-US" sz="1350" noProof="1"/>
          </a:p>
        </p:txBody>
      </p:sp>
      <p:sp>
        <p:nvSpPr>
          <p:cNvPr id="13" name="p8_l0"/>
          <p:cNvSpPr/>
          <p:nvPr>
            <p:extLst>
              <p:ext uri="{F5677B7D-0D2A-4D9B-9A5C-6D8D7D0E5A5D}">
                <pptd:line encoding="base64url">eyJ2aWV3Qm94IjpbODM2LDJdLCJwb2ludHMiOiIwLDAgODM2LDAiLCJjdXJ2ZSI6InNoYXJwIn0</pptd:line>
              </p:ext>
            </p:extLst>
          </p:nvPr>
        </p:nvSpPr>
        <p:spPr>
          <a:xfrm>
            <a:off x="762000" y="2336800"/>
            <a:ext cx="10617200" cy="25400"/>
          </a:xfrm>
          <a:custGeom>
            <a:avLst/>
            <a:gdLst/>
            <a:ahLst/>
            <a:cxnLst/>
            <a:rect l="l" t="t" r="r" b="b"/>
            <a:pathLst>
              <a:path w="836" h="2">
                <a:moveTo>
                  <a:pt x="0" y="0"/>
                </a:moveTo>
                <a:lnTo>
                  <a:pt x="836" y="0"/>
                </a:lnTo>
              </a:path>
            </a:pathLst>
          </a:custGeom>
          <a:noFill/>
          <a:ln w="8890">
            <a:solidFill>
              <a:srgbClr val="C9C3B6"/>
            </a:solidFill>
          </a:ln>
        </p:spPr>
      </p:sp>
      <p:sp>
        <p:nvSpPr>
          <p:cNvPr id="14" name="p8_n1"/>
          <p:cNvSpPr txBox="1"/>
          <p:nvPr/>
        </p:nvSpPr>
        <p:spPr>
          <a:xfrm>
            <a:off x="762000" y="2501900"/>
            <a:ext cx="5334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800" noProof="1" b="1">
                <a:solidFill>
                  <a:srgbClr val="FFC1A8"/>
                </a:solidFill>
                <a:latin typeface="JetBrains Mono"/>
                <a:ea typeface="MiSans"/>
              </a:rPr>
              <a:t>02</a:t>
            </a:r>
            <a:endParaRPr lang="en-US" sz="1800" noProof="1"/>
          </a:p>
        </p:txBody>
      </p:sp>
      <p:sp>
        <p:nvSpPr>
          <p:cNvPr id="15" name="p8_a1"/>
          <p:cNvSpPr txBox="1"/>
          <p:nvPr/>
        </p:nvSpPr>
        <p:spPr>
          <a:xfrm>
            <a:off x="1422400" y="2501900"/>
            <a:ext cx="4572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450" noProof="1" b="1">
                <a:solidFill>
                  <a:srgbClr val="000000"/>
                </a:solidFill>
                <a:latin typeface="Liter"/>
                <a:ea typeface="MiSans"/>
              </a:rPr>
              <a:t>新数据源 Schema 变了</a:t>
            </a:r>
            <a:endParaRPr lang="en-US" sz="1450" noProof="1"/>
          </a:p>
        </p:txBody>
      </p:sp>
      <p:sp>
        <p:nvSpPr>
          <p:cNvPr id="16" name="p8_arrow1"/>
          <p:cNvSpPr txBox="1"/>
          <p:nvPr/>
        </p:nvSpPr>
        <p:spPr>
          <a:xfrm>
            <a:off x="6070600" y="2501900"/>
            <a:ext cx="381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400" noProof="1">
                <a:solidFill>
                  <a:srgbClr val="6E6A60"/>
                </a:solidFill>
                <a:latin typeface="Liter"/>
                <a:ea typeface="MiSans"/>
              </a:rPr>
              <a:t>→</a:t>
            </a:r>
            <a:endParaRPr lang="en-US" sz="1400" noProof="1"/>
          </a:p>
        </p:txBody>
      </p:sp>
      <p:sp>
        <p:nvSpPr>
          <p:cNvPr id="17" name="p8_b1"/>
          <p:cNvSpPr txBox="1"/>
          <p:nvPr/>
        </p:nvSpPr>
        <p:spPr>
          <a:xfrm>
            <a:off x="6553200" y="2501900"/>
            <a:ext cx="4826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350" noProof="1">
                <a:solidFill>
                  <a:srgbClr val="000000"/>
                </a:solidFill>
                <a:latin typeface="Liter"/>
                <a:ea typeface="MiSans"/>
              </a:rPr>
              <a:t>写适配层统一类型</a:t>
            </a:r>
            <a:endParaRPr lang="en-US" sz="1350" noProof="1"/>
          </a:p>
        </p:txBody>
      </p:sp>
      <p:sp>
        <p:nvSpPr>
          <p:cNvPr id="18" name="p8_l1"/>
          <p:cNvSpPr/>
          <p:nvPr>
            <p:extLst>
              <p:ext uri="{F5677B7D-0D2A-4D9B-9A5C-6D8D7D0E5A5D}">
                <pptd:line encoding="base64url">eyJ2aWV3Qm94IjpbODM2LDJdLCJwb2ludHMiOiIwLDAgODM2LDAiLCJjdXJ2ZSI6InNoYXJwIn0</pptd:line>
              </p:ext>
            </p:extLst>
          </p:nvPr>
        </p:nvSpPr>
        <p:spPr>
          <a:xfrm>
            <a:off x="762000" y="2933700"/>
            <a:ext cx="10617200" cy="25400"/>
          </a:xfrm>
          <a:custGeom>
            <a:avLst/>
            <a:gdLst/>
            <a:ahLst/>
            <a:cxnLst/>
            <a:rect l="l" t="t" r="r" b="b"/>
            <a:pathLst>
              <a:path w="836" h="2">
                <a:moveTo>
                  <a:pt x="0" y="0"/>
                </a:moveTo>
                <a:lnTo>
                  <a:pt x="836" y="0"/>
                </a:lnTo>
              </a:path>
            </a:pathLst>
          </a:custGeom>
          <a:noFill/>
          <a:ln w="8890">
            <a:solidFill>
              <a:srgbClr val="C9C3B6"/>
            </a:solidFill>
          </a:ln>
        </p:spPr>
      </p:sp>
      <p:sp>
        <p:nvSpPr>
          <p:cNvPr id="19" name="p8_n2"/>
          <p:cNvSpPr txBox="1"/>
          <p:nvPr/>
        </p:nvSpPr>
        <p:spPr>
          <a:xfrm>
            <a:off x="762000" y="3098800"/>
            <a:ext cx="5334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800" noProof="1" b="1">
                <a:solidFill>
                  <a:srgbClr val="FFC1A8"/>
                </a:solidFill>
                <a:latin typeface="JetBrains Mono"/>
                <a:ea typeface="MiSans"/>
              </a:rPr>
              <a:t>03</a:t>
            </a:r>
            <a:endParaRPr lang="en-US" sz="1800" noProof="1"/>
          </a:p>
        </p:txBody>
      </p:sp>
      <p:sp>
        <p:nvSpPr>
          <p:cNvPr id="20" name="p8_a2"/>
          <p:cNvSpPr txBox="1"/>
          <p:nvPr/>
        </p:nvSpPr>
        <p:spPr>
          <a:xfrm>
            <a:off x="1422400" y="3098800"/>
            <a:ext cx="4572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450" noProof="1" b="1">
                <a:solidFill>
                  <a:srgbClr val="000000"/>
                </a:solidFill>
                <a:latin typeface="Liter"/>
                <a:ea typeface="MiSans"/>
              </a:rPr>
              <a:t>时区陷阱</a:t>
            </a:r>
            <a:endParaRPr lang="en-US" sz="1450" noProof="1"/>
          </a:p>
        </p:txBody>
      </p:sp>
      <p:sp>
        <p:nvSpPr>
          <p:cNvPr id="21" name="p8_arrow2"/>
          <p:cNvSpPr txBox="1"/>
          <p:nvPr/>
        </p:nvSpPr>
        <p:spPr>
          <a:xfrm>
            <a:off x="6070600" y="3098800"/>
            <a:ext cx="381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400" noProof="1">
                <a:solidFill>
                  <a:srgbClr val="6E6A60"/>
                </a:solidFill>
                <a:latin typeface="Liter"/>
                <a:ea typeface="MiSans"/>
              </a:rPr>
              <a:t>→</a:t>
            </a:r>
            <a:endParaRPr lang="en-US" sz="1400" noProof="1"/>
          </a:p>
        </p:txBody>
      </p:sp>
      <p:sp>
        <p:nvSpPr>
          <p:cNvPr id="22" name="p8_b2"/>
          <p:cNvSpPr txBox="1"/>
          <p:nvPr/>
        </p:nvSpPr>
        <p:spPr>
          <a:xfrm>
            <a:off x="6553200" y="3098800"/>
            <a:ext cx="4826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350" noProof="1">
                <a:solidFill>
                  <a:srgbClr val="000000"/>
                </a:solidFill>
                <a:latin typeface="Liter"/>
                <a:ea typeface="MiSans"/>
              </a:rPr>
              <a:t>全局锁 UTC</a:t>
            </a:r>
            <a:endParaRPr lang="en-US" sz="1350" noProof="1"/>
          </a:p>
        </p:txBody>
      </p:sp>
      <p:sp>
        <p:nvSpPr>
          <p:cNvPr id="23" name="p8_l2"/>
          <p:cNvSpPr/>
          <p:nvPr>
            <p:extLst>
              <p:ext uri="{F5677B7D-0D2A-4D9B-9A5C-6D8D7D0E5A5D}">
                <pptd:line encoding="base64url">eyJ2aWV3Qm94IjpbODM2LDJdLCJwb2ludHMiOiIwLDAgODM2LDAiLCJjdXJ2ZSI6InNoYXJwIn0</pptd:line>
              </p:ext>
            </p:extLst>
          </p:nvPr>
        </p:nvSpPr>
        <p:spPr>
          <a:xfrm>
            <a:off x="762000" y="3530600"/>
            <a:ext cx="10617200" cy="25400"/>
          </a:xfrm>
          <a:custGeom>
            <a:avLst/>
            <a:gdLst/>
            <a:ahLst/>
            <a:cxnLst/>
            <a:rect l="l" t="t" r="r" b="b"/>
            <a:pathLst>
              <a:path w="836" h="2">
                <a:moveTo>
                  <a:pt x="0" y="0"/>
                </a:moveTo>
                <a:lnTo>
                  <a:pt x="836" y="0"/>
                </a:lnTo>
              </a:path>
            </a:pathLst>
          </a:custGeom>
          <a:noFill/>
          <a:ln w="8890">
            <a:solidFill>
              <a:srgbClr val="C9C3B6"/>
            </a:solidFill>
          </a:ln>
        </p:spPr>
      </p:sp>
      <p:sp>
        <p:nvSpPr>
          <p:cNvPr id="24" name="p8_n3"/>
          <p:cNvSpPr txBox="1"/>
          <p:nvPr/>
        </p:nvSpPr>
        <p:spPr>
          <a:xfrm>
            <a:off x="762000" y="3695700"/>
            <a:ext cx="5334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800" noProof="1" b="1">
                <a:solidFill>
                  <a:srgbClr val="FFC1A8"/>
                </a:solidFill>
                <a:latin typeface="JetBrains Mono"/>
                <a:ea typeface="MiSans"/>
              </a:rPr>
              <a:t>04</a:t>
            </a:r>
            <a:endParaRPr lang="en-US" sz="1800" noProof="1"/>
          </a:p>
        </p:txBody>
      </p:sp>
      <p:sp>
        <p:nvSpPr>
          <p:cNvPr id="25" name="p8_a3"/>
          <p:cNvSpPr txBox="1"/>
          <p:nvPr/>
        </p:nvSpPr>
        <p:spPr>
          <a:xfrm>
            <a:off x="1422400" y="3695700"/>
            <a:ext cx="4572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450" noProof="1" b="1">
                <a:solidFill>
                  <a:srgbClr val="000000"/>
                </a:solidFill>
                <a:latin typeface="Liter"/>
                <a:ea typeface="MiSans"/>
              </a:rPr>
              <a:t>全局排序卡死</a:t>
            </a:r>
            <a:endParaRPr lang="en-US" sz="1450" noProof="1"/>
          </a:p>
        </p:txBody>
      </p:sp>
      <p:sp>
        <p:nvSpPr>
          <p:cNvPr id="26" name="p8_arrow3"/>
          <p:cNvSpPr txBox="1"/>
          <p:nvPr/>
        </p:nvSpPr>
        <p:spPr>
          <a:xfrm>
            <a:off x="6070600" y="3695700"/>
            <a:ext cx="381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400" noProof="1">
                <a:solidFill>
                  <a:srgbClr val="6E6A60"/>
                </a:solidFill>
                <a:latin typeface="Liter"/>
                <a:ea typeface="MiSans"/>
              </a:rPr>
              <a:t>→</a:t>
            </a:r>
            <a:endParaRPr lang="en-US" sz="1400" noProof="1"/>
          </a:p>
        </p:txBody>
      </p:sp>
      <p:sp>
        <p:nvSpPr>
          <p:cNvPr id="27" name="p8_b3"/>
          <p:cNvSpPr txBox="1"/>
          <p:nvPr/>
        </p:nvSpPr>
        <p:spPr>
          <a:xfrm>
            <a:off x="6553200" y="3695700"/>
            <a:ext cx="4826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350" noProof="1">
                <a:solidFill>
                  <a:srgbClr val="000000"/>
                </a:solidFill>
                <a:latin typeface="Liter"/>
                <a:ea typeface="MiSans"/>
              </a:rPr>
              <a:t>频数表降维</a:t>
            </a:r>
            <a:endParaRPr lang="en-US" sz="1350" noProof="1"/>
          </a:p>
        </p:txBody>
      </p:sp>
      <p:sp>
        <p:nvSpPr>
          <p:cNvPr id="28" name="p8_l3"/>
          <p:cNvSpPr/>
          <p:nvPr>
            <p:extLst>
              <p:ext uri="{F5677B7D-0D2A-4D9B-9A5C-6D8D7D0E5A5D}">
                <pptd:line encoding="base64url">eyJ2aWV3Qm94IjpbODM2LDJdLCJwb2ludHMiOiIwLDAgODM2LDAiLCJjdXJ2ZSI6InNoYXJwIn0</pptd:line>
              </p:ext>
            </p:extLst>
          </p:nvPr>
        </p:nvSpPr>
        <p:spPr>
          <a:xfrm>
            <a:off x="762000" y="4127500"/>
            <a:ext cx="10617200" cy="25400"/>
          </a:xfrm>
          <a:custGeom>
            <a:avLst/>
            <a:gdLst/>
            <a:ahLst/>
            <a:cxnLst/>
            <a:rect l="l" t="t" r="r" b="b"/>
            <a:pathLst>
              <a:path w="836" h="2">
                <a:moveTo>
                  <a:pt x="0" y="0"/>
                </a:moveTo>
                <a:lnTo>
                  <a:pt x="836" y="0"/>
                </a:lnTo>
              </a:path>
            </a:pathLst>
          </a:custGeom>
          <a:noFill/>
          <a:ln w="8890">
            <a:solidFill>
              <a:srgbClr val="C9C3B6"/>
            </a:solidFill>
          </a:ln>
        </p:spPr>
      </p:sp>
      <p:sp>
        <p:nvSpPr>
          <p:cNvPr id="29" name="p8_n4"/>
          <p:cNvSpPr txBox="1"/>
          <p:nvPr/>
        </p:nvSpPr>
        <p:spPr>
          <a:xfrm>
            <a:off x="762000" y="4292600"/>
            <a:ext cx="5334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800" noProof="1" b="1">
                <a:solidFill>
                  <a:srgbClr val="FFC1A8"/>
                </a:solidFill>
                <a:latin typeface="JetBrains Mono"/>
                <a:ea typeface="MiSans"/>
              </a:rPr>
              <a:t>05</a:t>
            </a:r>
            <a:endParaRPr lang="en-US" sz="1800" noProof="1"/>
          </a:p>
        </p:txBody>
      </p:sp>
      <p:sp>
        <p:nvSpPr>
          <p:cNvPr id="30" name="p8_a4"/>
          <p:cNvSpPr txBox="1"/>
          <p:nvPr/>
        </p:nvSpPr>
        <p:spPr>
          <a:xfrm>
            <a:off x="1422400" y="4292600"/>
            <a:ext cx="4572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450" noProof="1" b="1">
                <a:solidFill>
                  <a:srgbClr val="000000"/>
                </a:solidFill>
                <a:latin typeface="Liter"/>
                <a:ea typeface="MiSans"/>
              </a:rPr>
              <a:t>93 万节点图跑不动</a:t>
            </a:r>
            <a:endParaRPr lang="en-US" sz="1450" noProof="1"/>
          </a:p>
        </p:txBody>
      </p:sp>
      <p:sp>
        <p:nvSpPr>
          <p:cNvPr id="31" name="p8_arrow4"/>
          <p:cNvSpPr txBox="1"/>
          <p:nvPr/>
        </p:nvSpPr>
        <p:spPr>
          <a:xfrm>
            <a:off x="6070600" y="4292600"/>
            <a:ext cx="381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400" noProof="1">
                <a:solidFill>
                  <a:srgbClr val="6E6A60"/>
                </a:solidFill>
                <a:latin typeface="Liter"/>
                <a:ea typeface="MiSans"/>
              </a:rPr>
              <a:t>→</a:t>
            </a:r>
            <a:endParaRPr lang="en-US" sz="1400" noProof="1"/>
          </a:p>
        </p:txBody>
      </p:sp>
      <p:sp>
        <p:nvSpPr>
          <p:cNvPr id="32" name="p8_b4"/>
          <p:cNvSpPr txBox="1"/>
          <p:nvPr/>
        </p:nvSpPr>
        <p:spPr>
          <a:xfrm>
            <a:off x="6553200" y="4292600"/>
            <a:ext cx="4826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350" noProof="1">
                <a:solidFill>
                  <a:srgbClr val="000000"/>
                </a:solidFill>
                <a:latin typeface="Liter"/>
                <a:ea typeface="MiSans"/>
              </a:rPr>
              <a:t>拆脚本 + 看门狗 + 续跑</a:t>
            </a:r>
            <a:endParaRPr lang="en-US" sz="1350" noProof="1"/>
          </a:p>
        </p:txBody>
      </p:sp>
      <p:sp>
        <p:nvSpPr>
          <p:cNvPr id="33" name="p8_l4"/>
          <p:cNvSpPr/>
          <p:nvPr>
            <p:extLst>
              <p:ext uri="{F5677B7D-0D2A-4D9B-9A5C-6D8D7D0E5A5D}">
                <pptd:line encoding="base64url">eyJ2aWV3Qm94IjpbODM2LDJdLCJwb2ludHMiOiIwLDAgODM2LDAiLCJjdXJ2ZSI6InNoYXJwIn0</pptd:line>
              </p:ext>
            </p:extLst>
          </p:nvPr>
        </p:nvSpPr>
        <p:spPr>
          <a:xfrm>
            <a:off x="762000" y="4724400"/>
            <a:ext cx="10617200" cy="25400"/>
          </a:xfrm>
          <a:custGeom>
            <a:avLst/>
            <a:gdLst/>
            <a:ahLst/>
            <a:cxnLst/>
            <a:rect l="l" t="t" r="r" b="b"/>
            <a:pathLst>
              <a:path w="836" h="2">
                <a:moveTo>
                  <a:pt x="0" y="0"/>
                </a:moveTo>
                <a:lnTo>
                  <a:pt x="836" y="0"/>
                </a:lnTo>
              </a:path>
            </a:pathLst>
          </a:custGeom>
          <a:noFill/>
          <a:ln w="8890">
            <a:solidFill>
              <a:srgbClr val="C9C3B6"/>
            </a:solidFill>
          </a:ln>
        </p:spPr>
      </p:sp>
      <p:sp>
        <p:nvSpPr>
          <p:cNvPr id="34" name="p8_n5"/>
          <p:cNvSpPr txBox="1"/>
          <p:nvPr/>
        </p:nvSpPr>
        <p:spPr>
          <a:xfrm>
            <a:off x="762000" y="4889500"/>
            <a:ext cx="5334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800" noProof="1" b="1">
                <a:solidFill>
                  <a:srgbClr val="FFC1A8"/>
                </a:solidFill>
                <a:latin typeface="JetBrains Mono"/>
                <a:ea typeface="MiSans"/>
              </a:rPr>
              <a:t>06</a:t>
            </a:r>
            <a:endParaRPr lang="en-US" sz="1800" noProof="1"/>
          </a:p>
        </p:txBody>
      </p:sp>
      <p:sp>
        <p:nvSpPr>
          <p:cNvPr id="35" name="p8_a5"/>
          <p:cNvSpPr txBox="1"/>
          <p:nvPr/>
        </p:nvSpPr>
        <p:spPr>
          <a:xfrm>
            <a:off x="1422400" y="4889500"/>
            <a:ext cx="4572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450" noProof="1" b="1">
                <a:solidFill>
                  <a:srgbClr val="000000"/>
                </a:solidFill>
                <a:latin typeface="Liter"/>
                <a:ea typeface="MiSans"/>
              </a:rPr>
              <a:t>ML 评估泄漏</a:t>
            </a:r>
            <a:endParaRPr lang="en-US" sz="1450" noProof="1"/>
          </a:p>
        </p:txBody>
      </p:sp>
      <p:sp>
        <p:nvSpPr>
          <p:cNvPr id="36" name="p8_arrow5"/>
          <p:cNvSpPr txBox="1"/>
          <p:nvPr/>
        </p:nvSpPr>
        <p:spPr>
          <a:xfrm>
            <a:off x="6070600" y="4889500"/>
            <a:ext cx="381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400" noProof="1">
                <a:solidFill>
                  <a:srgbClr val="6E6A60"/>
                </a:solidFill>
                <a:latin typeface="Liter"/>
                <a:ea typeface="MiSans"/>
              </a:rPr>
              <a:t>→</a:t>
            </a:r>
            <a:endParaRPr lang="en-US" sz="1400" noProof="1"/>
          </a:p>
        </p:txBody>
      </p:sp>
      <p:sp>
        <p:nvSpPr>
          <p:cNvPr id="37" name="p8_b5"/>
          <p:cNvSpPr txBox="1"/>
          <p:nvPr/>
        </p:nvSpPr>
        <p:spPr>
          <a:xfrm>
            <a:off x="6553200" y="4889500"/>
            <a:ext cx="4826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350" noProof="1">
                <a:solidFill>
                  <a:srgbClr val="000000"/>
                </a:solidFill>
                <a:latin typeface="Liter"/>
                <a:ea typeface="MiSans"/>
              </a:rPr>
              <a:t>先切训练/测试</a:t>
            </a:r>
            <a:endParaRPr lang="en-US" sz="1350" noProof="1"/>
          </a:p>
        </p:txBody>
      </p:sp>
      <p:sp>
        <p:nvSpPr>
          <p:cNvPr id="38" name="p8_l5"/>
          <p:cNvSpPr/>
          <p:nvPr>
            <p:extLst>
              <p:ext uri="{F5677B7D-0D2A-4D9B-9A5C-6D8D7D0E5A5D}">
                <pptd:line encoding="base64url">eyJ2aWV3Qm94IjpbODM2LDJdLCJwb2ludHMiOiIwLDAgODM2LDAiLCJjdXJ2ZSI6InNoYXJwIn0</pptd:line>
              </p:ext>
            </p:extLst>
          </p:nvPr>
        </p:nvSpPr>
        <p:spPr>
          <a:xfrm>
            <a:off x="762000" y="5321300"/>
            <a:ext cx="10617200" cy="25400"/>
          </a:xfrm>
          <a:custGeom>
            <a:avLst/>
            <a:gdLst/>
            <a:ahLst/>
            <a:cxnLst/>
            <a:rect l="l" t="t" r="r" b="b"/>
            <a:pathLst>
              <a:path w="836" h="2">
                <a:moveTo>
                  <a:pt x="0" y="0"/>
                </a:moveTo>
                <a:lnTo>
                  <a:pt x="836" y="0"/>
                </a:lnTo>
              </a:path>
            </a:pathLst>
          </a:custGeom>
          <a:noFill/>
          <a:ln w="8890">
            <a:solidFill>
              <a:srgbClr val="C9C3B6"/>
            </a:solidFill>
          </a:ln>
        </p:spPr>
      </p:sp>
      <p:sp>
        <p:nvSpPr>
          <p:cNvPr id="39" name="p8_n6"/>
          <p:cNvSpPr txBox="1"/>
          <p:nvPr/>
        </p:nvSpPr>
        <p:spPr>
          <a:xfrm>
            <a:off x="762000" y="5486400"/>
            <a:ext cx="5334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800" noProof="1" b="1">
                <a:solidFill>
                  <a:srgbClr val="FFC1A8"/>
                </a:solidFill>
                <a:latin typeface="JetBrains Mono"/>
                <a:ea typeface="MiSans"/>
              </a:rPr>
              <a:t>07</a:t>
            </a:r>
            <a:endParaRPr lang="en-US" sz="1800" noProof="1"/>
          </a:p>
        </p:txBody>
      </p:sp>
      <p:sp>
        <p:nvSpPr>
          <p:cNvPr id="40" name="p8_a6"/>
          <p:cNvSpPr txBox="1"/>
          <p:nvPr/>
        </p:nvSpPr>
        <p:spPr>
          <a:xfrm>
            <a:off x="1422400" y="5486400"/>
            <a:ext cx="4572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450" noProof="1" b="1">
                <a:solidFill>
                  <a:srgbClr val="000000"/>
                </a:solidFill>
                <a:latin typeface="Liter"/>
                <a:ea typeface="MiSans"/>
              </a:rPr>
              <a:t>32GB 内存不够</a:t>
            </a:r>
            <a:endParaRPr lang="en-US" sz="1450" noProof="1"/>
          </a:p>
        </p:txBody>
      </p:sp>
      <p:sp>
        <p:nvSpPr>
          <p:cNvPr id="41" name="p8_arrow6"/>
          <p:cNvSpPr txBox="1"/>
          <p:nvPr/>
        </p:nvSpPr>
        <p:spPr>
          <a:xfrm>
            <a:off x="6070600" y="5486400"/>
            <a:ext cx="381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400" noProof="1">
                <a:solidFill>
                  <a:srgbClr val="6E6A60"/>
                </a:solidFill>
                <a:latin typeface="Liter"/>
                <a:ea typeface="MiSans"/>
              </a:rPr>
              <a:t>→</a:t>
            </a:r>
            <a:endParaRPr lang="en-US" sz="1400" noProof="1"/>
          </a:p>
        </p:txBody>
      </p:sp>
      <p:sp>
        <p:nvSpPr>
          <p:cNvPr id="42" name="p8_b6"/>
          <p:cNvSpPr txBox="1"/>
          <p:nvPr/>
        </p:nvSpPr>
        <p:spPr>
          <a:xfrm>
            <a:off x="6553200" y="5486400"/>
            <a:ext cx="4826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350" noProof="1">
                <a:solidFill>
                  <a:srgbClr val="000000"/>
                </a:solidFill>
                <a:latin typeface="Liter"/>
                <a:ea typeface="MiSans"/>
              </a:rPr>
              <a:t>按需调并行度</a:t>
            </a:r>
            <a:endParaRPr lang="en-US" sz="1350" noProof="1"/>
          </a:p>
        </p:txBody>
      </p:sp>
      <p:sp>
        <p:nvSpPr>
          <p:cNvPr id="43" name="p8_l6"/>
          <p:cNvSpPr/>
          <p:nvPr>
            <p:extLst>
              <p:ext uri="{F5677B7D-0D2A-4D9B-9A5C-6D8D7D0E5A5D}">
                <pptd:line encoding="base64url">eyJ2aWV3Qm94IjpbODM2LDJdLCJwb2ludHMiOiIwLDAgODM2LDAiLCJjdXJ2ZSI6InNoYXJwIn0</pptd:line>
              </p:ext>
            </p:extLst>
          </p:nvPr>
        </p:nvSpPr>
        <p:spPr>
          <a:xfrm>
            <a:off x="762000" y="5918200"/>
            <a:ext cx="10617200" cy="25400"/>
          </a:xfrm>
          <a:custGeom>
            <a:avLst/>
            <a:gdLst/>
            <a:ahLst/>
            <a:cxnLst/>
            <a:rect l="l" t="t" r="r" b="b"/>
            <a:pathLst>
              <a:path w="836" h="2">
                <a:moveTo>
                  <a:pt x="0" y="0"/>
                </a:moveTo>
                <a:lnTo>
                  <a:pt x="836" y="0"/>
                </a:lnTo>
              </a:path>
            </a:pathLst>
          </a:custGeom>
          <a:noFill/>
          <a:ln w="8890">
            <a:solidFill>
              <a:srgbClr val="C9C3B6"/>
            </a:solidFill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2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9_sq"/>
          <p:cNvSpPr/>
          <p:nvPr/>
        </p:nvSpPr>
        <p:spPr>
          <a:xfrm>
            <a:off x="609600" y="330200"/>
            <a:ext cx="165100" cy="165100"/>
          </a:xfrm>
          <a:prstGeom prst="rect">
            <a:avLst/>
          </a:prstGeom>
          <a:solidFill>
            <a:srgbClr val="FFC1A8"/>
          </a:solidFill>
          <a:ln>
            <a:noFill/>
          </a:ln>
        </p:spPr>
      </p:sp>
      <p:sp>
        <p:nvSpPr>
          <p:cNvPr id="3" name="h9_lab"/>
          <p:cNvSpPr txBox="1"/>
          <p:nvPr/>
        </p:nvSpPr>
        <p:spPr>
          <a:xfrm>
            <a:off x="889000" y="241300"/>
            <a:ext cx="4572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00" noProof="1" b="1" spc="200" kern="0">
                <a:solidFill>
                  <a:srgbClr val="000000"/>
                </a:solidFill>
                <a:latin typeface="Archivo Black"/>
                <a:ea typeface="MiSans"/>
              </a:rPr>
              <a:t>03 DEBUG</a:t>
            </a:r>
            <a:endParaRPr lang="en-US" sz="1000" noProof="1"/>
          </a:p>
        </p:txBody>
      </p:sp>
      <p:sp>
        <p:nvSpPr>
          <p:cNvPr id="4" name="t9"/>
          <p:cNvSpPr txBox="1"/>
          <p:nvPr/>
        </p:nvSpPr>
        <p:spPr>
          <a:xfrm>
            <a:off x="609600" y="685800"/>
            <a:ext cx="10972800" cy="736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04000"/>
              </a:lnSpc>
            </a:pPr>
            <a:r>
              <a:rPr lang="en-US" sz="2800" noProof="1" b="1">
                <a:solidFill>
                  <a:srgbClr val="000000"/>
                </a:solidFill>
                <a:latin typeface="Archivo Black"/>
                <a:ea typeface="MiSans"/>
              </a:rPr>
              <a:t>为什么别人在 Windows 跑 Spark 总报错，我没报？</a:t>
            </a:r>
            <a:endParaRPr lang="en-US" sz="2800" noProof="1"/>
          </a:p>
        </p:txBody>
      </p:sp>
      <p:sp>
        <p:nvSpPr>
          <p:cNvPr id="5" name="st9"/>
          <p:cNvSpPr txBox="1"/>
          <p:nvPr/>
        </p:nvSpPr>
        <p:spPr>
          <a:xfrm>
            <a:off x="609600" y="1422400"/>
            <a:ext cx="10972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1100" noProof="1">
                <a:solidFill>
                  <a:srgbClr val="6E6A60"/>
                </a:solidFill>
                <a:latin typeface="Liter"/>
                <a:ea typeface="MiSans"/>
              </a:rPr>
              <a:t>排查结论：core-default.xml 没有开关能关掉这次权限调用（反编译 Hadoop 源码确认）。</a:t>
            </a:r>
            <a:endParaRPr lang="en-US" sz="1100" noProof="1"/>
          </a:p>
        </p:txBody>
      </p:sp>
      <p:sp>
        <p:nvSpPr>
          <p:cNvPr id="6" name="f9_rule"/>
          <p:cNvSpPr/>
          <p:nvPr>
            <p:extLst>
              <p:ext uri="{F5677B7D-0D2A-4D9B-9A5C-6D8D7D0E5A5D}">
                <pptd:line encoding="base64url">eyJ2aWV3Qm94IjpbODY0LDJdLCJwb2ludHMiOiIwLDAgODY0LDAiLCJjdXJ2ZSI6InNoYXJwIn0</pptd:line>
              </p:ext>
            </p:extLst>
          </p:nvPr>
        </p:nvSpPr>
        <p:spPr>
          <a:xfrm>
            <a:off x="609600" y="6324600"/>
            <a:ext cx="10972800" cy="25400"/>
          </a:xfrm>
          <a:custGeom>
            <a:avLst/>
            <a:gdLst/>
            <a:ahLst/>
            <a:cxnLst/>
            <a:rect l="l" t="t" r="r" b="b"/>
            <a:pathLst>
              <a:path w="864" h="2">
                <a:moveTo>
                  <a:pt x="0" y="0"/>
                </a:moveTo>
                <a:lnTo>
                  <a:pt x="864" y="0"/>
                </a:lnTo>
              </a:path>
            </a:pathLst>
          </a:custGeom>
          <a:noFill/>
          <a:ln w="12700">
            <a:solidFill>
              <a:srgbClr val="C9C3B6"/>
            </a:solidFill>
          </a:ln>
        </p:spPr>
      </p:sp>
      <p:sp>
        <p:nvSpPr>
          <p:cNvPr id="7" name="f9_src"/>
          <p:cNvSpPr txBox="1"/>
          <p:nvPr/>
        </p:nvSpPr>
        <p:spPr>
          <a:xfrm>
            <a:off x="609600" y="6426200"/>
            <a:ext cx="9144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850" noProof="1">
                <a:solidFill>
                  <a:srgbClr val="6E6A60"/>
                </a:solidFill>
                <a:latin typeface="Liter"/>
                <a:ea typeface="MiSans"/>
              </a:rPr>
              <a:t>来源：项目 results_manifest.json 与用户提供大纲；口径与时间范围见各页标注。</a:t>
            </a:r>
            <a:endParaRPr lang="en-US" sz="850" noProof="1"/>
          </a:p>
        </p:txBody>
      </p:sp>
      <p:sp>
        <p:nvSpPr>
          <p:cNvPr id="8" name="f9_num"/>
          <p:cNvSpPr txBox="1"/>
          <p:nvPr/>
        </p:nvSpPr>
        <p:spPr>
          <a:xfrm>
            <a:off x="10922000" y="6426200"/>
            <a:ext cx="6604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6E6A60"/>
                </a:solidFill>
                <a:latin typeface="JetBrains Mono"/>
                <a:ea typeface="MiSans"/>
              </a:rPr>
              <a:t>09</a:t>
            </a:r>
            <a:endParaRPr lang="en-US" sz="900" noProof="1"/>
          </a:p>
        </p:txBody>
      </p:sp>
      <p:sp>
        <p:nvSpPr>
          <p:cNvPr id="9" name="p9_bad_h"/>
          <p:cNvSpPr txBox="1"/>
          <p:nvPr/>
        </p:nvSpPr>
        <p:spPr>
          <a:xfrm>
            <a:off x="736600" y="1905000"/>
            <a:ext cx="4572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700" noProof="1" b="1">
                <a:solidFill>
                  <a:srgbClr val="000000"/>
                </a:solidFill>
                <a:latin typeface="Archivo Black"/>
                <a:ea typeface="MiSans"/>
              </a:rPr>
              <a:t>坑：权限调用没有开关</a:t>
            </a:r>
            <a:endParaRPr lang="en-US" sz="1700" noProof="1"/>
          </a:p>
        </p:txBody>
      </p:sp>
      <p:sp>
        <p:nvSpPr>
          <p:cNvPr id="10" name="p9_bad_rule"/>
          <p:cNvSpPr/>
          <p:nvPr>
            <p:extLst>
              <p:ext uri="{F5677B7D-0D2A-4D9B-9A5C-6D8D7D0E5A5D}">
                <pptd:line encoding="base64url">eyJ2aWV3Qm94IjpbMzYwLDRdLCJwb2ludHMiOiIwLDAgMzYwLDAiLCJjdXJ2ZSI6InNoYXJwIn0</pptd:line>
              </p:ext>
            </p:extLst>
          </p:nvPr>
        </p:nvSpPr>
        <p:spPr>
          <a:xfrm>
            <a:off x="736600" y="2286000"/>
            <a:ext cx="4572000" cy="50800"/>
          </a:xfrm>
          <a:custGeom>
            <a:avLst/>
            <a:gdLst/>
            <a:ahLst/>
            <a:cxnLst/>
            <a:rect l="l" t="t" r="r" b="b"/>
            <a:pathLst>
              <a:path w="360" h="4">
                <a:moveTo>
                  <a:pt x="0" y="0"/>
                </a:moveTo>
                <a:lnTo>
                  <a:pt x="360" y="0"/>
                </a:lnTo>
              </a:path>
            </a:pathLst>
          </a:custGeom>
          <a:noFill/>
          <a:ln w="50800">
            <a:solidFill>
              <a:srgbClr val="FFC1A8"/>
            </a:solidFill>
          </a:ln>
        </p:spPr>
      </p:sp>
      <p:sp>
        <p:nvSpPr>
          <p:cNvPr id="11" name="p9_bad"/>
          <p:cNvSpPr txBox="1"/>
          <p:nvPr/>
        </p:nvSpPr>
        <p:spPr>
          <a:xfrm>
            <a:off x="736600" y="2489200"/>
            <a:ext cx="4724400" cy="190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8000"/>
              </a:lnSpc>
            </a:pPr>
            <a:r>
              <a:rPr lang="en-US" sz="1300" noProof="1">
                <a:solidFill>
                  <a:srgbClr val="000000"/>
                </a:solidFill>
                <a:latin typeface="Liter"/>
                <a:ea typeface="MiSans"/>
              </a:rPr>
              <a:t>Spark 默认 </a:t>
            </a:r>
            <a:r>
              <a:rPr lang="en-US" sz="1300" noProof="1">
                <a:solidFill>
                  <a:srgbClr val="000000"/>
                </a:solidFill>
                <a:latin typeface="JetBrains Mono"/>
                <a:ea typeface="JetBrains Mono"/>
              </a:rPr>
              <a:t>RawLocalFileSystem.setPermission</a:t>
            </a:r>
            <a:r>
              <a:rPr lang="en-US" sz="1300" noProof="1">
                <a:solidFill>
                  <a:srgbClr val="000000"/>
                </a:solidFill>
                <a:latin typeface="Liter"/>
                <a:ea typeface="MiSans"/>
              </a:rPr>
              <a:t> 在 Windows 上只有两条路：</a:t>
            </a:r>
            <a:r>
              <a:rPr lang="en-US" sz="1300" noProof="1">
                <a:solidFill>
                  <a:srgbClr val="000000"/>
                </a:solidFill>
                <a:latin typeface="JetBrains Mono"/>
                <a:ea typeface="JetBrains Mono"/>
              </a:rPr>
              <a:t>hadoop.dll</a:t>
            </a:r>
            <a:r>
              <a:rPr lang="en-US" sz="1300" noProof="1">
                <a:solidFill>
                  <a:srgbClr val="000000"/>
                </a:solidFill>
                <a:latin typeface="Liter"/>
                <a:ea typeface="MiSans"/>
              </a:rPr>
              <a:t> 或 </a:t>
            </a:r>
            <a:r>
              <a:rPr lang="en-US" sz="1300" noProof="1">
                <a:solidFill>
                  <a:srgbClr val="000000"/>
                </a:solidFill>
                <a:latin typeface="JetBrains Mono"/>
                <a:ea typeface="JetBrains Mono"/>
              </a:rPr>
              <a:t>winutils.exe</a:t>
            </a:r>
            <a:r>
              <a:rPr lang="en-US" sz="1300" noProof="1">
                <a:solidFill>
                  <a:srgbClr val="000000"/>
                </a:solidFill>
                <a:latin typeface="Liter"/>
                <a:ea typeface="MiSans"/>
              </a:rPr>
              <a:t>。</a:t>
            </a:r>
            <a:endParaRPr lang="en-US" sz="1300" noProof="1"/>
          </a:p>
          <a:p>
            <a:pPr>
              <a:lnSpc>
                <a:spcPct val="138000"/>
              </a:lnSpc>
              <a:spcBef>
                <a:spcPts val="1000"/>
              </a:spcBef>
            </a:pPr>
            <a:r>
              <a:rPr lang="en-US" sz="1300" noProof="1">
                <a:solidFill>
                  <a:srgbClr val="000000"/>
                </a:solidFill>
                <a:latin typeface="Liter"/>
                <a:ea typeface="MiSans"/>
              </a:rPr>
              <a:t>而 </a:t>
            </a:r>
            <a:r>
              <a:rPr lang="en-US" sz="1300" noProof="1">
                <a:solidFill>
                  <a:srgbClr val="000000"/>
                </a:solidFill>
                <a:latin typeface="JetBrains Mono"/>
                <a:ea typeface="JetBrains Mono"/>
              </a:rPr>
              <a:t>core-default.xml</a:t>
            </a:r>
            <a:r>
              <a:rPr lang="en-US" sz="1300" noProof="1">
                <a:solidFill>
                  <a:srgbClr val="000000"/>
                </a:solidFill>
                <a:latin typeface="Liter"/>
                <a:ea typeface="MiSans"/>
              </a:rPr>
              <a:t> </a:t>
            </a:r>
            <a:r>
              <a:rPr lang="en-US" sz="1300" noProof="1" b="1">
                <a:solidFill>
                  <a:srgbClr val="000000"/>
                </a:solidFill>
                <a:latin typeface="Liter"/>
                <a:ea typeface="MiSans"/>
              </a:rPr>
              <a:t>没有任何开关</a:t>
            </a:r>
            <a:r>
              <a:rPr lang="en-US" sz="1300" noProof="1">
                <a:solidFill>
                  <a:srgbClr val="000000"/>
                </a:solidFill>
                <a:latin typeface="Liter"/>
                <a:ea typeface="MiSans"/>
              </a:rPr>
              <a:t>能关掉这次调用。</a:t>
            </a:r>
            <a:endParaRPr lang="en-US" sz="1300" noProof="1"/>
          </a:p>
        </p:txBody>
      </p:sp>
      <p:sp>
        <p:nvSpPr>
          <p:cNvPr id="12" name="p9_good_h"/>
          <p:cNvSpPr txBox="1"/>
          <p:nvPr/>
        </p:nvSpPr>
        <p:spPr>
          <a:xfrm>
            <a:off x="6350000" y="1905000"/>
            <a:ext cx="5080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700" noProof="1" b="1">
                <a:solidFill>
                  <a:srgbClr val="000000"/>
                </a:solidFill>
                <a:latin typeface="Archivo Black"/>
                <a:ea typeface="MiSans"/>
              </a:rPr>
              <a:t>解法：不硬刚，换正确实现</a:t>
            </a:r>
            <a:endParaRPr lang="en-US" sz="1700" noProof="1"/>
          </a:p>
        </p:txBody>
      </p:sp>
      <p:sp>
        <p:nvSpPr>
          <p:cNvPr id="13" name="p9_good_rule"/>
          <p:cNvSpPr/>
          <p:nvPr>
            <p:extLst>
              <p:ext uri="{F5677B7D-0D2A-4D9B-9A5C-6D8D7D0E5A5D}">
                <pptd:line encoding="base64url">eyJ2aWV3Qm94IjpbNDAwLDRdLCJwb2ludHMiOiIwLDAgNDAwLDAiLCJjdXJ2ZSI6InNoYXJwIn0</pptd:line>
              </p:ext>
            </p:extLst>
          </p:nvPr>
        </p:nvSpPr>
        <p:spPr>
          <a:xfrm>
            <a:off x="6350000" y="2286000"/>
            <a:ext cx="5080000" cy="50800"/>
          </a:xfrm>
          <a:custGeom>
            <a:avLst/>
            <a:gdLst/>
            <a:ahLst/>
            <a:cxnLst/>
            <a:rect l="l" t="t" r="r" b="b"/>
            <a:pathLst>
              <a:path w="400" h="4">
                <a:moveTo>
                  <a:pt x="0" y="0"/>
                </a:moveTo>
                <a:lnTo>
                  <a:pt x="400" y="0"/>
                </a:lnTo>
              </a:path>
            </a:pathLst>
          </a:custGeom>
          <a:noFill/>
          <a:ln w="50800">
            <a:solidFill>
              <a:srgbClr val="08BC51"/>
            </a:solidFill>
          </a:ln>
        </p:spPr>
      </p:sp>
      <p:sp>
        <p:nvSpPr>
          <p:cNvPr id="14" name="p9_good"/>
          <p:cNvSpPr txBox="1"/>
          <p:nvPr/>
        </p:nvSpPr>
        <p:spPr>
          <a:xfrm>
            <a:off x="6350000" y="2489200"/>
            <a:ext cx="5207000" cy="292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300" noProof="1" b="1">
                <a:solidFill>
                  <a:srgbClr val="000000"/>
                </a:solidFill>
                <a:latin typeface="Liter"/>
                <a:ea typeface="MiSans"/>
              </a:rPr>
              <a:t>①</a:t>
            </a:r>
            <a:r>
              <a:rPr lang="en-US" sz="1300" noProof="1">
                <a:solidFill>
                  <a:srgbClr val="000000"/>
                </a:solidFill>
                <a:latin typeface="Liter"/>
                <a:ea typeface="MiSans"/>
              </a:rPr>
              <a:t> 换纯 Java 的 </a:t>
            </a:r>
            <a:r>
              <a:rPr lang="en-US" sz="1300" noProof="1">
                <a:solidFill>
                  <a:srgbClr val="000000"/>
                </a:solidFill>
                <a:latin typeface="JetBrains Mono"/>
                <a:ea typeface="JetBrains Mono"/>
              </a:rPr>
              <a:t>BareLocalFileSystem</a:t>
            </a:r>
            <a:r>
              <a:rPr lang="en-US" sz="1300" noProof="1">
                <a:solidFill>
                  <a:srgbClr val="000000"/>
                </a:solidFill>
                <a:latin typeface="Liter"/>
                <a:ea typeface="MiSans"/>
              </a:rPr>
              <a:t>，Windows 上 </a:t>
            </a:r>
            <a:r>
              <a:rPr lang="en-US" sz="1300" noProof="1">
                <a:solidFill>
                  <a:srgbClr val="000000"/>
                </a:solidFill>
                <a:latin typeface="JetBrains Mono"/>
                <a:ea typeface="JetBrains Mono"/>
              </a:rPr>
              <a:t>setPermission</a:t>
            </a:r>
            <a:r>
              <a:rPr lang="en-US" sz="1300" noProof="1">
                <a:solidFill>
                  <a:srgbClr val="000000"/>
                </a:solidFill>
                <a:latin typeface="Liter"/>
                <a:ea typeface="MiSans"/>
              </a:rPr>
              <a:t> 直接空操作。</a:t>
            </a:r>
            <a:endParaRPr lang="en-US" sz="1300" noProof="1"/>
          </a:p>
          <a:p>
            <a:pPr>
              <a:lnSpc>
                <a:spcPct val="140000"/>
              </a:lnSpc>
              <a:spcBef>
                <a:spcPts val="1000"/>
              </a:spcBef>
            </a:pPr>
            <a:r>
              <a:rPr lang="en-US" sz="1300" noProof="1" b="1">
                <a:solidFill>
                  <a:srgbClr val="000000"/>
                </a:solidFill>
                <a:latin typeface="Liter"/>
                <a:ea typeface="MiSans"/>
              </a:rPr>
              <a:t>②</a:t>
            </a:r>
            <a:r>
              <a:rPr lang="en-US" sz="1300" noProof="1">
                <a:solidFill>
                  <a:srgbClr val="000000"/>
                </a:solidFill>
                <a:latin typeface="Liter"/>
                <a:ea typeface="MiSans"/>
              </a:rPr>
              <a:t> 时区全局锁 UTC；否则 23 点的 UTC 记录会被推错月份。</a:t>
            </a:r>
            <a:endParaRPr lang="en-US" sz="1300" noProof="1"/>
          </a:p>
          <a:p>
            <a:pPr>
              <a:lnSpc>
                <a:spcPct val="140000"/>
              </a:lnSpc>
              <a:spcBef>
                <a:spcPts val="1000"/>
              </a:spcBef>
            </a:pPr>
            <a:r>
              <a:rPr lang="en-US" sz="1300" noProof="1" b="1">
                <a:solidFill>
                  <a:srgbClr val="000000"/>
                </a:solidFill>
                <a:latin typeface="Liter"/>
                <a:ea typeface="MiSans"/>
              </a:rPr>
              <a:t>③</a:t>
            </a:r>
            <a:r>
              <a:rPr lang="en-US" sz="1300" noProof="1">
                <a:solidFill>
                  <a:srgbClr val="000000"/>
                </a:solidFill>
                <a:latin typeface="Liter"/>
                <a:ea typeface="MiSans"/>
              </a:rPr>
              <a:t> 全局排序改“先聚合频数表、再查表还原排名”，绕开单分区 shuffle。</a:t>
            </a:r>
            <a:endParaRPr lang="en-US" sz="1300" noProof="1"/>
          </a:p>
        </p:txBody>
      </p:sp>
      <p:sp>
        <p:nvSpPr>
          <p:cNvPr id="15" name="p9_call"/>
          <p:cNvSpPr/>
          <p:nvPr/>
        </p:nvSpPr>
        <p:spPr>
          <a:xfrm>
            <a:off x="6350000" y="5562600"/>
            <a:ext cx="5080000" cy="482600"/>
          </a:xfrm>
          <a:prstGeom prst="rect">
            <a:avLst/>
          </a:prstGeom>
          <a:solidFill>
            <a:srgbClr val="08BC51">
              <a:alpha val="16000"/>
            </a:srgbClr>
          </a:solidFill>
          <a:ln>
            <a:noFill/>
          </a:ln>
        </p:spPr>
      </p:sp>
      <p:sp>
        <p:nvSpPr>
          <p:cNvPr id="16" name="p9_call_t"/>
          <p:cNvSpPr txBox="1"/>
          <p:nvPr/>
        </p:nvSpPr>
        <p:spPr>
          <a:xfrm>
            <a:off x="6502400" y="5638800"/>
            <a:ext cx="47752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000000"/>
                </a:solidFill>
                <a:latin typeface="Liter"/>
                <a:ea typeface="MiSans"/>
              </a:rPr>
              <a:t>排查经历比代码本身更值：先证明“不能配”，再选择绕过。</a:t>
            </a:r>
            <a:endParaRPr lang="en-US" sz="1200" noProof="1"/>
          </a:p>
        </p:txBody>
      </p:sp>
      <p:sp>
        <p:nvSpPr>
          <p:cNvPr id="17" name="p9_path_h"/>
          <p:cNvSpPr txBox="1"/>
          <p:nvPr/>
        </p:nvSpPr>
        <p:spPr>
          <a:xfrm>
            <a:off x="736600" y="4648200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000000"/>
                </a:solidFill>
                <a:latin typeface="Archivo Black"/>
                <a:ea typeface="MiSans"/>
              </a:rPr>
              <a:t>排查顺序</a:t>
            </a:r>
            <a:endParaRPr lang="en-US" sz="1400" noProof="1"/>
          </a:p>
        </p:txBody>
      </p:sp>
      <p:sp>
        <p:nvSpPr>
          <p:cNvPr id="18" name="p9_path"/>
          <p:cNvSpPr txBox="1"/>
          <p:nvPr/>
        </p:nvSpPr>
        <p:spPr>
          <a:xfrm>
            <a:off x="736600" y="5029200"/>
            <a:ext cx="4724400" cy="685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200" noProof="1">
                <a:solidFill>
                  <a:srgbClr val="6E6A60"/>
                </a:solidFill>
                <a:latin typeface="JetBrains Mono"/>
                <a:ea typeface="MiSans"/>
              </a:rPr>
              <a:t>报错复现 → 反编译 jar → 确认无开关 → 换 BareLocalFileSystem → 锁 UTC / 改排序</a:t>
            </a:r>
            <a:endParaRPr lang="en-US" sz="1200" noProof="1"/>
          </a:p>
        </p:txBody>
      </p:sp>
      <p:sp>
        <p:nvSpPr>
          <p:cNvPr id="19" name="p9_path_line"/>
          <p:cNvSpPr/>
          <p:nvPr>
            <p:extLst>
              <p:ext uri="{F5677B7D-0D2A-4D9B-9A5C-6D8D7D0E5A5D}">
                <pptd:line encoding="base64url">eyJ2aWV3Qm94IjpbMzYwLDNdLCJwb2ludHMiOiIwLDAgMzYwLDAiLCJjdXJ2ZSI6InNoYXJwIn0</pptd:line>
              </p:ext>
            </p:extLst>
          </p:nvPr>
        </p:nvSpPr>
        <p:spPr>
          <a:xfrm>
            <a:off x="736600" y="4927600"/>
            <a:ext cx="4572000" cy="38100"/>
          </a:xfrm>
          <a:custGeom>
            <a:avLst/>
            <a:gdLst/>
            <a:ahLst/>
            <a:cxnLst/>
            <a:rect l="l" t="t" r="r" b="b"/>
            <a:pathLst>
              <a:path w="360" h="3">
                <a:moveTo>
                  <a:pt x="0" y="0"/>
                </a:moveTo>
                <a:lnTo>
                  <a:pt x="360" y="0"/>
                </a:lnTo>
              </a:path>
            </a:pathLst>
          </a:custGeom>
          <a:noFill/>
          <a:ln w="38100">
            <a:solidFill>
              <a:srgbClr val="FFC1A8"/>
            </a:solidFill>
          </a:ln>
        </p:spPr>
      </p:sp>
      <p:sp>
        <p:nvSpPr>
          <p:cNvPr id="20" name="p9_side_note"/>
          <p:cNvSpPr txBox="1"/>
          <p:nvPr/>
        </p:nvSpPr>
        <p:spPr>
          <a:xfrm>
            <a:off x="6350000" y="4572000"/>
            <a:ext cx="50800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200" noProof="1">
                <a:solidFill>
                  <a:srgbClr val="6E6A60"/>
                </a:solidFill>
                <a:latin typeface="Liter"/>
                <a:ea typeface="MiSans"/>
              </a:rPr>
              <a:t>同类防护一起固化：UTC 时区写进流水线默认配置；频数表降维写进 Gini 计算脚本，不靠临场记忆。</a:t>
            </a:r>
            <a:endParaRPr lang="en-US" sz="1200" noProof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2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0_sq"/>
          <p:cNvSpPr/>
          <p:nvPr/>
        </p:nvSpPr>
        <p:spPr>
          <a:xfrm>
            <a:off x="609600" y="330200"/>
            <a:ext cx="165100" cy="165100"/>
          </a:xfrm>
          <a:prstGeom prst="rect">
            <a:avLst/>
          </a:prstGeom>
          <a:solidFill>
            <a:srgbClr val="FFC1A8"/>
          </a:solidFill>
          <a:ln>
            <a:noFill/>
          </a:ln>
        </p:spPr>
      </p:sp>
      <p:sp>
        <p:nvSpPr>
          <p:cNvPr id="3" name="h10_lab"/>
          <p:cNvSpPr txBox="1"/>
          <p:nvPr/>
        </p:nvSpPr>
        <p:spPr>
          <a:xfrm>
            <a:off x="889000" y="241300"/>
            <a:ext cx="4572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00" noProof="1" b="1" spc="200" kern="0">
                <a:solidFill>
                  <a:srgbClr val="000000"/>
                </a:solidFill>
                <a:latin typeface="Archivo Black"/>
                <a:ea typeface="MiSans"/>
              </a:rPr>
              <a:t>03 VERIFY</a:t>
            </a:r>
            <a:endParaRPr lang="en-US" sz="1000" noProof="1"/>
          </a:p>
        </p:txBody>
      </p:sp>
      <p:sp>
        <p:nvSpPr>
          <p:cNvPr id="4" name="t10"/>
          <p:cNvSpPr txBox="1"/>
          <p:nvPr/>
        </p:nvSpPr>
        <p:spPr>
          <a:xfrm>
            <a:off x="609600" y="685800"/>
            <a:ext cx="10972800" cy="736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04000"/>
              </a:lnSpc>
            </a:pPr>
            <a:r>
              <a:rPr lang="en-US" sz="2800" noProof="1" b="1">
                <a:solidFill>
                  <a:srgbClr val="000000"/>
                </a:solidFill>
                <a:latin typeface="Archivo Black"/>
                <a:ea typeface="MiSans"/>
              </a:rPr>
              <a:t>Gini 不是估的：三套算法交叉验证，偏差 4.4e-16</a:t>
            </a:r>
            <a:endParaRPr lang="en-US" sz="2800" noProof="1"/>
          </a:p>
        </p:txBody>
      </p:sp>
      <p:sp>
        <p:nvSpPr>
          <p:cNvPr id="5" name="st10"/>
          <p:cNvSpPr txBox="1"/>
          <p:nvPr/>
        </p:nvSpPr>
        <p:spPr>
          <a:xfrm>
            <a:off x="609600" y="1422400"/>
            <a:ext cx="10972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1100" noProof="1">
                <a:solidFill>
                  <a:srgbClr val="6E6A60"/>
                </a:solidFill>
                <a:latin typeface="Liter"/>
                <a:ea typeface="MiSans"/>
              </a:rPr>
              <a:t>口径纪律：近 30 天与历史累计严格区分，二者相差 27 倍，绝不混用。</a:t>
            </a:r>
            <a:endParaRPr lang="en-US" sz="1100" noProof="1"/>
          </a:p>
        </p:txBody>
      </p:sp>
      <p:sp>
        <p:nvSpPr>
          <p:cNvPr id="6" name="f10_rule"/>
          <p:cNvSpPr/>
          <p:nvPr>
            <p:extLst>
              <p:ext uri="{F5677B7D-0D2A-4D9B-9A5C-6D8D7D0E5A5D}">
                <pptd:line encoding="base64url">eyJ2aWV3Qm94IjpbODY0LDJdLCJwb2ludHMiOiIwLDAgODY0LDAiLCJjdXJ2ZSI6InNoYXJwIn0</pptd:line>
              </p:ext>
            </p:extLst>
          </p:nvPr>
        </p:nvSpPr>
        <p:spPr>
          <a:xfrm>
            <a:off x="609600" y="6324600"/>
            <a:ext cx="10972800" cy="25400"/>
          </a:xfrm>
          <a:custGeom>
            <a:avLst/>
            <a:gdLst/>
            <a:ahLst/>
            <a:cxnLst/>
            <a:rect l="l" t="t" r="r" b="b"/>
            <a:pathLst>
              <a:path w="864" h="2">
                <a:moveTo>
                  <a:pt x="0" y="0"/>
                </a:moveTo>
                <a:lnTo>
                  <a:pt x="864" y="0"/>
                </a:lnTo>
              </a:path>
            </a:pathLst>
          </a:custGeom>
          <a:noFill/>
          <a:ln w="12700">
            <a:solidFill>
              <a:srgbClr val="C9C3B6"/>
            </a:solidFill>
          </a:ln>
        </p:spPr>
      </p:sp>
      <p:sp>
        <p:nvSpPr>
          <p:cNvPr id="7" name="f10_src"/>
          <p:cNvSpPr txBox="1"/>
          <p:nvPr/>
        </p:nvSpPr>
        <p:spPr>
          <a:xfrm>
            <a:off x="609600" y="6426200"/>
            <a:ext cx="9144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850" noProof="1">
                <a:solidFill>
                  <a:srgbClr val="6E6A60"/>
                </a:solidFill>
                <a:latin typeface="Liter"/>
                <a:ea typeface="MiSans"/>
              </a:rPr>
              <a:t>来源：项目 results_manifest.json 与用户提供大纲；口径与时间范围见各页标注。</a:t>
            </a:r>
            <a:endParaRPr lang="en-US" sz="850" noProof="1"/>
          </a:p>
        </p:txBody>
      </p:sp>
      <p:sp>
        <p:nvSpPr>
          <p:cNvPr id="8" name="f10_num"/>
          <p:cNvSpPr txBox="1"/>
          <p:nvPr/>
        </p:nvSpPr>
        <p:spPr>
          <a:xfrm>
            <a:off x="10922000" y="6426200"/>
            <a:ext cx="6604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6E6A60"/>
                </a:solidFill>
                <a:latin typeface="JetBrains Mono"/>
                <a:ea typeface="MiSans"/>
              </a:rPr>
              <a:t>10</a:t>
            </a:r>
            <a:endParaRPr lang="en-US" sz="900" noProof="1"/>
          </a:p>
        </p:txBody>
      </p:sp>
      <p:graphicFrame>
        <p:nvGraphicFramePr>
          <p:cNvPr id="9" name="p10_table"/>
          <p:cNvGraphicFramePr>
            <a:graphicFrameLocks noGrp="1"/>
          </p:cNvGraphicFramePr>
          <p:nvPr/>
        </p:nvGraphicFramePr>
        <p:xfrm>
          <a:off x="812800" y="2006600"/>
          <a:ext cx="7620000" cy="2159000"/>
        </p:xfrm>
        <a:graphic>
          <a:graphicData uri="http://schemas.openxmlformats.org/drawingml/2006/table">
            <a:tbl>
              <a:tblPr/>
              <a:tblGrid>
                <a:gridCol w="2895600"/>
                <a:gridCol w="2590800"/>
                <a:gridCol w="2133600"/>
              </a:tblGrid>
              <a:tr h="53975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 b="1">
                          <a:solidFill>
                            <a:srgbClr val="FFFFFF"/>
                          </a:solidFill>
                          <a:latin typeface="Liter"/>
                          <a:ea typeface="MiSans"/>
                        </a:rPr>
                        <a:t>独立口径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0160">
                      <a:solidFill>
                        <a:srgbClr val="C9C3B6"/>
                      </a:solidFill>
                    </a:lnT>
                    <a:lnB w="10160">
                      <a:solidFill>
                        <a:srgbClr val="C9C3B6"/>
                      </a:solidFill>
                    </a:lnB>
                    <a:solidFill>
                      <a:srgbClr val="0B1636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 b="1">
                          <a:solidFill>
                            <a:srgbClr val="FFFFFF"/>
                          </a:solidFill>
                          <a:latin typeface="Liter"/>
                          <a:ea typeface="MiSans"/>
                        </a:rPr>
                        <a:t>方法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0160">
                      <a:solidFill>
                        <a:srgbClr val="C9C3B6"/>
                      </a:solidFill>
                    </a:lnT>
                    <a:lnB w="10160">
                      <a:solidFill>
                        <a:srgbClr val="C9C3B6"/>
                      </a:solidFill>
                    </a:lnB>
                    <a:solidFill>
                      <a:srgbClr val="0B1636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r"/>
                      <a:r>
                        <a:rPr lang="en-US" sz="1200" noProof="1" b="1">
                          <a:solidFill>
                            <a:srgbClr val="FFFFFF"/>
                          </a:solidFill>
                          <a:latin typeface="JetBrains Mono"/>
                          <a:ea typeface="MiSans"/>
                        </a:rPr>
                        <a:t>最大偏差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0160">
                      <a:solidFill>
                        <a:srgbClr val="C9C3B6"/>
                      </a:solidFill>
                    </a:lnT>
                    <a:lnB w="10160">
                      <a:solidFill>
                        <a:srgbClr val="C9C3B6"/>
                      </a:solidFill>
                    </a:lnB>
                    <a:solidFill>
                      <a:srgbClr val="0B1636"/>
                    </a:solidFill>
                  </a:tcPr>
                </a:tc>
              </a:tr>
              <a:tr h="53975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000000"/>
                          </a:solidFill>
                          <a:latin typeface="Liter"/>
                          <a:ea typeface="MiSans"/>
                        </a:rPr>
                        <a:t>秩式公式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0160">
                      <a:solidFill>
                        <a:srgbClr val="C9C3B6"/>
                      </a:solidFill>
                    </a:lnT>
                    <a:lnB w="10160">
                      <a:solidFill>
                        <a:srgbClr val="C9C3B6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000000"/>
                          </a:solidFill>
                          <a:latin typeface="Liter"/>
                          <a:ea typeface="MiSans"/>
                        </a:rPr>
                        <a:t>按下载量秩次计算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0160">
                      <a:solidFill>
                        <a:srgbClr val="C9C3B6"/>
                      </a:solidFill>
                    </a:lnT>
                    <a:lnB w="10160">
                      <a:solidFill>
                        <a:srgbClr val="C9C3B6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r"/>
                      <a:r>
                        <a:rPr lang="en-US" sz="1200" noProof="1">
                          <a:solidFill>
                            <a:srgbClr val="000000"/>
                          </a:solidFill>
                          <a:latin typeface="JetBrains Mono"/>
                          <a:ea typeface="MiSans"/>
                        </a:rPr>
                        <a:t>≤ 4.4e-16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0160">
                      <a:solidFill>
                        <a:srgbClr val="C9C3B6"/>
                      </a:solidFill>
                    </a:lnT>
                    <a:lnB w="10160">
                      <a:solidFill>
                        <a:srgbClr val="C9C3B6"/>
                      </a:solidFill>
                    </a:lnB>
                    <a:noFill/>
                  </a:tcPr>
                </a:tc>
              </a:tr>
              <a:tr h="53975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000000"/>
                          </a:solidFill>
                          <a:latin typeface="Liter"/>
                          <a:ea typeface="MiSans"/>
                        </a:rPr>
                        <a:t>频数加权秩公式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0160">
                      <a:solidFill>
                        <a:srgbClr val="C9C3B6"/>
                      </a:solidFill>
                    </a:lnT>
                    <a:lnB w="10160">
                      <a:solidFill>
                        <a:srgbClr val="C9C3B6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000000"/>
                          </a:solidFill>
                          <a:latin typeface="Liter"/>
                          <a:ea typeface="MiSans"/>
                        </a:rPr>
                        <a:t>先聚频数再精确算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0160">
                      <a:solidFill>
                        <a:srgbClr val="C9C3B6"/>
                      </a:solidFill>
                    </a:lnT>
                    <a:lnB w="10160">
                      <a:solidFill>
                        <a:srgbClr val="C9C3B6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r"/>
                      <a:r>
                        <a:rPr lang="en-US" sz="1200" noProof="1">
                          <a:solidFill>
                            <a:srgbClr val="000000"/>
                          </a:solidFill>
                          <a:latin typeface="JetBrains Mono"/>
                          <a:ea typeface="MiSans"/>
                        </a:rPr>
                        <a:t>≤ 4.4e-16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0160">
                      <a:solidFill>
                        <a:srgbClr val="C9C3B6"/>
                      </a:solidFill>
                    </a:lnT>
                    <a:lnB w="10160">
                      <a:solidFill>
                        <a:srgbClr val="C9C3B6"/>
                      </a:solidFill>
                    </a:lnB>
                    <a:noFill/>
                  </a:tcPr>
                </a:tc>
              </a:tr>
              <a:tr h="53975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000000"/>
                          </a:solidFill>
                          <a:latin typeface="Liter"/>
                          <a:ea typeface="MiSans"/>
                        </a:rPr>
                        <a:t>Lorenz 梯形积分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0160">
                      <a:solidFill>
                        <a:srgbClr val="C9C3B6"/>
                      </a:solidFill>
                    </a:lnT>
                    <a:lnB w="10160">
                      <a:solidFill>
                        <a:srgbClr val="C9C3B6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000000"/>
                          </a:solidFill>
                          <a:latin typeface="Liter"/>
                          <a:ea typeface="MiSans"/>
                        </a:rPr>
                        <a:t>几何面积交叉验证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0160">
                      <a:solidFill>
                        <a:srgbClr val="C9C3B6"/>
                      </a:solidFill>
                    </a:lnT>
                    <a:lnB w="10160">
                      <a:solidFill>
                        <a:srgbClr val="C9C3B6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r"/>
                      <a:r>
                        <a:rPr lang="en-US" sz="1200" noProof="1">
                          <a:solidFill>
                            <a:srgbClr val="000000"/>
                          </a:solidFill>
                          <a:latin typeface="JetBrains Mono"/>
                          <a:ea typeface="MiSans"/>
                        </a:rPr>
                        <a:t>≤ 4.4e-16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0160">
                      <a:solidFill>
                        <a:srgbClr val="C9C3B6"/>
                      </a:solidFill>
                    </a:lnT>
                    <a:lnB w="10160">
                      <a:solidFill>
                        <a:srgbClr val="C9C3B6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" name="p10_h2"/>
          <p:cNvSpPr txBox="1"/>
          <p:nvPr/>
        </p:nvSpPr>
        <p:spPr>
          <a:xfrm>
            <a:off x="8890000" y="2006600"/>
            <a:ext cx="2540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600" noProof="1" b="1">
                <a:solidFill>
                  <a:srgbClr val="000000"/>
                </a:solidFill>
                <a:latin typeface="Archivo Black"/>
                <a:ea typeface="MiSans"/>
              </a:rPr>
              <a:t>质量门</a:t>
            </a:r>
            <a:endParaRPr lang="en-US" sz="1600" noProof="1"/>
          </a:p>
        </p:txBody>
      </p:sp>
      <p:sp>
        <p:nvSpPr>
          <p:cNvPr id="11" name="p10_check1"/>
          <p:cNvSpPr txBox="1"/>
          <p:nvPr/>
        </p:nvSpPr>
        <p:spPr>
          <a:xfrm>
            <a:off x="8890000" y="2489200"/>
            <a:ext cx="2667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000" noProof="1" b="1">
                <a:solidFill>
                  <a:srgbClr val="08BC51"/>
                </a:solidFill>
                <a:latin typeface="Archivo Black"/>
                <a:ea typeface="MiSans"/>
              </a:rPr>
              <a:t>56 项契约测试 ✓</a:t>
            </a:r>
            <a:endParaRPr lang="en-US" sz="2000" noProof="1"/>
          </a:p>
        </p:txBody>
      </p:sp>
      <p:sp>
        <p:nvSpPr>
          <p:cNvPr id="12" name="p10_check2"/>
          <p:cNvSpPr txBox="1"/>
          <p:nvPr/>
        </p:nvSpPr>
        <p:spPr>
          <a:xfrm>
            <a:off x="8890000" y="3149600"/>
            <a:ext cx="2667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000" noProof="1" b="1">
                <a:solidFill>
                  <a:srgbClr val="08BC51"/>
                </a:solidFill>
                <a:latin typeface="Archivo Black"/>
                <a:ea typeface="MiSans"/>
              </a:rPr>
              <a:t>114 项一致性检查 ✓</a:t>
            </a:r>
            <a:endParaRPr lang="en-US" sz="2000" noProof="1"/>
          </a:p>
        </p:txBody>
      </p:sp>
      <p:sp>
        <p:nvSpPr>
          <p:cNvPr id="13" name="p10_note"/>
          <p:cNvSpPr txBox="1"/>
          <p:nvPr/>
        </p:nvSpPr>
        <p:spPr>
          <a:xfrm>
            <a:off x="812800" y="4572000"/>
            <a:ext cx="10541000" cy="101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350" noProof="1" b="1">
                <a:solidFill>
                  <a:srgbClr val="000000"/>
                </a:solidFill>
                <a:latin typeface="Liter"/>
                <a:ea typeface="MiSans"/>
              </a:rPr>
              <a:t>精确而非采样：</a:t>
            </a:r>
            <a:r>
              <a:rPr lang="en-US" sz="1350" noProof="1">
                <a:solidFill>
                  <a:srgbClr val="000000"/>
                </a:solidFill>
                <a:latin typeface="Liter"/>
                <a:ea typeface="MiSans"/>
              </a:rPr>
              <a:t>Gini 用频数加权秩公式精确计算，不靠抽样近似。</a:t>
            </a:r>
            <a:endParaRPr lang="en-US" sz="1350" noProof="1"/>
          </a:p>
          <a:p>
            <a:pPr>
              <a:lnSpc>
                <a:spcPct val="145000"/>
              </a:lnSpc>
              <a:spcBef>
                <a:spcPts val="800"/>
              </a:spcBef>
            </a:pPr>
            <a:r>
              <a:rPr lang="en-US" sz="1350" noProof="1" b="1">
                <a:solidFill>
                  <a:srgbClr val="000000"/>
                </a:solidFill>
                <a:latin typeface="Liter"/>
                <a:ea typeface="MiSans"/>
              </a:rPr>
              <a:t>两种下载口径：</a:t>
            </a:r>
            <a:r>
              <a:rPr lang="en-US" sz="1350" noProof="1">
                <a:solidFill>
                  <a:srgbClr val="000000"/>
                </a:solidFill>
                <a:latin typeface="Liter"/>
                <a:ea typeface="MiSans"/>
              </a:rPr>
              <a:t>近 30 天 vs 历史累计分开报告；相差 27 倍，混用会直接扭曲结论。</a:t>
            </a:r>
            <a:endParaRPr lang="en-US" sz="1350" noProof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2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1_sq"/>
          <p:cNvSpPr/>
          <p:nvPr/>
        </p:nvSpPr>
        <p:spPr>
          <a:xfrm>
            <a:off x="609600" y="330200"/>
            <a:ext cx="165100" cy="165100"/>
          </a:xfrm>
          <a:prstGeom prst="rect">
            <a:avLst/>
          </a:prstGeom>
          <a:solidFill>
            <a:srgbClr val="D772FF"/>
          </a:solidFill>
          <a:ln>
            <a:noFill/>
          </a:ln>
        </p:spPr>
      </p:sp>
      <p:sp>
        <p:nvSpPr>
          <p:cNvPr id="3" name="h11_lab"/>
          <p:cNvSpPr txBox="1"/>
          <p:nvPr/>
        </p:nvSpPr>
        <p:spPr>
          <a:xfrm>
            <a:off x="889000" y="241300"/>
            <a:ext cx="4572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00" noProof="1" b="1" spc="200" kern="0">
                <a:solidFill>
                  <a:srgbClr val="000000"/>
                </a:solidFill>
                <a:latin typeface="Archivo Black"/>
                <a:ea typeface="MiSans"/>
              </a:rPr>
              <a:t>04 RESULT · RQ1</a:t>
            </a:r>
            <a:endParaRPr lang="en-US" sz="1000" noProof="1"/>
          </a:p>
        </p:txBody>
      </p:sp>
      <p:sp>
        <p:nvSpPr>
          <p:cNvPr id="4" name="t11"/>
          <p:cNvSpPr txBox="1"/>
          <p:nvPr/>
        </p:nvSpPr>
        <p:spPr>
          <a:xfrm>
            <a:off x="609600" y="685800"/>
            <a:ext cx="10972800" cy="736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04000"/>
              </a:lnSpc>
            </a:pPr>
            <a:r>
              <a:rPr lang="en-US" sz="2800" noProof="1" b="1">
                <a:solidFill>
                  <a:srgbClr val="000000"/>
                </a:solidFill>
                <a:latin typeface="Archivo Black"/>
                <a:ea typeface="MiSans"/>
              </a:rPr>
              <a:t>2024 年 9 月，开源模型单月新增冲到 125,030 个</a:t>
            </a:r>
            <a:endParaRPr lang="en-US" sz="2800" noProof="1"/>
          </a:p>
        </p:txBody>
      </p:sp>
      <p:sp>
        <p:nvSpPr>
          <p:cNvPr id="5" name="st11"/>
          <p:cNvSpPr txBox="1"/>
          <p:nvPr/>
        </p:nvSpPr>
        <p:spPr>
          <a:xfrm>
            <a:off x="609600" y="1422400"/>
            <a:ext cx="10972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1100" noProof="1">
                <a:solidFill>
                  <a:srgbClr val="6E6A60"/>
                </a:solidFill>
                <a:latin typeface="Liter"/>
                <a:ea typeface="MiSans"/>
              </a:rPr>
              <a:t>年度新增：2022 10.0 万 → 2023 31.8 万 → 2024 74.0 万 → 2025 110.0 万。</a:t>
            </a:r>
            <a:endParaRPr lang="en-US" sz="1100" noProof="1"/>
          </a:p>
        </p:txBody>
      </p:sp>
      <p:sp>
        <p:nvSpPr>
          <p:cNvPr id="6" name="f11_rule"/>
          <p:cNvSpPr/>
          <p:nvPr>
            <p:extLst>
              <p:ext uri="{F5677B7D-0D2A-4D9B-9A5C-6D8D7D0E5A5D}">
                <pptd:line encoding="base64url">eyJ2aWV3Qm94IjpbODY0LDJdLCJwb2ludHMiOiIwLDAgODY0LDAiLCJjdXJ2ZSI6InNoYXJwIn0</pptd:line>
              </p:ext>
            </p:extLst>
          </p:nvPr>
        </p:nvSpPr>
        <p:spPr>
          <a:xfrm>
            <a:off x="609600" y="6324600"/>
            <a:ext cx="10972800" cy="25400"/>
          </a:xfrm>
          <a:custGeom>
            <a:avLst/>
            <a:gdLst/>
            <a:ahLst/>
            <a:cxnLst/>
            <a:rect l="l" t="t" r="r" b="b"/>
            <a:pathLst>
              <a:path w="864" h="2">
                <a:moveTo>
                  <a:pt x="0" y="0"/>
                </a:moveTo>
                <a:lnTo>
                  <a:pt x="864" y="0"/>
                </a:lnTo>
              </a:path>
            </a:pathLst>
          </a:custGeom>
          <a:noFill/>
          <a:ln w="12700">
            <a:solidFill>
              <a:srgbClr val="C9C3B6"/>
            </a:solidFill>
          </a:ln>
        </p:spPr>
      </p:sp>
      <p:sp>
        <p:nvSpPr>
          <p:cNvPr id="7" name="f11_src"/>
          <p:cNvSpPr txBox="1"/>
          <p:nvPr/>
        </p:nvSpPr>
        <p:spPr>
          <a:xfrm>
            <a:off x="609600" y="6426200"/>
            <a:ext cx="9144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850" noProof="1">
                <a:solidFill>
                  <a:srgbClr val="6E6A60"/>
                </a:solidFill>
                <a:latin typeface="Liter"/>
                <a:ea typeface="MiSans"/>
              </a:rPr>
              <a:t>来源：项目 results_manifest.json 与用户提供大纲；口径与时间范围见各页标注。</a:t>
            </a:r>
            <a:endParaRPr lang="en-US" sz="850" noProof="1"/>
          </a:p>
        </p:txBody>
      </p:sp>
      <p:sp>
        <p:nvSpPr>
          <p:cNvPr id="8" name="f11_num"/>
          <p:cNvSpPr txBox="1"/>
          <p:nvPr/>
        </p:nvSpPr>
        <p:spPr>
          <a:xfrm>
            <a:off x="10922000" y="6426200"/>
            <a:ext cx="6604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6E6A60"/>
                </a:solidFill>
                <a:latin typeface="JetBrains Mono"/>
                <a:ea typeface="MiSans"/>
              </a:rPr>
              <a:t>11</a:t>
            </a:r>
            <a:endParaRPr lang="en-US" sz="900" noProof="1"/>
          </a:p>
        </p:txBody>
      </p:sp>
      <p:sp>
        <p:nvSpPr>
          <p:cNvPr id="9" name="p11_big"/>
          <p:cNvSpPr txBox="1"/>
          <p:nvPr/>
        </p:nvSpPr>
        <p:spPr>
          <a:xfrm>
            <a:off x="685800" y="2159000"/>
            <a:ext cx="3302000" cy="101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4600" noProof="1" b="1">
                <a:solidFill>
                  <a:srgbClr val="D772FF"/>
                </a:solidFill>
                <a:latin typeface="Archivo Black"/>
                <a:ea typeface="MiSans"/>
              </a:rPr>
              <a:t>2024-09</a:t>
            </a:r>
            <a:endParaRPr lang="en-US" sz="4600" noProof="1"/>
          </a:p>
        </p:txBody>
      </p:sp>
      <p:sp>
        <p:nvSpPr>
          <p:cNvPr id="10" name="p11_big2"/>
          <p:cNvSpPr txBox="1"/>
          <p:nvPr/>
        </p:nvSpPr>
        <p:spPr>
          <a:xfrm>
            <a:off x="685800" y="3225800"/>
            <a:ext cx="3302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2000" noProof="1" b="1">
                <a:solidFill>
                  <a:srgbClr val="000000"/>
                </a:solidFill>
                <a:latin typeface="Liter"/>
                <a:ea typeface="MiSans"/>
              </a:rPr>
              <a:t>新增 125,030 个模型</a:t>
            </a:r>
            <a:endParaRPr lang="en-US" sz="2000" noProof="1"/>
          </a:p>
        </p:txBody>
      </p:sp>
      <p:sp>
        <p:nvSpPr>
          <p:cNvPr id="11" name="p11_left_note"/>
          <p:cNvSpPr txBox="1"/>
          <p:nvPr/>
        </p:nvSpPr>
        <p:spPr>
          <a:xfrm>
            <a:off x="685800" y="3962400"/>
            <a:ext cx="3302000" cy="142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250" noProof="1">
                <a:solidFill>
                  <a:srgbClr val="6E6A60"/>
                </a:solidFill>
                <a:latin typeface="Liter"/>
                <a:ea typeface="MiSans"/>
              </a:rPr>
              <a:t>一年比一年多，像 GitHub 仓库数一年翻一倍多。任务标签缺 65.6%，首月异常单独说明。</a:t>
            </a:r>
            <a:endParaRPr lang="en-US" sz="1250" noProof="1"/>
          </a:p>
        </p:txBody>
      </p:sp>
      <p:graphicFrame>
        <p:nvGraphicFramePr>
          <p:cNvPr id="12" name="p11_chart"/>
          <p:cNvGraphicFramePr/>
          <p:nvPr/>
        </p:nvGraphicFramePr>
        <p:xfrm>
          <a:off x="4343400" y="2006600"/>
          <a:ext cx="7188200" cy="3708400"/>
        </p:xfrm>
        <a:graphic>
          <a:graphicData uri="http://schemas.openxmlformats.org/drawingml/2006/chart">
            <c:chart r:id="rId2"/>
          </a:graphicData>
        </a:graphic>
      </p:graphicFrame>
      <p:sp>
        <p:nvSpPr>
          <p:cNvPr id="13" name="p11_note"/>
          <p:cNvSpPr txBox="1"/>
          <p:nvPr/>
        </p:nvSpPr>
        <p:spPr>
          <a:xfrm>
            <a:off x="4343400" y="5816600"/>
            <a:ext cx="71882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950" noProof="1">
                <a:solidFill>
                  <a:srgbClr val="6E6A60"/>
                </a:solidFill>
                <a:latin typeface="Liter"/>
                <a:ea typeface="MiSans"/>
              </a:rPr>
              <a:t>读法：柱为年度新增模型数；2024-09 为单月峰值（结果清单口径）。</a:t>
            </a:r>
            <a:endParaRPr lang="en-US" sz="950" noProof="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2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2_sq"/>
          <p:cNvSpPr/>
          <p:nvPr/>
        </p:nvSpPr>
        <p:spPr>
          <a:xfrm>
            <a:off x="609600" y="330200"/>
            <a:ext cx="165100" cy="165100"/>
          </a:xfrm>
          <a:prstGeom prst="rect">
            <a:avLst/>
          </a:prstGeom>
          <a:solidFill>
            <a:srgbClr val="D772FF"/>
          </a:solidFill>
          <a:ln>
            <a:noFill/>
          </a:ln>
        </p:spPr>
      </p:sp>
      <p:sp>
        <p:nvSpPr>
          <p:cNvPr id="3" name="h12_lab"/>
          <p:cNvSpPr txBox="1"/>
          <p:nvPr/>
        </p:nvSpPr>
        <p:spPr>
          <a:xfrm>
            <a:off x="889000" y="241300"/>
            <a:ext cx="4572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00" noProof="1" b="1" spc="200" kern="0">
                <a:solidFill>
                  <a:srgbClr val="000000"/>
                </a:solidFill>
                <a:latin typeface="Archivo Black"/>
                <a:ea typeface="MiSans"/>
              </a:rPr>
              <a:t>04 RESULT · RQ2</a:t>
            </a:r>
            <a:endParaRPr lang="en-US" sz="1000" noProof="1"/>
          </a:p>
        </p:txBody>
      </p:sp>
      <p:sp>
        <p:nvSpPr>
          <p:cNvPr id="4" name="t12"/>
          <p:cNvSpPr txBox="1"/>
          <p:nvPr/>
        </p:nvSpPr>
        <p:spPr>
          <a:xfrm>
            <a:off x="609600" y="685800"/>
            <a:ext cx="10972800" cy="736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04000"/>
              </a:lnSpc>
            </a:pPr>
            <a:r>
              <a:rPr lang="en-US" sz="2800" noProof="1" b="1">
                <a:solidFill>
                  <a:srgbClr val="000000"/>
                </a:solidFill>
                <a:latin typeface="Archivo Black"/>
                <a:ea typeface="MiSans"/>
              </a:rPr>
              <a:t>1% 的模型，拿走了 97% 的下载</a:t>
            </a:r>
            <a:endParaRPr lang="en-US" sz="2800" noProof="1"/>
          </a:p>
        </p:txBody>
      </p:sp>
      <p:sp>
        <p:nvSpPr>
          <p:cNvPr id="5" name="st12"/>
          <p:cNvSpPr txBox="1"/>
          <p:nvPr/>
        </p:nvSpPr>
        <p:spPr>
          <a:xfrm>
            <a:off x="609600" y="1422400"/>
            <a:ext cx="10972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1100" noProof="1">
                <a:solidFill>
                  <a:srgbClr val="6E6A60"/>
                </a:solidFill>
                <a:latin typeface="Liter"/>
                <a:ea typeface="MiSans"/>
              </a:rPr>
              <a:t>比“二八定律”更狠：这里是“一九九八”；只描述长尾形态，不宣称必然幂律。</a:t>
            </a:r>
            <a:endParaRPr lang="en-US" sz="1100" noProof="1"/>
          </a:p>
        </p:txBody>
      </p:sp>
      <p:sp>
        <p:nvSpPr>
          <p:cNvPr id="6" name="f12_rule"/>
          <p:cNvSpPr/>
          <p:nvPr>
            <p:extLst>
              <p:ext uri="{F5677B7D-0D2A-4D9B-9A5C-6D8D7D0E5A5D}">
                <pptd:line encoding="base64url">eyJ2aWV3Qm94IjpbODY0LDJdLCJwb2ludHMiOiIwLDAgODY0LDAiLCJjdXJ2ZSI6InNoYXJwIn0</pptd:line>
              </p:ext>
            </p:extLst>
          </p:nvPr>
        </p:nvSpPr>
        <p:spPr>
          <a:xfrm>
            <a:off x="609600" y="6324600"/>
            <a:ext cx="10972800" cy="25400"/>
          </a:xfrm>
          <a:custGeom>
            <a:avLst/>
            <a:gdLst/>
            <a:ahLst/>
            <a:cxnLst/>
            <a:rect l="l" t="t" r="r" b="b"/>
            <a:pathLst>
              <a:path w="864" h="2">
                <a:moveTo>
                  <a:pt x="0" y="0"/>
                </a:moveTo>
                <a:lnTo>
                  <a:pt x="864" y="0"/>
                </a:lnTo>
              </a:path>
            </a:pathLst>
          </a:custGeom>
          <a:noFill/>
          <a:ln w="12700">
            <a:solidFill>
              <a:srgbClr val="C9C3B6"/>
            </a:solidFill>
          </a:ln>
        </p:spPr>
      </p:sp>
      <p:sp>
        <p:nvSpPr>
          <p:cNvPr id="7" name="f12_src"/>
          <p:cNvSpPr txBox="1"/>
          <p:nvPr/>
        </p:nvSpPr>
        <p:spPr>
          <a:xfrm>
            <a:off x="609600" y="6426200"/>
            <a:ext cx="9144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850" noProof="1">
                <a:solidFill>
                  <a:srgbClr val="6E6A60"/>
                </a:solidFill>
                <a:latin typeface="Liter"/>
                <a:ea typeface="MiSans"/>
              </a:rPr>
              <a:t>来源：项目 results_manifest.json 与用户提供大纲；口径与时间范围见各页标注。</a:t>
            </a:r>
            <a:endParaRPr lang="en-US" sz="850" noProof="1"/>
          </a:p>
        </p:txBody>
      </p:sp>
      <p:sp>
        <p:nvSpPr>
          <p:cNvPr id="8" name="f12_num"/>
          <p:cNvSpPr txBox="1"/>
          <p:nvPr/>
        </p:nvSpPr>
        <p:spPr>
          <a:xfrm>
            <a:off x="10922000" y="6426200"/>
            <a:ext cx="6604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6E6A60"/>
                </a:solidFill>
                <a:latin typeface="JetBrains Mono"/>
                <a:ea typeface="MiSans"/>
              </a:rPr>
              <a:t>12</a:t>
            </a:r>
            <a:endParaRPr lang="en-US" sz="900" noProof="1"/>
          </a:p>
        </p:txBody>
      </p:sp>
      <p:sp>
        <p:nvSpPr>
          <p:cNvPr id="9" name="p12_big"/>
          <p:cNvSpPr txBox="1"/>
          <p:nvPr/>
        </p:nvSpPr>
        <p:spPr>
          <a:xfrm>
            <a:off x="685800" y="1854200"/>
            <a:ext cx="5334000" cy="939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4800" noProof="1" b="1">
                <a:solidFill>
                  <a:srgbClr val="000000"/>
                </a:solidFill>
                <a:highlight>
                  <a:srgbClr val="D772FF"/>
                </a:highlight>
                <a:latin typeface="Archivo Black"/>
                <a:ea typeface="MiSans"/>
              </a:rPr>
              <a:t>1% → 97%</a:t>
            </a:r>
            <a:endParaRPr lang="en-US" sz="4800" noProof="1"/>
          </a:p>
        </p:txBody>
      </p:sp>
      <p:sp>
        <p:nvSpPr>
          <p:cNvPr id="10" name="p12_gini"/>
          <p:cNvSpPr txBox="1"/>
          <p:nvPr/>
        </p:nvSpPr>
        <p:spPr>
          <a:xfrm>
            <a:off x="685800" y="2870200"/>
            <a:ext cx="5334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00000"/>
                </a:solidFill>
                <a:latin typeface="JetBrains Mono"/>
                <a:ea typeface="MiSans"/>
              </a:rPr>
              <a:t>Gini（近 30 天）= 0.995 · Top-1% 份额 97.13%</a:t>
            </a:r>
            <a:endParaRPr lang="en-US" sz="1500" noProof="1"/>
          </a:p>
        </p:txBody>
      </p:sp>
      <p:sp>
        <p:nvSpPr>
          <p:cNvPr id="11" name="p12_lab0"/>
          <p:cNvSpPr txBox="1"/>
          <p:nvPr/>
        </p:nvSpPr>
        <p:spPr>
          <a:xfrm>
            <a:off x="685800" y="38100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000000"/>
                </a:solidFill>
                <a:latin typeface="Liter"/>
                <a:ea typeface="MiSans"/>
              </a:rPr>
              <a:t>近 30 天下载</a:t>
            </a:r>
            <a:endParaRPr lang="en-US" sz="1300" noProof="1"/>
          </a:p>
        </p:txBody>
      </p:sp>
      <p:sp>
        <p:nvSpPr>
          <p:cNvPr id="12" name="p12_top0"/>
          <p:cNvSpPr/>
          <p:nvPr/>
        </p:nvSpPr>
        <p:spPr>
          <a:xfrm>
            <a:off x="2667000" y="3810000"/>
            <a:ext cx="7648016" cy="330200"/>
          </a:xfrm>
          <a:prstGeom prst="rect">
            <a:avLst/>
          </a:prstGeom>
          <a:solidFill>
            <a:srgbClr val="D772FF"/>
          </a:solidFill>
          <a:ln>
            <a:noFill/>
          </a:ln>
        </p:spPr>
      </p:sp>
      <p:sp>
        <p:nvSpPr>
          <p:cNvPr id="13" name="p12_rest0"/>
          <p:cNvSpPr/>
          <p:nvPr/>
        </p:nvSpPr>
        <p:spPr>
          <a:xfrm>
            <a:off x="10315016" y="3810000"/>
            <a:ext cx="225984" cy="330200"/>
          </a:xfrm>
          <a:prstGeom prst="rect">
            <a:avLst/>
          </a:prstGeom>
          <a:solidFill>
            <a:srgbClr val="C9C3B6"/>
          </a:solidFill>
          <a:ln>
            <a:noFill/>
          </a:ln>
        </p:spPr>
      </p:sp>
      <p:sp>
        <p:nvSpPr>
          <p:cNvPr id="14" name="p12_val0"/>
          <p:cNvSpPr txBox="1"/>
          <p:nvPr/>
        </p:nvSpPr>
        <p:spPr>
          <a:xfrm>
            <a:off x="10617200" y="3784600"/>
            <a:ext cx="889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300" noProof="1" b="1">
                <a:solidFill>
                  <a:srgbClr val="000000"/>
                </a:solidFill>
                <a:latin typeface="JetBrains Mono"/>
                <a:ea typeface="MiSans"/>
              </a:rPr>
              <a:t>97.13%</a:t>
            </a:r>
            <a:endParaRPr lang="en-US" sz="1300" noProof="1"/>
          </a:p>
        </p:txBody>
      </p:sp>
      <p:sp>
        <p:nvSpPr>
          <p:cNvPr id="15" name="p12_lab1"/>
          <p:cNvSpPr txBox="1"/>
          <p:nvPr/>
        </p:nvSpPr>
        <p:spPr>
          <a:xfrm>
            <a:off x="685800" y="47244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000000"/>
                </a:solidFill>
                <a:latin typeface="Liter"/>
                <a:ea typeface="MiSans"/>
              </a:rPr>
              <a:t>历史累计下载</a:t>
            </a:r>
            <a:endParaRPr lang="en-US" sz="1300" noProof="1"/>
          </a:p>
        </p:txBody>
      </p:sp>
      <p:sp>
        <p:nvSpPr>
          <p:cNvPr id="16" name="p12_top1"/>
          <p:cNvSpPr/>
          <p:nvPr/>
        </p:nvSpPr>
        <p:spPr>
          <a:xfrm>
            <a:off x="2667000" y="4724400"/>
            <a:ext cx="7771638" cy="330200"/>
          </a:xfrm>
          <a:prstGeom prst="rect">
            <a:avLst/>
          </a:prstGeom>
          <a:solidFill>
            <a:srgbClr val="7421F7"/>
          </a:solidFill>
          <a:ln>
            <a:noFill/>
          </a:ln>
        </p:spPr>
      </p:sp>
      <p:sp>
        <p:nvSpPr>
          <p:cNvPr id="17" name="p12_rest1"/>
          <p:cNvSpPr/>
          <p:nvPr/>
        </p:nvSpPr>
        <p:spPr>
          <a:xfrm>
            <a:off x="10438638" y="4724400"/>
            <a:ext cx="102362" cy="330200"/>
          </a:xfrm>
          <a:prstGeom prst="rect">
            <a:avLst/>
          </a:prstGeom>
          <a:solidFill>
            <a:srgbClr val="C9C3B6"/>
          </a:solidFill>
          <a:ln>
            <a:noFill/>
          </a:ln>
        </p:spPr>
      </p:sp>
      <p:sp>
        <p:nvSpPr>
          <p:cNvPr id="18" name="p12_val1"/>
          <p:cNvSpPr txBox="1"/>
          <p:nvPr/>
        </p:nvSpPr>
        <p:spPr>
          <a:xfrm>
            <a:off x="10617200" y="4699000"/>
            <a:ext cx="889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300" noProof="1" b="1">
                <a:solidFill>
                  <a:srgbClr val="000000"/>
                </a:solidFill>
                <a:latin typeface="JetBrains Mono"/>
                <a:ea typeface="MiSans"/>
              </a:rPr>
              <a:t>98.70%</a:t>
            </a:r>
            <a:endParaRPr lang="en-US" sz="1300" noProof="1"/>
          </a:p>
        </p:txBody>
      </p:sp>
      <p:sp>
        <p:nvSpPr>
          <p:cNvPr id="19" name="p12_zero"/>
          <p:cNvSpPr txBox="1"/>
          <p:nvPr/>
        </p:nvSpPr>
        <p:spPr>
          <a:xfrm>
            <a:off x="685800" y="5740400"/>
            <a:ext cx="10541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000000"/>
                </a:solidFill>
                <a:latin typeface="Liter"/>
                <a:ea typeface="MiSans"/>
              </a:rPr>
              <a:t>43% 的模型零下载：辛苦上传，结果没人下。Gini（累计）= 0.998，Top-1% 拿走 98.70%。</a:t>
            </a:r>
            <a:endParaRPr lang="en-US" sz="1400" noProof="1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2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3_sq"/>
          <p:cNvSpPr/>
          <p:nvPr/>
        </p:nvSpPr>
        <p:spPr>
          <a:xfrm>
            <a:off x="609600" y="330200"/>
            <a:ext cx="165100" cy="165100"/>
          </a:xfrm>
          <a:prstGeom prst="rect">
            <a:avLst/>
          </a:prstGeom>
          <a:solidFill>
            <a:srgbClr val="D772FF"/>
          </a:solidFill>
          <a:ln>
            <a:noFill/>
          </a:ln>
        </p:spPr>
      </p:sp>
      <p:sp>
        <p:nvSpPr>
          <p:cNvPr id="3" name="h13_lab"/>
          <p:cNvSpPr txBox="1"/>
          <p:nvPr/>
        </p:nvSpPr>
        <p:spPr>
          <a:xfrm>
            <a:off x="889000" y="241300"/>
            <a:ext cx="4572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00" noProof="1" b="1" spc="200" kern="0">
                <a:solidFill>
                  <a:srgbClr val="000000"/>
                </a:solidFill>
                <a:latin typeface="Archivo Black"/>
                <a:ea typeface="MiSans"/>
              </a:rPr>
              <a:t>04 RESULT · RQ3</a:t>
            </a:r>
            <a:endParaRPr lang="en-US" sz="1000" noProof="1"/>
          </a:p>
        </p:txBody>
      </p:sp>
      <p:sp>
        <p:nvSpPr>
          <p:cNvPr id="4" name="t13"/>
          <p:cNvSpPr txBox="1"/>
          <p:nvPr/>
        </p:nvSpPr>
        <p:spPr>
          <a:xfrm>
            <a:off x="609600" y="685800"/>
            <a:ext cx="10972800" cy="736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04000"/>
              </a:lnSpc>
            </a:pPr>
            <a:r>
              <a:rPr lang="en-US" sz="2800" noProof="1" b="1">
                <a:solidFill>
                  <a:srgbClr val="000000"/>
                </a:solidFill>
                <a:latin typeface="Archivo Black"/>
                <a:ea typeface="MiSans"/>
              </a:rPr>
              <a:t>模型界的 fork 链：一个底座，生出 4 万多个“徒子徒孙”</a:t>
            </a:r>
            <a:endParaRPr lang="en-US" sz="2800" noProof="1"/>
          </a:p>
        </p:txBody>
      </p:sp>
      <p:sp>
        <p:nvSpPr>
          <p:cNvPr id="5" name="st13"/>
          <p:cNvSpPr txBox="1"/>
          <p:nvPr/>
        </p:nvSpPr>
        <p:spPr>
          <a:xfrm>
            <a:off x="609600" y="1422400"/>
            <a:ext cx="10972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1100" noProof="1">
                <a:solidFill>
                  <a:srgbClr val="6E6A60"/>
                </a:solidFill>
                <a:latin typeface="Liter"/>
                <a:ea typeface="MiSans"/>
              </a:rPr>
              <a:t>血缘边 919,839 条；节点取去重并集 931,066 个，不把底座数与衍生数直接相加。</a:t>
            </a:r>
            <a:endParaRPr lang="en-US" sz="1100" noProof="1"/>
          </a:p>
        </p:txBody>
      </p:sp>
      <p:sp>
        <p:nvSpPr>
          <p:cNvPr id="6" name="f13_rule"/>
          <p:cNvSpPr/>
          <p:nvPr>
            <p:extLst>
              <p:ext uri="{F5677B7D-0D2A-4D9B-9A5C-6D8D7D0E5A5D}">
                <pptd:line encoding="base64url">eyJ2aWV3Qm94IjpbODY0LDJdLCJwb2ludHMiOiIwLDAgODY0LDAiLCJjdXJ2ZSI6InNoYXJwIn0</pptd:line>
              </p:ext>
            </p:extLst>
          </p:nvPr>
        </p:nvSpPr>
        <p:spPr>
          <a:xfrm>
            <a:off x="609600" y="6324600"/>
            <a:ext cx="10972800" cy="25400"/>
          </a:xfrm>
          <a:custGeom>
            <a:avLst/>
            <a:gdLst/>
            <a:ahLst/>
            <a:cxnLst/>
            <a:rect l="l" t="t" r="r" b="b"/>
            <a:pathLst>
              <a:path w="864" h="2">
                <a:moveTo>
                  <a:pt x="0" y="0"/>
                </a:moveTo>
                <a:lnTo>
                  <a:pt x="864" y="0"/>
                </a:lnTo>
              </a:path>
            </a:pathLst>
          </a:custGeom>
          <a:noFill/>
          <a:ln w="12700">
            <a:solidFill>
              <a:srgbClr val="C9C3B6"/>
            </a:solidFill>
          </a:ln>
        </p:spPr>
      </p:sp>
      <p:sp>
        <p:nvSpPr>
          <p:cNvPr id="7" name="f13_src"/>
          <p:cNvSpPr txBox="1"/>
          <p:nvPr/>
        </p:nvSpPr>
        <p:spPr>
          <a:xfrm>
            <a:off x="609600" y="6426200"/>
            <a:ext cx="9144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850" noProof="1">
                <a:solidFill>
                  <a:srgbClr val="6E6A60"/>
                </a:solidFill>
                <a:latin typeface="Liter"/>
                <a:ea typeface="MiSans"/>
              </a:rPr>
              <a:t>来源：项目 results_manifest.json 与用户提供大纲；口径与时间范围见各页标注。</a:t>
            </a:r>
            <a:endParaRPr lang="en-US" sz="850" noProof="1"/>
          </a:p>
        </p:txBody>
      </p:sp>
      <p:sp>
        <p:nvSpPr>
          <p:cNvPr id="8" name="f13_num"/>
          <p:cNvSpPr txBox="1"/>
          <p:nvPr/>
        </p:nvSpPr>
        <p:spPr>
          <a:xfrm>
            <a:off x="10922000" y="6426200"/>
            <a:ext cx="6604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6E6A60"/>
                </a:solidFill>
                <a:latin typeface="JetBrains Mono"/>
                <a:ea typeface="MiSans"/>
              </a:rPr>
              <a:t>13</a:t>
            </a:r>
            <a:endParaRPr lang="en-US" sz="900" noProof="1"/>
          </a:p>
        </p:txBody>
      </p:sp>
      <p:sp>
        <p:nvSpPr>
          <p:cNvPr id="9" name="p13_e0"/>
          <p:cNvSpPr/>
          <p:nvPr>
            <p:extLst>
              <p:ext uri="{F5677B7D-0D2A-4D9B-9A5C-6D8D7D0E5A5D}">
                <pptd:line encoding="base64url">eyJ2aWV3Qm94IjpbMTUwLDEyMF0sInBvaW50cyI6IjE1MCwxMjAgMCwwIiwiY3VydmUiOiJzaGFycCJ9</pptd:line>
              </p:ext>
            </p:extLst>
          </p:nvPr>
        </p:nvSpPr>
        <p:spPr>
          <a:xfrm>
            <a:off x="1905000" y="2286000"/>
            <a:ext cx="1905000" cy="1524000"/>
          </a:xfrm>
          <a:custGeom>
            <a:avLst/>
            <a:gdLst/>
            <a:ahLst/>
            <a:cxnLst/>
            <a:rect l="l" t="t" r="r" b="b"/>
            <a:pathLst>
              <a:path w="150" h="120">
                <a:moveTo>
                  <a:pt x="150" y="120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rgbClr val="C9C3B6"/>
            </a:solidFill>
          </a:ln>
        </p:spPr>
      </p:sp>
      <p:sp>
        <p:nvSpPr>
          <p:cNvPr id="10" name="p13_e1"/>
          <p:cNvSpPr/>
          <p:nvPr>
            <p:extLst>
              <p:ext uri="{F5677B7D-0D2A-4D9B-9A5C-6D8D7D0E5A5D}">
                <pptd:line encoding="base64url">eyJ2aWV3Qm94IjpbMTIwLDkwXSwicG9pbnRzIjoiMTIwLDAgMCw5MCIsImN1cnZlIjoic2hhcnAifQ</pptd:line>
              </p:ext>
            </p:extLst>
          </p:nvPr>
        </p:nvSpPr>
        <p:spPr>
          <a:xfrm>
            <a:off x="2286000" y="3810000"/>
            <a:ext cx="1524000" cy="1143000"/>
          </a:xfrm>
          <a:custGeom>
            <a:avLst/>
            <a:gdLst/>
            <a:ahLst/>
            <a:cxnLst/>
            <a:rect l="l" t="t" r="r" b="b"/>
            <a:pathLst>
              <a:path w="120" h="90">
                <a:moveTo>
                  <a:pt x="120" y="0"/>
                </a:moveTo>
                <a:lnTo>
                  <a:pt x="0" y="90"/>
                </a:lnTo>
              </a:path>
            </a:pathLst>
          </a:custGeom>
          <a:noFill/>
          <a:ln w="12700">
            <a:solidFill>
              <a:srgbClr val="C9C3B6"/>
            </a:solidFill>
          </a:ln>
        </p:spPr>
      </p:sp>
      <p:sp>
        <p:nvSpPr>
          <p:cNvPr id="11" name="p13_e2"/>
          <p:cNvSpPr/>
          <p:nvPr>
            <p:extLst>
              <p:ext uri="{F5677B7D-0D2A-4D9B-9A5C-6D8D7D0E5A5D}">
                <pptd:line encoding="base64url">eyJ2aWV3Qm94IjpbMTMwLDEzMF0sInBvaW50cyI6IjAsMTMwIDEzMCwwIiwiY3VydmUiOiJzaGFycCJ9</pptd:line>
              </p:ext>
            </p:extLst>
          </p:nvPr>
        </p:nvSpPr>
        <p:spPr>
          <a:xfrm>
            <a:off x="3810000" y="2159000"/>
            <a:ext cx="1651000" cy="1651000"/>
          </a:xfrm>
          <a:custGeom>
            <a:avLst/>
            <a:gdLst/>
            <a:ahLst/>
            <a:cxnLst/>
            <a:rect l="l" t="t" r="r" b="b"/>
            <a:pathLst>
              <a:path w="130" h="130">
                <a:moveTo>
                  <a:pt x="0" y="130"/>
                </a:moveTo>
                <a:lnTo>
                  <a:pt x="130" y="0"/>
                </a:lnTo>
              </a:path>
            </a:pathLst>
          </a:custGeom>
          <a:noFill/>
          <a:ln w="12700">
            <a:solidFill>
              <a:srgbClr val="C9C3B6"/>
            </a:solidFill>
          </a:ln>
        </p:spPr>
      </p:sp>
      <p:sp>
        <p:nvSpPr>
          <p:cNvPr id="12" name="p13_e3"/>
          <p:cNvSpPr/>
          <p:nvPr>
            <p:extLst>
              <p:ext uri="{F5677B7D-0D2A-4D9B-9A5C-6D8D7D0E5A5D}">
                <pptd:line encoding="base64url">eyJ2aWV3Qm94IjpbMTcwLDExMF0sInBvaW50cyI6IjAsMCAxNzAsMTEwIiwiY3VydmUiOiJzaGFycCJ9</pptd:line>
              </p:ext>
            </p:extLst>
          </p:nvPr>
        </p:nvSpPr>
        <p:spPr>
          <a:xfrm>
            <a:off x="3810000" y="3810000"/>
            <a:ext cx="2159000" cy="1397000"/>
          </a:xfrm>
          <a:custGeom>
            <a:avLst/>
            <a:gdLst/>
            <a:ahLst/>
            <a:cxnLst/>
            <a:rect l="l" t="t" r="r" b="b"/>
            <a:pathLst>
              <a:path w="170" h="110">
                <a:moveTo>
                  <a:pt x="0" y="0"/>
                </a:moveTo>
                <a:lnTo>
                  <a:pt x="170" y="110"/>
                </a:lnTo>
              </a:path>
            </a:pathLst>
          </a:custGeom>
          <a:noFill/>
          <a:ln w="12700">
            <a:solidFill>
              <a:srgbClr val="C9C3B6"/>
            </a:solidFill>
          </a:ln>
        </p:spPr>
      </p:sp>
      <p:sp>
        <p:nvSpPr>
          <p:cNvPr id="13" name="p13_e4"/>
          <p:cNvSpPr/>
          <p:nvPr>
            <p:extLst>
              <p:ext uri="{F5677B7D-0D2A-4D9B-9A5C-6D8D7D0E5A5D}">
                <pptd:line encoding="base64url">eyJ2aWV3Qm94IjpbNjAsMTUwXSwicG9pbnRzIjoiMCwxNTAgNjAsMCIsImN1cnZlIjoic2hhcnAifQ</pptd:line>
              </p:ext>
            </p:extLst>
          </p:nvPr>
        </p:nvSpPr>
        <p:spPr>
          <a:xfrm>
            <a:off x="3810000" y="1905000"/>
            <a:ext cx="762000" cy="1905000"/>
          </a:xfrm>
          <a:custGeom>
            <a:avLst/>
            <a:gdLst/>
            <a:ahLst/>
            <a:cxnLst/>
            <a:rect l="l" t="t" r="r" b="b"/>
            <a:pathLst>
              <a:path w="60" h="150">
                <a:moveTo>
                  <a:pt x="0" y="150"/>
                </a:moveTo>
                <a:lnTo>
                  <a:pt x="60" y="0"/>
                </a:lnTo>
              </a:path>
            </a:pathLst>
          </a:custGeom>
          <a:noFill/>
          <a:ln w="12700">
            <a:solidFill>
              <a:srgbClr val="C9C3B6"/>
            </a:solidFill>
          </a:ln>
        </p:spPr>
      </p:sp>
      <p:sp>
        <p:nvSpPr>
          <p:cNvPr id="14" name="p13_e5"/>
          <p:cNvSpPr/>
          <p:nvPr>
            <p:extLst>
              <p:ext uri="{F5677B7D-0D2A-4D9B-9A5C-6D8D7D0E5A5D}">
                <pptd:line encoding="base64url">eyJ2aWV3Qm94IjpbMjIwLDJdLCJwb2ludHMiOiIwLjAsMSAyMjAuMCwxIiwiY3VydmUiOiJzaGFycCJ9</pptd:line>
              </p:ext>
            </p:extLst>
          </p:nvPr>
        </p:nvSpPr>
        <p:spPr>
          <a:xfrm>
            <a:off x="3810000" y="3797300"/>
            <a:ext cx="2794000" cy="25400"/>
          </a:xfrm>
          <a:custGeom>
            <a:avLst/>
            <a:gdLst/>
            <a:ahLst/>
            <a:cxnLst/>
            <a:rect l="l" t="t" r="r" b="b"/>
            <a:pathLst>
              <a:path w="220" h="2">
                <a:moveTo>
                  <a:pt x="0" y="1"/>
                </a:moveTo>
                <a:lnTo>
                  <a:pt x="220" y="1"/>
                </a:lnTo>
              </a:path>
            </a:pathLst>
          </a:custGeom>
          <a:noFill/>
          <a:ln w="12700">
            <a:solidFill>
              <a:srgbClr val="C9C3B6"/>
            </a:solidFill>
          </a:ln>
        </p:spPr>
      </p:sp>
      <p:sp>
        <p:nvSpPr>
          <p:cNvPr id="15" name="p13_e6"/>
          <p:cNvSpPr/>
          <p:nvPr>
            <p:extLst>
              <p:ext uri="{F5677B7D-0D2A-4D9B-9A5C-6D8D7D0E5A5D}">
                <pptd:line encoding="base64url">eyJ2aWV3Qm94IjpbMTkwLDJdLCJwb2ludHMiOiIxOTAuMCwxIDAuMCwxIiwiY3VydmUiOiJzaGFycCJ9</pptd:line>
              </p:ext>
            </p:extLst>
          </p:nvPr>
        </p:nvSpPr>
        <p:spPr>
          <a:xfrm>
            <a:off x="1397000" y="3797300"/>
            <a:ext cx="2413000" cy="25400"/>
          </a:xfrm>
          <a:custGeom>
            <a:avLst/>
            <a:gdLst/>
            <a:ahLst/>
            <a:cxnLst/>
            <a:rect l="l" t="t" r="r" b="b"/>
            <a:pathLst>
              <a:path w="190" h="2">
                <a:moveTo>
                  <a:pt x="190" y="1"/>
                </a:moveTo>
                <a:lnTo>
                  <a:pt x="0" y="1"/>
                </a:lnTo>
              </a:path>
            </a:pathLst>
          </a:custGeom>
          <a:noFill/>
          <a:ln w="12700">
            <a:solidFill>
              <a:srgbClr val="C9C3B6"/>
            </a:solidFill>
          </a:ln>
        </p:spPr>
      </p:sp>
      <p:sp>
        <p:nvSpPr>
          <p:cNvPr id="16" name="p13_e7"/>
          <p:cNvSpPr/>
          <p:nvPr>
            <p:extLst>
              <p:ext uri="{F5677B7D-0D2A-4D9B-9A5C-6D8D7D0E5A5D}">
                <pptd:line encoding="base64url">eyJ2aWV3Qm94IjpbOTAsMTcwXSwicG9pbnRzIjoiMCwwIDkwLDE3MCIsImN1cnZlIjoic2hhcnAifQ</pptd:line>
              </p:ext>
            </p:extLst>
          </p:nvPr>
        </p:nvSpPr>
        <p:spPr>
          <a:xfrm>
            <a:off x="3810000" y="3810000"/>
            <a:ext cx="1143000" cy="2159000"/>
          </a:xfrm>
          <a:custGeom>
            <a:avLst/>
            <a:gdLst/>
            <a:ahLst/>
            <a:cxnLst/>
            <a:rect l="l" t="t" r="r" b="b"/>
            <a:pathLst>
              <a:path w="90" h="170">
                <a:moveTo>
                  <a:pt x="0" y="0"/>
                </a:moveTo>
                <a:lnTo>
                  <a:pt x="90" y="170"/>
                </a:lnTo>
              </a:path>
            </a:pathLst>
          </a:custGeom>
          <a:noFill/>
          <a:ln w="12700">
            <a:solidFill>
              <a:srgbClr val="C9C3B6"/>
            </a:solidFill>
          </a:ln>
        </p:spPr>
      </p:sp>
      <p:sp>
        <p:nvSpPr>
          <p:cNvPr id="17" name="p13_core"/>
          <p:cNvSpPr/>
          <p:nvPr/>
        </p:nvSpPr>
        <p:spPr>
          <a:xfrm>
            <a:off x="3073400" y="3073400"/>
            <a:ext cx="1473200" cy="1473200"/>
          </a:xfrm>
          <a:prstGeom prst="ellipse">
            <a:avLst/>
          </a:prstGeom>
          <a:solidFill>
            <a:srgbClr val="7421F7"/>
          </a:solidFill>
          <a:ln>
            <a:noFill/>
          </a:ln>
        </p:spPr>
      </p:sp>
      <p:sp>
        <p:nvSpPr>
          <p:cNvPr id="18" name="p13_core_t"/>
          <p:cNvSpPr txBox="1"/>
          <p:nvPr/>
        </p:nvSpPr>
        <p:spPr>
          <a:xfrm>
            <a:off x="3073400" y="3429000"/>
            <a:ext cx="14732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300" noProof="1" b="1">
                <a:solidFill>
                  <a:srgbClr val="FFFFFF"/>
                </a:solidFill>
                <a:latin typeface="Archivo Black"/>
                <a:ea typeface="MiSans"/>
              </a:rPr>
              <a:t>FLUX.1-dev
43,419</a:t>
            </a:r>
            <a:endParaRPr lang="en-US" sz="1300" noProof="1"/>
          </a:p>
        </p:txBody>
      </p:sp>
      <p:sp>
        <p:nvSpPr>
          <p:cNvPr id="19" name="p13_s0"/>
          <p:cNvSpPr/>
          <p:nvPr/>
        </p:nvSpPr>
        <p:spPr>
          <a:xfrm>
            <a:off x="1816100" y="2197100"/>
            <a:ext cx="177800" cy="177800"/>
          </a:xfrm>
          <a:prstGeom prst="ellipse">
            <a:avLst/>
          </a:prstGeom>
          <a:solidFill>
            <a:srgbClr val="1058E2"/>
          </a:solidFill>
          <a:ln>
            <a:noFill/>
          </a:ln>
        </p:spPr>
      </p:sp>
      <p:sp>
        <p:nvSpPr>
          <p:cNvPr id="20" name="p13_s1"/>
          <p:cNvSpPr/>
          <p:nvPr/>
        </p:nvSpPr>
        <p:spPr>
          <a:xfrm>
            <a:off x="2197100" y="4864100"/>
            <a:ext cx="177800" cy="177800"/>
          </a:xfrm>
          <a:prstGeom prst="ellipse">
            <a:avLst/>
          </a:prstGeom>
          <a:solidFill>
            <a:srgbClr val="D772FF"/>
          </a:solidFill>
          <a:ln>
            <a:noFill/>
          </a:ln>
        </p:spPr>
      </p:sp>
      <p:sp>
        <p:nvSpPr>
          <p:cNvPr id="21" name="p13_s2"/>
          <p:cNvSpPr/>
          <p:nvPr/>
        </p:nvSpPr>
        <p:spPr>
          <a:xfrm>
            <a:off x="5372100" y="2070100"/>
            <a:ext cx="177800" cy="177800"/>
          </a:xfrm>
          <a:prstGeom prst="ellipse">
            <a:avLst/>
          </a:prstGeom>
          <a:solidFill>
            <a:srgbClr val="1058E2"/>
          </a:solidFill>
          <a:ln>
            <a:noFill/>
          </a:ln>
        </p:spPr>
      </p:sp>
      <p:sp>
        <p:nvSpPr>
          <p:cNvPr id="22" name="p13_s3"/>
          <p:cNvSpPr/>
          <p:nvPr/>
        </p:nvSpPr>
        <p:spPr>
          <a:xfrm>
            <a:off x="5880100" y="5118100"/>
            <a:ext cx="177800" cy="177800"/>
          </a:xfrm>
          <a:prstGeom prst="ellipse">
            <a:avLst/>
          </a:prstGeom>
          <a:solidFill>
            <a:srgbClr val="D772FF"/>
          </a:solidFill>
          <a:ln>
            <a:noFill/>
          </a:ln>
        </p:spPr>
      </p:sp>
      <p:sp>
        <p:nvSpPr>
          <p:cNvPr id="23" name="p13_s4"/>
          <p:cNvSpPr/>
          <p:nvPr/>
        </p:nvSpPr>
        <p:spPr>
          <a:xfrm>
            <a:off x="4483100" y="1816100"/>
            <a:ext cx="177800" cy="177800"/>
          </a:xfrm>
          <a:prstGeom prst="ellipse">
            <a:avLst/>
          </a:prstGeom>
          <a:solidFill>
            <a:srgbClr val="1058E2"/>
          </a:solidFill>
          <a:ln>
            <a:noFill/>
          </a:ln>
        </p:spPr>
      </p:sp>
      <p:sp>
        <p:nvSpPr>
          <p:cNvPr id="24" name="p13_s5"/>
          <p:cNvSpPr/>
          <p:nvPr/>
        </p:nvSpPr>
        <p:spPr>
          <a:xfrm>
            <a:off x="6515100" y="3721100"/>
            <a:ext cx="177800" cy="177800"/>
          </a:xfrm>
          <a:prstGeom prst="ellipse">
            <a:avLst/>
          </a:prstGeom>
          <a:solidFill>
            <a:srgbClr val="D772FF"/>
          </a:solidFill>
          <a:ln>
            <a:noFill/>
          </a:ln>
        </p:spPr>
      </p:sp>
      <p:sp>
        <p:nvSpPr>
          <p:cNvPr id="25" name="p13_s6"/>
          <p:cNvSpPr/>
          <p:nvPr/>
        </p:nvSpPr>
        <p:spPr>
          <a:xfrm>
            <a:off x="1308100" y="3721100"/>
            <a:ext cx="177800" cy="177800"/>
          </a:xfrm>
          <a:prstGeom prst="ellipse">
            <a:avLst/>
          </a:prstGeom>
          <a:solidFill>
            <a:srgbClr val="1058E2"/>
          </a:solidFill>
          <a:ln>
            <a:noFill/>
          </a:ln>
        </p:spPr>
      </p:sp>
      <p:sp>
        <p:nvSpPr>
          <p:cNvPr id="26" name="p13_s7"/>
          <p:cNvSpPr/>
          <p:nvPr/>
        </p:nvSpPr>
        <p:spPr>
          <a:xfrm>
            <a:off x="4864100" y="5880100"/>
            <a:ext cx="177800" cy="177800"/>
          </a:xfrm>
          <a:prstGeom prst="ellipse">
            <a:avLst/>
          </a:prstGeom>
          <a:solidFill>
            <a:srgbClr val="D772FF"/>
          </a:solidFill>
          <a:ln>
            <a:noFill/>
          </a:ln>
        </p:spPr>
      </p:sp>
      <p:sp>
        <p:nvSpPr>
          <p:cNvPr id="27" name="p13_schematic"/>
          <p:cNvSpPr txBox="1"/>
          <p:nvPr/>
        </p:nvSpPr>
        <p:spPr>
          <a:xfrm>
            <a:off x="1168400" y="5867400"/>
            <a:ext cx="5715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6E6A60"/>
                </a:solidFill>
                <a:latin typeface="Liter"/>
                <a:ea typeface="MiSans"/>
              </a:rPr>
              <a:t>示意：谱系关系结构；真实网络见 results_manifest.json 图算法输出。</a:t>
            </a:r>
            <a:endParaRPr lang="en-US" sz="900" noProof="1"/>
          </a:p>
        </p:txBody>
      </p:sp>
      <p:sp>
        <p:nvSpPr>
          <p:cNvPr id="28" name="p13_k0"/>
          <p:cNvSpPr txBox="1"/>
          <p:nvPr/>
        </p:nvSpPr>
        <p:spPr>
          <a:xfrm>
            <a:off x="7747000" y="2006600"/>
            <a:ext cx="1905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>
                <a:solidFill>
                  <a:srgbClr val="6E6A60"/>
                </a:solidFill>
                <a:latin typeface="Liter"/>
                <a:ea typeface="MiSans"/>
              </a:rPr>
              <a:t>血缘边</a:t>
            </a:r>
            <a:endParaRPr lang="en-US" sz="1100" noProof="1"/>
          </a:p>
        </p:txBody>
      </p:sp>
      <p:sp>
        <p:nvSpPr>
          <p:cNvPr id="29" name="p13_v0"/>
          <p:cNvSpPr txBox="1"/>
          <p:nvPr/>
        </p:nvSpPr>
        <p:spPr>
          <a:xfrm>
            <a:off x="7747000" y="2286000"/>
            <a:ext cx="3175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400" noProof="1" b="1">
                <a:solidFill>
                  <a:srgbClr val="000000"/>
                </a:solidFill>
                <a:latin typeface="JetBrains Mono"/>
                <a:ea typeface="MiSans"/>
              </a:rPr>
              <a:t>919,839</a:t>
            </a:r>
            <a:endParaRPr lang="en-US" sz="2400" noProof="1"/>
          </a:p>
        </p:txBody>
      </p:sp>
      <p:sp>
        <p:nvSpPr>
          <p:cNvPr id="30" name="p13_l0"/>
          <p:cNvSpPr/>
          <p:nvPr>
            <p:extLst>
              <p:ext uri="{F5677B7D-0D2A-4D9B-9A5C-6D8D7D0E5A5D}">
                <pptd:line encoding="base64url">eyJ2aWV3Qm94IjpbMzAwLDJdLCJwb2ludHMiOiIwLDAgMzAwLDAiLCJjdXJ2ZSI6InNoYXJwIn0</pptd:line>
              </p:ext>
            </p:extLst>
          </p:nvPr>
        </p:nvSpPr>
        <p:spPr>
          <a:xfrm>
            <a:off x="7747000" y="2768600"/>
            <a:ext cx="3810000" cy="25400"/>
          </a:xfrm>
          <a:custGeom>
            <a:avLst/>
            <a:gdLst/>
            <a:ahLst/>
            <a:cxnLst/>
            <a:rect l="l" t="t" r="r" b="b"/>
            <a:pathLst>
              <a:path w="300" h="2">
                <a:moveTo>
                  <a:pt x="0" y="0"/>
                </a:moveTo>
                <a:lnTo>
                  <a:pt x="300" y="0"/>
                </a:lnTo>
              </a:path>
            </a:pathLst>
          </a:custGeom>
          <a:noFill/>
          <a:ln w="10160">
            <a:solidFill>
              <a:srgbClr val="C9C3B6"/>
            </a:solidFill>
          </a:ln>
        </p:spPr>
      </p:sp>
      <p:sp>
        <p:nvSpPr>
          <p:cNvPr id="31" name="p13_k1"/>
          <p:cNvSpPr txBox="1"/>
          <p:nvPr/>
        </p:nvSpPr>
        <p:spPr>
          <a:xfrm>
            <a:off x="7747000" y="2921000"/>
            <a:ext cx="1905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>
                <a:solidFill>
                  <a:srgbClr val="6E6A60"/>
                </a:solidFill>
                <a:latin typeface="Liter"/>
                <a:ea typeface="MiSans"/>
              </a:rPr>
              <a:t>去重节点</a:t>
            </a:r>
            <a:endParaRPr lang="en-US" sz="1100" noProof="1"/>
          </a:p>
        </p:txBody>
      </p:sp>
      <p:sp>
        <p:nvSpPr>
          <p:cNvPr id="32" name="p13_v1"/>
          <p:cNvSpPr txBox="1"/>
          <p:nvPr/>
        </p:nvSpPr>
        <p:spPr>
          <a:xfrm>
            <a:off x="7747000" y="3200400"/>
            <a:ext cx="3175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400" noProof="1" b="1">
                <a:solidFill>
                  <a:srgbClr val="000000"/>
                </a:solidFill>
                <a:latin typeface="JetBrains Mono"/>
                <a:ea typeface="MiSans"/>
              </a:rPr>
              <a:t>931,066</a:t>
            </a:r>
            <a:endParaRPr lang="en-US" sz="2400" noProof="1"/>
          </a:p>
        </p:txBody>
      </p:sp>
      <p:sp>
        <p:nvSpPr>
          <p:cNvPr id="33" name="p13_l1"/>
          <p:cNvSpPr/>
          <p:nvPr>
            <p:extLst>
              <p:ext uri="{F5677B7D-0D2A-4D9B-9A5C-6D8D7D0E5A5D}">
                <pptd:line encoding="base64url">eyJ2aWV3Qm94IjpbMzAwLDJdLCJwb2ludHMiOiIwLDAgMzAwLDAiLCJjdXJ2ZSI6InNoYXJwIn0</pptd:line>
              </p:ext>
            </p:extLst>
          </p:nvPr>
        </p:nvSpPr>
        <p:spPr>
          <a:xfrm>
            <a:off x="7747000" y="3683000"/>
            <a:ext cx="3810000" cy="25400"/>
          </a:xfrm>
          <a:custGeom>
            <a:avLst/>
            <a:gdLst/>
            <a:ahLst/>
            <a:cxnLst/>
            <a:rect l="l" t="t" r="r" b="b"/>
            <a:pathLst>
              <a:path w="300" h="2">
                <a:moveTo>
                  <a:pt x="0" y="0"/>
                </a:moveTo>
                <a:lnTo>
                  <a:pt x="300" y="0"/>
                </a:lnTo>
              </a:path>
            </a:pathLst>
          </a:custGeom>
          <a:noFill/>
          <a:ln w="10160">
            <a:solidFill>
              <a:srgbClr val="C9C3B6"/>
            </a:solidFill>
          </a:ln>
        </p:spPr>
      </p:sp>
      <p:sp>
        <p:nvSpPr>
          <p:cNvPr id="34" name="p13_k2"/>
          <p:cNvSpPr txBox="1"/>
          <p:nvPr/>
        </p:nvSpPr>
        <p:spPr>
          <a:xfrm>
            <a:off x="7747000" y="3835400"/>
            <a:ext cx="1905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>
                <a:solidFill>
                  <a:srgbClr val="6E6A60"/>
                </a:solidFill>
                <a:latin typeface="Liter"/>
                <a:ea typeface="MiSans"/>
              </a:rPr>
              <a:t>连通分量</a:t>
            </a:r>
            <a:endParaRPr lang="en-US" sz="1100" noProof="1"/>
          </a:p>
        </p:txBody>
      </p:sp>
      <p:sp>
        <p:nvSpPr>
          <p:cNvPr id="35" name="p13_v2"/>
          <p:cNvSpPr txBox="1"/>
          <p:nvPr/>
        </p:nvSpPr>
        <p:spPr>
          <a:xfrm>
            <a:off x="7747000" y="4114800"/>
            <a:ext cx="3175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400" noProof="1" b="1">
                <a:solidFill>
                  <a:srgbClr val="000000"/>
                </a:solidFill>
                <a:latin typeface="JetBrains Mono"/>
                <a:ea typeface="MiSans"/>
              </a:rPr>
              <a:t>42,890</a:t>
            </a:r>
            <a:endParaRPr lang="en-US" sz="2400" noProof="1"/>
          </a:p>
        </p:txBody>
      </p:sp>
      <p:sp>
        <p:nvSpPr>
          <p:cNvPr id="36" name="p13_l2"/>
          <p:cNvSpPr/>
          <p:nvPr>
            <p:extLst>
              <p:ext uri="{F5677B7D-0D2A-4D9B-9A5C-6D8D7D0E5A5D}">
                <pptd:line encoding="base64url">eyJ2aWV3Qm94IjpbMzAwLDJdLCJwb2ludHMiOiIwLDAgMzAwLDAiLCJjdXJ2ZSI6InNoYXJwIn0</pptd:line>
              </p:ext>
            </p:extLst>
          </p:nvPr>
        </p:nvSpPr>
        <p:spPr>
          <a:xfrm>
            <a:off x="7747000" y="4597400"/>
            <a:ext cx="3810000" cy="25400"/>
          </a:xfrm>
          <a:custGeom>
            <a:avLst/>
            <a:gdLst/>
            <a:ahLst/>
            <a:cxnLst/>
            <a:rect l="l" t="t" r="r" b="b"/>
            <a:pathLst>
              <a:path w="300" h="2">
                <a:moveTo>
                  <a:pt x="0" y="0"/>
                </a:moveTo>
                <a:lnTo>
                  <a:pt x="300" y="0"/>
                </a:lnTo>
              </a:path>
            </a:pathLst>
          </a:custGeom>
          <a:noFill/>
          <a:ln w="10160">
            <a:solidFill>
              <a:srgbClr val="C9C3B6"/>
            </a:solidFill>
          </a:ln>
        </p:spPr>
      </p:sp>
      <p:sp>
        <p:nvSpPr>
          <p:cNvPr id="37" name="p13_k3"/>
          <p:cNvSpPr txBox="1"/>
          <p:nvPr/>
        </p:nvSpPr>
        <p:spPr>
          <a:xfrm>
            <a:off x="7747000" y="4749800"/>
            <a:ext cx="1905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>
                <a:solidFill>
                  <a:srgbClr val="6E6A60"/>
                </a:solidFill>
                <a:latin typeface="Liter"/>
                <a:ea typeface="MiSans"/>
              </a:rPr>
              <a:t>标签传播社区</a:t>
            </a:r>
            <a:endParaRPr lang="en-US" sz="1100" noProof="1"/>
          </a:p>
        </p:txBody>
      </p:sp>
      <p:sp>
        <p:nvSpPr>
          <p:cNvPr id="38" name="p13_v3"/>
          <p:cNvSpPr txBox="1"/>
          <p:nvPr/>
        </p:nvSpPr>
        <p:spPr>
          <a:xfrm>
            <a:off x="7747000" y="5029200"/>
            <a:ext cx="3175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400" noProof="1" b="1">
                <a:solidFill>
                  <a:srgbClr val="000000"/>
                </a:solidFill>
                <a:latin typeface="JetBrains Mono"/>
                <a:ea typeface="MiSans"/>
              </a:rPr>
              <a:t>126,431</a:t>
            </a:r>
            <a:endParaRPr lang="en-US" sz="2400" noProof="1"/>
          </a:p>
        </p:txBody>
      </p:sp>
      <p:sp>
        <p:nvSpPr>
          <p:cNvPr id="39" name="p13_l3"/>
          <p:cNvSpPr/>
          <p:nvPr>
            <p:extLst>
              <p:ext uri="{F5677B7D-0D2A-4D9B-9A5C-6D8D7D0E5A5D}">
                <pptd:line encoding="base64url">eyJ2aWV3Qm94IjpbMzAwLDJdLCJwb2ludHMiOiIwLDAgMzAwLDAiLCJjdXJ2ZSI6InNoYXJwIn0</pptd:line>
              </p:ext>
            </p:extLst>
          </p:nvPr>
        </p:nvSpPr>
        <p:spPr>
          <a:xfrm>
            <a:off x="7747000" y="5511800"/>
            <a:ext cx="3810000" cy="25400"/>
          </a:xfrm>
          <a:custGeom>
            <a:avLst/>
            <a:gdLst/>
            <a:ahLst/>
            <a:cxnLst/>
            <a:rect l="l" t="t" r="r" b="b"/>
            <a:pathLst>
              <a:path w="300" h="2">
                <a:moveTo>
                  <a:pt x="0" y="0"/>
                </a:moveTo>
                <a:lnTo>
                  <a:pt x="300" y="0"/>
                </a:lnTo>
              </a:path>
            </a:pathLst>
          </a:custGeom>
          <a:noFill/>
          <a:ln w="10160">
            <a:solidFill>
              <a:srgbClr val="C9C3B6"/>
            </a:solidFill>
          </a:ln>
        </p:spPr>
      </p:sp>
      <p:sp>
        <p:nvSpPr>
          <p:cNvPr id="40" name="p13_rel"/>
          <p:cNvSpPr txBox="1"/>
          <p:nvPr/>
        </p:nvSpPr>
        <p:spPr>
          <a:xfrm>
            <a:off x="7747000" y="5740400"/>
            <a:ext cx="3810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150" noProof="1">
                <a:solidFill>
                  <a:srgbClr val="000000"/>
                </a:solidFill>
                <a:latin typeface="JetBrains Mono"/>
                <a:ea typeface="MiSans"/>
              </a:rPr>
              <a:t>关系四种：finetune / adapter / quantized / merge</a:t>
            </a:r>
            <a:endParaRPr lang="en-US" sz="1150" noProof="1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2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4_sq"/>
          <p:cNvSpPr/>
          <p:nvPr/>
        </p:nvSpPr>
        <p:spPr>
          <a:xfrm>
            <a:off x="609600" y="330200"/>
            <a:ext cx="165100" cy="165100"/>
          </a:xfrm>
          <a:prstGeom prst="rect">
            <a:avLst/>
          </a:prstGeom>
          <a:solidFill>
            <a:srgbClr val="D772FF"/>
          </a:solidFill>
          <a:ln>
            <a:noFill/>
          </a:ln>
        </p:spPr>
      </p:sp>
      <p:sp>
        <p:nvSpPr>
          <p:cNvPr id="3" name="h14_lab"/>
          <p:cNvSpPr txBox="1"/>
          <p:nvPr/>
        </p:nvSpPr>
        <p:spPr>
          <a:xfrm>
            <a:off x="889000" y="241300"/>
            <a:ext cx="4572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00" noProof="1" b="1" spc="200" kern="0">
                <a:solidFill>
                  <a:srgbClr val="000000"/>
                </a:solidFill>
                <a:latin typeface="Archivo Black"/>
                <a:ea typeface="MiSans"/>
              </a:rPr>
              <a:t>04 RESULT · RQ4</a:t>
            </a:r>
            <a:endParaRPr lang="en-US" sz="1000" noProof="1"/>
          </a:p>
        </p:txBody>
      </p:sp>
      <p:sp>
        <p:nvSpPr>
          <p:cNvPr id="4" name="t14"/>
          <p:cNvSpPr txBox="1"/>
          <p:nvPr/>
        </p:nvSpPr>
        <p:spPr>
          <a:xfrm>
            <a:off x="609600" y="685800"/>
            <a:ext cx="10972800" cy="736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04000"/>
              </a:lnSpc>
            </a:pPr>
            <a:r>
              <a:rPr lang="en-US" sz="2800" noProof="1" b="1">
                <a:solidFill>
                  <a:srgbClr val="000000"/>
                </a:solidFill>
                <a:latin typeface="Archivo Black"/>
                <a:ea typeface="MiSans"/>
              </a:rPr>
              <a:t>什么让模型更“火”？标签数量排第一</a:t>
            </a:r>
            <a:endParaRPr lang="en-US" sz="2800" noProof="1"/>
          </a:p>
        </p:txBody>
      </p:sp>
      <p:sp>
        <p:nvSpPr>
          <p:cNvPr id="5" name="st14"/>
          <p:cNvSpPr txBox="1"/>
          <p:nvPr/>
        </p:nvSpPr>
        <p:spPr>
          <a:xfrm>
            <a:off x="609600" y="1422400"/>
            <a:ext cx="10972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1100" noProof="1">
                <a:solidFill>
                  <a:srgbClr val="6E6A60"/>
                </a:solidFill>
                <a:latin typeface="Liter"/>
                <a:ea typeface="MiSans"/>
              </a:rPr>
              <a:t>防泄漏：先切训练/测试（seed=42，交集为 0）；重要性不是因果，也不是预测。</a:t>
            </a:r>
            <a:endParaRPr lang="en-US" sz="1100" noProof="1"/>
          </a:p>
        </p:txBody>
      </p:sp>
      <p:sp>
        <p:nvSpPr>
          <p:cNvPr id="6" name="f14_rule"/>
          <p:cNvSpPr/>
          <p:nvPr>
            <p:extLst>
              <p:ext uri="{F5677B7D-0D2A-4D9B-9A5C-6D8D7D0E5A5D}">
                <pptd:line encoding="base64url">eyJ2aWV3Qm94IjpbODY0LDJdLCJwb2ludHMiOiIwLDAgODY0LDAiLCJjdXJ2ZSI6InNoYXJwIn0</pptd:line>
              </p:ext>
            </p:extLst>
          </p:nvPr>
        </p:nvSpPr>
        <p:spPr>
          <a:xfrm>
            <a:off x="609600" y="6324600"/>
            <a:ext cx="10972800" cy="25400"/>
          </a:xfrm>
          <a:custGeom>
            <a:avLst/>
            <a:gdLst/>
            <a:ahLst/>
            <a:cxnLst/>
            <a:rect l="l" t="t" r="r" b="b"/>
            <a:pathLst>
              <a:path w="864" h="2">
                <a:moveTo>
                  <a:pt x="0" y="0"/>
                </a:moveTo>
                <a:lnTo>
                  <a:pt x="864" y="0"/>
                </a:lnTo>
              </a:path>
            </a:pathLst>
          </a:custGeom>
          <a:noFill/>
          <a:ln w="12700">
            <a:solidFill>
              <a:srgbClr val="C9C3B6"/>
            </a:solidFill>
          </a:ln>
        </p:spPr>
      </p:sp>
      <p:sp>
        <p:nvSpPr>
          <p:cNvPr id="7" name="f14_src"/>
          <p:cNvSpPr txBox="1"/>
          <p:nvPr/>
        </p:nvSpPr>
        <p:spPr>
          <a:xfrm>
            <a:off x="609600" y="6426200"/>
            <a:ext cx="9144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850" noProof="1">
                <a:solidFill>
                  <a:srgbClr val="6E6A60"/>
                </a:solidFill>
                <a:latin typeface="Liter"/>
                <a:ea typeface="MiSans"/>
              </a:rPr>
              <a:t>来源：项目 results_manifest.json 与用户提供大纲；口径与时间范围见各页标注。</a:t>
            </a:r>
            <a:endParaRPr lang="en-US" sz="850" noProof="1"/>
          </a:p>
        </p:txBody>
      </p:sp>
      <p:sp>
        <p:nvSpPr>
          <p:cNvPr id="8" name="f14_num"/>
          <p:cNvSpPr txBox="1"/>
          <p:nvPr/>
        </p:nvSpPr>
        <p:spPr>
          <a:xfrm>
            <a:off x="10922000" y="6426200"/>
            <a:ext cx="6604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6E6A60"/>
                </a:solidFill>
                <a:latin typeface="JetBrains Mono"/>
                <a:ea typeface="MiSans"/>
              </a:rPr>
              <a:t>14</a:t>
            </a:r>
            <a:endParaRPr lang="en-US" sz="900" noProof="1"/>
          </a:p>
        </p:txBody>
      </p:sp>
      <p:sp>
        <p:nvSpPr>
          <p:cNvPr id="9" name="p14_h1"/>
          <p:cNvSpPr txBox="1"/>
          <p:nvPr/>
        </p:nvSpPr>
        <p:spPr>
          <a:xfrm>
            <a:off x="685800" y="1930400"/>
            <a:ext cx="4826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00000"/>
                </a:solidFill>
                <a:latin typeface="Archivo Black"/>
                <a:ea typeface="MiSans"/>
              </a:rPr>
              <a:t>模型表现（R²，越高越好）</a:t>
            </a:r>
            <a:endParaRPr lang="en-US" sz="1500" noProof="1"/>
          </a:p>
        </p:txBody>
      </p:sp>
      <p:sp>
        <p:nvSpPr>
          <p:cNvPr id="10" name="p14_m0"/>
          <p:cNvSpPr txBox="1"/>
          <p:nvPr/>
        </p:nvSpPr>
        <p:spPr>
          <a:xfrm>
            <a:off x="685800" y="2413000"/>
            <a:ext cx="1905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50" noProof="1">
                <a:solidFill>
                  <a:srgbClr val="000000"/>
                </a:solidFill>
                <a:latin typeface="JetBrains Mono"/>
                <a:ea typeface="MiSans"/>
              </a:rPr>
              <a:t>RandomForest</a:t>
            </a:r>
            <a:endParaRPr lang="en-US" sz="1150" noProof="1"/>
          </a:p>
        </p:txBody>
      </p:sp>
      <p:sp>
        <p:nvSpPr>
          <p:cNvPr id="11" name="p14_b0"/>
          <p:cNvSpPr/>
          <p:nvPr/>
        </p:nvSpPr>
        <p:spPr>
          <a:xfrm>
            <a:off x="2667000" y="2413000"/>
            <a:ext cx="2886891" cy="254000"/>
          </a:xfrm>
          <a:prstGeom prst="rect">
            <a:avLst/>
          </a:prstGeom>
          <a:solidFill>
            <a:srgbClr val="7421F7"/>
          </a:solidFill>
          <a:ln>
            <a:noFill/>
          </a:ln>
        </p:spPr>
      </p:sp>
      <p:sp>
        <p:nvSpPr>
          <p:cNvPr id="12" name="p14_v0"/>
          <p:cNvSpPr txBox="1"/>
          <p:nvPr/>
        </p:nvSpPr>
        <p:spPr>
          <a:xfrm>
            <a:off x="5791200" y="2387600"/>
            <a:ext cx="762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>
                <a:solidFill>
                  <a:srgbClr val="000000"/>
                </a:solidFill>
                <a:latin typeface="JetBrains Mono"/>
                <a:ea typeface="MiSans"/>
              </a:rPr>
              <a:t>0.663</a:t>
            </a:r>
            <a:endParaRPr lang="en-US" sz="1100" noProof="1"/>
          </a:p>
        </p:txBody>
      </p:sp>
      <p:sp>
        <p:nvSpPr>
          <p:cNvPr id="13" name="p14_m1"/>
          <p:cNvSpPr txBox="1"/>
          <p:nvPr/>
        </p:nvSpPr>
        <p:spPr>
          <a:xfrm>
            <a:off x="685800" y="3073400"/>
            <a:ext cx="1905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50" noProof="1">
                <a:solidFill>
                  <a:srgbClr val="000000"/>
                </a:solidFill>
                <a:latin typeface="JetBrains Mono"/>
                <a:ea typeface="MiSans"/>
              </a:rPr>
              <a:t>GBT</a:t>
            </a:r>
            <a:endParaRPr lang="en-US" sz="1150" noProof="1"/>
          </a:p>
        </p:txBody>
      </p:sp>
      <p:sp>
        <p:nvSpPr>
          <p:cNvPr id="14" name="p14_b1"/>
          <p:cNvSpPr/>
          <p:nvPr/>
        </p:nvSpPr>
        <p:spPr>
          <a:xfrm>
            <a:off x="2667000" y="3073400"/>
            <a:ext cx="2747554" cy="254000"/>
          </a:xfrm>
          <a:prstGeom prst="rect">
            <a:avLst/>
          </a:prstGeom>
          <a:solidFill>
            <a:srgbClr val="1058E2"/>
          </a:solidFill>
          <a:ln>
            <a:noFill/>
          </a:ln>
        </p:spPr>
      </p:sp>
      <p:sp>
        <p:nvSpPr>
          <p:cNvPr id="15" name="p14_v1"/>
          <p:cNvSpPr txBox="1"/>
          <p:nvPr/>
        </p:nvSpPr>
        <p:spPr>
          <a:xfrm>
            <a:off x="5791200" y="3048000"/>
            <a:ext cx="762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>
                <a:solidFill>
                  <a:srgbClr val="000000"/>
                </a:solidFill>
                <a:latin typeface="JetBrains Mono"/>
                <a:ea typeface="MiSans"/>
              </a:rPr>
              <a:t>0.631</a:t>
            </a:r>
            <a:endParaRPr lang="en-US" sz="1100" noProof="1"/>
          </a:p>
        </p:txBody>
      </p:sp>
      <p:sp>
        <p:nvSpPr>
          <p:cNvPr id="16" name="p14_m2"/>
          <p:cNvSpPr txBox="1"/>
          <p:nvPr/>
        </p:nvSpPr>
        <p:spPr>
          <a:xfrm>
            <a:off x="685800" y="3733800"/>
            <a:ext cx="1905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50" noProof="1">
                <a:solidFill>
                  <a:srgbClr val="000000"/>
                </a:solidFill>
                <a:latin typeface="JetBrains Mono"/>
                <a:ea typeface="MiSans"/>
              </a:rPr>
              <a:t>LinearRegression</a:t>
            </a:r>
            <a:endParaRPr lang="en-US" sz="1150" noProof="1"/>
          </a:p>
        </p:txBody>
      </p:sp>
      <p:sp>
        <p:nvSpPr>
          <p:cNvPr id="17" name="p14_b2"/>
          <p:cNvSpPr/>
          <p:nvPr/>
        </p:nvSpPr>
        <p:spPr>
          <a:xfrm>
            <a:off x="2667000" y="3733800"/>
            <a:ext cx="1820091" cy="254000"/>
          </a:xfrm>
          <a:prstGeom prst="rect">
            <a:avLst/>
          </a:prstGeom>
          <a:solidFill>
            <a:srgbClr val="A4C9FF"/>
          </a:solidFill>
          <a:ln>
            <a:noFill/>
          </a:ln>
        </p:spPr>
      </p:sp>
      <p:sp>
        <p:nvSpPr>
          <p:cNvPr id="18" name="p14_v2"/>
          <p:cNvSpPr txBox="1"/>
          <p:nvPr/>
        </p:nvSpPr>
        <p:spPr>
          <a:xfrm>
            <a:off x="5791200" y="3708400"/>
            <a:ext cx="762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>
                <a:solidFill>
                  <a:srgbClr val="000000"/>
                </a:solidFill>
                <a:latin typeface="JetBrains Mono"/>
                <a:ea typeface="MiSans"/>
              </a:rPr>
              <a:t>0.418</a:t>
            </a:r>
            <a:endParaRPr lang="en-US" sz="1100" noProof="1"/>
          </a:p>
        </p:txBody>
      </p:sp>
      <p:sp>
        <p:nvSpPr>
          <p:cNvPr id="19" name="p14_h2"/>
          <p:cNvSpPr txBox="1"/>
          <p:nvPr/>
        </p:nvSpPr>
        <p:spPr>
          <a:xfrm>
            <a:off x="685800" y="4648200"/>
            <a:ext cx="4826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00000"/>
                </a:solidFill>
                <a:latin typeface="Archivo Black"/>
                <a:ea typeface="MiSans"/>
              </a:rPr>
              <a:t>最强关联特征（重要性）</a:t>
            </a:r>
            <a:endParaRPr lang="en-US" sz="1500" noProof="1"/>
          </a:p>
        </p:txBody>
      </p:sp>
      <p:sp>
        <p:nvSpPr>
          <p:cNvPr id="20" name="p14_f0"/>
          <p:cNvSpPr txBox="1"/>
          <p:nvPr/>
        </p:nvSpPr>
        <p:spPr>
          <a:xfrm>
            <a:off x="685800" y="5054600"/>
            <a:ext cx="2413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50" noProof="1">
                <a:solidFill>
                  <a:srgbClr val="000000"/>
                </a:solidFill>
                <a:latin typeface="Liter"/>
                <a:ea typeface="MiSans"/>
              </a:rPr>
              <a:t>tag_count 标签数量</a:t>
            </a:r>
            <a:endParaRPr lang="en-US" sz="1050" noProof="1"/>
          </a:p>
        </p:txBody>
      </p:sp>
      <p:sp>
        <p:nvSpPr>
          <p:cNvPr id="21" name="p14_fb0"/>
          <p:cNvSpPr/>
          <p:nvPr/>
        </p:nvSpPr>
        <p:spPr>
          <a:xfrm>
            <a:off x="3175000" y="5080000"/>
            <a:ext cx="2797387" cy="177800"/>
          </a:xfrm>
          <a:prstGeom prst="rect">
            <a:avLst/>
          </a:prstGeom>
          <a:solidFill>
            <a:srgbClr val="D772FF"/>
          </a:solidFill>
          <a:ln>
            <a:noFill/>
          </a:ln>
        </p:spPr>
      </p:sp>
      <p:sp>
        <p:nvSpPr>
          <p:cNvPr id="22" name="p14_fv0"/>
          <p:cNvSpPr txBox="1"/>
          <p:nvPr/>
        </p:nvSpPr>
        <p:spPr>
          <a:xfrm>
            <a:off x="6299200" y="5029200"/>
            <a:ext cx="7112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000000"/>
                </a:solidFill>
                <a:latin typeface="JetBrains Mono"/>
                <a:ea typeface="MiSans"/>
              </a:rPr>
              <a:t>0.413</a:t>
            </a:r>
            <a:endParaRPr lang="en-US" sz="1000" noProof="1"/>
          </a:p>
        </p:txBody>
      </p:sp>
      <p:sp>
        <p:nvSpPr>
          <p:cNvPr id="23" name="p14_f1"/>
          <p:cNvSpPr txBox="1"/>
          <p:nvPr/>
        </p:nvSpPr>
        <p:spPr>
          <a:xfrm>
            <a:off x="685800" y="5486400"/>
            <a:ext cx="2413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50" noProof="1">
                <a:solidFill>
                  <a:srgbClr val="000000"/>
                </a:solidFill>
                <a:latin typeface="Liter"/>
                <a:ea typeface="MiSans"/>
              </a:rPr>
              <a:t>library_top 用什么库</a:t>
            </a:r>
            <a:endParaRPr lang="en-US" sz="1050" noProof="1"/>
          </a:p>
        </p:txBody>
      </p:sp>
      <p:sp>
        <p:nvSpPr>
          <p:cNvPr id="24" name="p14_fb1"/>
          <p:cNvSpPr/>
          <p:nvPr/>
        </p:nvSpPr>
        <p:spPr>
          <a:xfrm>
            <a:off x="3175000" y="5511800"/>
            <a:ext cx="1314027" cy="177800"/>
          </a:xfrm>
          <a:prstGeom prst="rect">
            <a:avLst/>
          </a:prstGeom>
          <a:solidFill>
            <a:srgbClr val="1058E2"/>
          </a:solidFill>
          <a:ln>
            <a:noFill/>
          </a:ln>
        </p:spPr>
      </p:sp>
      <p:sp>
        <p:nvSpPr>
          <p:cNvPr id="25" name="p14_fv1"/>
          <p:cNvSpPr txBox="1"/>
          <p:nvPr/>
        </p:nvSpPr>
        <p:spPr>
          <a:xfrm>
            <a:off x="6299200" y="5461000"/>
            <a:ext cx="7112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000000"/>
                </a:solidFill>
                <a:latin typeface="JetBrains Mono"/>
                <a:ea typeface="MiSans"/>
              </a:rPr>
              <a:t>0.194</a:t>
            </a:r>
            <a:endParaRPr lang="en-US" sz="1000" noProof="1"/>
          </a:p>
        </p:txBody>
      </p:sp>
      <p:sp>
        <p:nvSpPr>
          <p:cNvPr id="26" name="p14_f2"/>
          <p:cNvSpPr txBox="1"/>
          <p:nvPr/>
        </p:nvSpPr>
        <p:spPr>
          <a:xfrm>
            <a:off x="685800" y="5918200"/>
            <a:ext cx="2413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50" noProof="1">
                <a:solidFill>
                  <a:srgbClr val="000000"/>
                </a:solidFill>
                <a:latin typeface="Liter"/>
                <a:ea typeface="MiSans"/>
              </a:rPr>
              <a:t>likes_log 点赞</a:t>
            </a:r>
            <a:endParaRPr lang="en-US" sz="1050" noProof="1"/>
          </a:p>
        </p:txBody>
      </p:sp>
      <p:sp>
        <p:nvSpPr>
          <p:cNvPr id="27" name="p14_fb2"/>
          <p:cNvSpPr/>
          <p:nvPr/>
        </p:nvSpPr>
        <p:spPr>
          <a:xfrm>
            <a:off x="3175000" y="5943600"/>
            <a:ext cx="1022773" cy="177800"/>
          </a:xfrm>
          <a:prstGeom prst="rect">
            <a:avLst/>
          </a:prstGeom>
          <a:solidFill>
            <a:srgbClr val="A4C9FF"/>
          </a:solidFill>
          <a:ln>
            <a:noFill/>
          </a:ln>
        </p:spPr>
      </p:sp>
      <p:sp>
        <p:nvSpPr>
          <p:cNvPr id="28" name="p14_fv2"/>
          <p:cNvSpPr txBox="1"/>
          <p:nvPr/>
        </p:nvSpPr>
        <p:spPr>
          <a:xfrm>
            <a:off x="6299200" y="5892800"/>
            <a:ext cx="7112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000000"/>
                </a:solidFill>
                <a:latin typeface="JetBrains Mono"/>
                <a:ea typeface="MiSans"/>
              </a:rPr>
              <a:t>0.151</a:t>
            </a:r>
            <a:endParaRPr lang="en-US" sz="1000" noProof="1"/>
          </a:p>
        </p:txBody>
      </p:sp>
      <p:sp>
        <p:nvSpPr>
          <p:cNvPr id="29" name="p14_mid"/>
          <p:cNvSpPr/>
          <p:nvPr>
            <p:extLst>
              <p:ext uri="{F5677B7D-0D2A-4D9B-9A5C-6D8D7D0E5A5D}">
                <pptd:line encoding="base64url">eyJ2aWV3Qm94IjpbMiwzMDBdLCJwb2ludHMiOiIwLDAgMCwzMDAiLCJjdXJ2ZSI6InNoYXJwIn0</pptd:line>
              </p:ext>
            </p:extLst>
          </p:nvPr>
        </p:nvSpPr>
        <p:spPr>
          <a:xfrm>
            <a:off x="7442200" y="1905000"/>
            <a:ext cx="25400" cy="3810000"/>
          </a:xfrm>
          <a:custGeom>
            <a:avLst/>
            <a:gdLst/>
            <a:ahLst/>
            <a:cxnLst/>
            <a:rect l="l" t="t" r="r" b="b"/>
            <a:pathLst>
              <a:path w="2" h="300">
                <a:moveTo>
                  <a:pt x="0" y="0"/>
                </a:moveTo>
                <a:lnTo>
                  <a:pt x="0" y="300"/>
                </a:lnTo>
              </a:path>
            </a:pathLst>
          </a:custGeom>
          <a:noFill/>
          <a:ln w="12700">
            <a:solidFill>
              <a:srgbClr val="C9C3B6"/>
            </a:solidFill>
          </a:ln>
        </p:spPr>
      </p:sp>
      <p:sp>
        <p:nvSpPr>
          <p:cNvPr id="30" name="p14_right"/>
          <p:cNvSpPr txBox="1"/>
          <p:nvPr/>
        </p:nvSpPr>
        <p:spPr>
          <a:xfrm>
            <a:off x="7874000" y="2032000"/>
            <a:ext cx="3632200" cy="279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300" noProof="1" b="1">
                <a:solidFill>
                  <a:srgbClr val="000000"/>
                </a:solidFill>
                <a:latin typeface="Liter"/>
                <a:ea typeface="MiSans"/>
              </a:rPr>
              <a:t>目标：</a:t>
            </a:r>
            <a:r>
              <a:rPr lang="en-US" sz="1300" noProof="1">
                <a:solidFill>
                  <a:srgbClr val="000000"/>
                </a:solidFill>
                <a:latin typeface="JetBrains Mono"/>
                <a:ea typeface="JetBrains Mono"/>
              </a:rPr>
              <a:t>log1p(下载量)</a:t>
            </a:r>
            <a:endParaRPr lang="en-US" sz="1300" noProof="1"/>
          </a:p>
          <a:p>
            <a:pPr>
              <a:lnSpc>
                <a:spcPct val="140000"/>
              </a:lnSpc>
              <a:spcBef>
                <a:spcPts val="1000"/>
              </a:spcBef>
            </a:pPr>
            <a:r>
              <a:rPr lang="en-US" sz="1300" noProof="1" b="1">
                <a:solidFill>
                  <a:srgbClr val="000000"/>
                </a:solidFill>
                <a:latin typeface="Liter"/>
                <a:ea typeface="MiSans"/>
              </a:rPr>
              <a:t>切分：</a:t>
            </a:r>
            <a:r>
              <a:rPr lang="en-US" sz="1300" noProof="1">
                <a:solidFill>
                  <a:srgbClr val="000000"/>
                </a:solidFill>
                <a:latin typeface="Liter"/>
                <a:ea typeface="MiSans"/>
              </a:rPr>
              <a:t>train ∩ test = 0，seed=42。</a:t>
            </a:r>
            <a:endParaRPr lang="en-US" sz="1300" noProof="1"/>
          </a:p>
          <a:p>
            <a:pPr>
              <a:lnSpc>
                <a:spcPct val="140000"/>
              </a:lnSpc>
              <a:spcBef>
                <a:spcPts val="1000"/>
              </a:spcBef>
            </a:pPr>
            <a:r>
              <a:rPr lang="en-US" sz="1300" noProof="1" b="1">
                <a:solidFill>
                  <a:srgbClr val="000000"/>
                </a:solidFill>
                <a:latin typeface="Liter"/>
                <a:ea typeface="MiSans"/>
              </a:rPr>
              <a:t>解释：</a:t>
            </a:r>
            <a:r>
              <a:rPr lang="en-US" sz="1300" noProof="1">
                <a:solidFill>
                  <a:srgbClr val="000000"/>
                </a:solidFill>
                <a:latin typeface="Liter"/>
                <a:ea typeface="MiSans"/>
              </a:rPr>
              <a:t>标签写得越全，越容易被发现；点赞与下载是同一时刻数据。</a:t>
            </a:r>
            <a:endParaRPr lang="en-US" sz="1300" noProof="1"/>
          </a:p>
          <a:p>
            <a:pPr>
              <a:lnSpc>
                <a:spcPct val="140000"/>
              </a:lnSpc>
              <a:spcBef>
                <a:spcPts val="1200"/>
              </a:spcBef>
            </a:pPr>
            <a:r>
              <a:rPr lang="en-US" sz="1300" noProof="1">
                <a:solidFill>
                  <a:srgbClr val="000000"/>
                </a:solidFill>
                <a:latin typeface="Liter"/>
                <a:ea typeface="MiSans"/>
              </a:rPr>
              <a:t>结论只到“同期关联”，不做未来预测。</a:t>
            </a:r>
            <a:endParaRPr lang="en-US" sz="1300" noProof="1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2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5_sq"/>
          <p:cNvSpPr/>
          <p:nvPr/>
        </p:nvSpPr>
        <p:spPr>
          <a:xfrm>
            <a:off x="609600" y="330200"/>
            <a:ext cx="165100" cy="165100"/>
          </a:xfrm>
          <a:prstGeom prst="rect">
            <a:avLst/>
          </a:prstGeom>
          <a:solidFill>
            <a:srgbClr val="D772FF"/>
          </a:solidFill>
          <a:ln>
            <a:noFill/>
          </a:ln>
        </p:spPr>
      </p:sp>
      <p:sp>
        <p:nvSpPr>
          <p:cNvPr id="3" name="h15_lab"/>
          <p:cNvSpPr txBox="1"/>
          <p:nvPr/>
        </p:nvSpPr>
        <p:spPr>
          <a:xfrm>
            <a:off x="889000" y="241300"/>
            <a:ext cx="4572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00" noProof="1" b="1" spc="200" kern="0">
                <a:solidFill>
                  <a:srgbClr val="000000"/>
                </a:solidFill>
                <a:latin typeface="Archivo Black"/>
                <a:ea typeface="MiSans"/>
              </a:rPr>
              <a:t>04 RESULT · RQ5</a:t>
            </a:r>
            <a:endParaRPr lang="en-US" sz="1000" noProof="1"/>
          </a:p>
        </p:txBody>
      </p:sp>
      <p:sp>
        <p:nvSpPr>
          <p:cNvPr id="4" name="t15"/>
          <p:cNvSpPr txBox="1"/>
          <p:nvPr/>
        </p:nvSpPr>
        <p:spPr>
          <a:xfrm>
            <a:off x="609600" y="685800"/>
            <a:ext cx="10972800" cy="736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04000"/>
              </a:lnSpc>
            </a:pPr>
            <a:r>
              <a:rPr lang="en-US" sz="2800" noProof="1" b="1">
                <a:solidFill>
                  <a:srgbClr val="000000"/>
                </a:solidFill>
                <a:latin typeface="Archivo Black"/>
                <a:ea typeface="MiSans"/>
              </a:rPr>
              <a:t>不同任务冷热结构大不同；缺失标签不强行归类</a:t>
            </a:r>
            <a:endParaRPr lang="en-US" sz="2800" noProof="1"/>
          </a:p>
        </p:txBody>
      </p:sp>
      <p:sp>
        <p:nvSpPr>
          <p:cNvPr id="5" name="st15"/>
          <p:cNvSpPr txBox="1"/>
          <p:nvPr/>
        </p:nvSpPr>
        <p:spPr>
          <a:xfrm>
            <a:off x="609600" y="1422400"/>
            <a:ext cx="10972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1100" noProof="1">
                <a:solidFill>
                  <a:srgbClr val="6E6A60"/>
                </a:solidFill>
                <a:latin typeface="Liter"/>
                <a:ea typeface="MiSans"/>
              </a:rPr>
              <a:t>56 个已标注任务中 50 个满足可比性；unknown（65.6%）单独报告、不参与比较。</a:t>
            </a:r>
            <a:endParaRPr lang="en-US" sz="1100" noProof="1"/>
          </a:p>
        </p:txBody>
      </p:sp>
      <p:sp>
        <p:nvSpPr>
          <p:cNvPr id="6" name="f15_rule"/>
          <p:cNvSpPr/>
          <p:nvPr>
            <p:extLst>
              <p:ext uri="{F5677B7D-0D2A-4D9B-9A5C-6D8D7D0E5A5D}">
                <pptd:line encoding="base64url">eyJ2aWV3Qm94IjpbODY0LDJdLCJwb2ludHMiOiIwLDAgODY0LDAiLCJjdXJ2ZSI6InNoYXJwIn0</pptd:line>
              </p:ext>
            </p:extLst>
          </p:nvPr>
        </p:nvSpPr>
        <p:spPr>
          <a:xfrm>
            <a:off x="609600" y="6324600"/>
            <a:ext cx="10972800" cy="25400"/>
          </a:xfrm>
          <a:custGeom>
            <a:avLst/>
            <a:gdLst/>
            <a:ahLst/>
            <a:cxnLst/>
            <a:rect l="l" t="t" r="r" b="b"/>
            <a:pathLst>
              <a:path w="864" h="2">
                <a:moveTo>
                  <a:pt x="0" y="0"/>
                </a:moveTo>
                <a:lnTo>
                  <a:pt x="864" y="0"/>
                </a:lnTo>
              </a:path>
            </a:pathLst>
          </a:custGeom>
          <a:noFill/>
          <a:ln w="12700">
            <a:solidFill>
              <a:srgbClr val="C9C3B6"/>
            </a:solidFill>
          </a:ln>
        </p:spPr>
      </p:sp>
      <p:sp>
        <p:nvSpPr>
          <p:cNvPr id="7" name="f15_src"/>
          <p:cNvSpPr txBox="1"/>
          <p:nvPr/>
        </p:nvSpPr>
        <p:spPr>
          <a:xfrm>
            <a:off x="609600" y="6426200"/>
            <a:ext cx="9144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850" noProof="1">
                <a:solidFill>
                  <a:srgbClr val="6E6A60"/>
                </a:solidFill>
                <a:latin typeface="Liter"/>
                <a:ea typeface="MiSans"/>
              </a:rPr>
              <a:t>来源：项目 results_manifest.json 与用户提供大纲；口径与时间范围见各页标注。</a:t>
            </a:r>
            <a:endParaRPr lang="en-US" sz="850" noProof="1"/>
          </a:p>
        </p:txBody>
      </p:sp>
      <p:sp>
        <p:nvSpPr>
          <p:cNvPr id="8" name="f15_num"/>
          <p:cNvSpPr txBox="1"/>
          <p:nvPr/>
        </p:nvSpPr>
        <p:spPr>
          <a:xfrm>
            <a:off x="10922000" y="6426200"/>
            <a:ext cx="6604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6E6A60"/>
                </a:solidFill>
                <a:latin typeface="JetBrains Mono"/>
                <a:ea typeface="MiSans"/>
              </a:rPr>
              <a:t>15</a:t>
            </a:r>
            <a:endParaRPr lang="en-US" sz="900" noProof="1"/>
          </a:p>
        </p:txBody>
      </p:sp>
      <p:sp>
        <p:nvSpPr>
          <p:cNvPr id="9" name="p15_big"/>
          <p:cNvSpPr txBox="1"/>
          <p:nvPr/>
        </p:nvSpPr>
        <p:spPr>
          <a:xfrm>
            <a:off x="736600" y="2032000"/>
            <a:ext cx="279400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4400" noProof="1" b="1">
                <a:solidFill>
                  <a:srgbClr val="D772FF"/>
                </a:solidFill>
                <a:latin typeface="Archivo Black"/>
                <a:ea typeface="MiSans"/>
              </a:rPr>
              <a:t>56 → 50</a:t>
            </a:r>
            <a:endParaRPr lang="en-US" sz="4400" noProof="1"/>
          </a:p>
        </p:txBody>
      </p:sp>
      <p:sp>
        <p:nvSpPr>
          <p:cNvPr id="10" name="p15_bigsub"/>
          <p:cNvSpPr txBox="1"/>
          <p:nvPr/>
        </p:nvSpPr>
        <p:spPr>
          <a:xfrm>
            <a:off x="736600" y="2946400"/>
            <a:ext cx="2921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6E6A60"/>
                </a:solidFill>
                <a:latin typeface="Liter"/>
                <a:ea typeface="MiSans"/>
              </a:rPr>
              <a:t>已标注任务 → 满足可比性</a:t>
            </a:r>
            <a:endParaRPr lang="en-US" sz="1200" noProof="1"/>
          </a:p>
        </p:txBody>
      </p:sp>
      <p:sp>
        <p:nvSpPr>
          <p:cNvPr id="11" name="p15_k0"/>
          <p:cNvSpPr txBox="1"/>
          <p:nvPr/>
        </p:nvSpPr>
        <p:spPr>
          <a:xfrm>
            <a:off x="736600" y="3810000"/>
            <a:ext cx="1905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000000"/>
                </a:solidFill>
                <a:latin typeface="Archivo Black"/>
                <a:ea typeface="MiSans"/>
              </a:rPr>
              <a:t>下载集中度</a:t>
            </a:r>
            <a:endParaRPr lang="en-US" sz="1400" noProof="1"/>
          </a:p>
        </p:txBody>
      </p:sp>
      <p:sp>
        <p:nvSpPr>
          <p:cNvPr id="12" name="p15_v0"/>
          <p:cNvSpPr txBox="1"/>
          <p:nvPr/>
        </p:nvSpPr>
        <p:spPr>
          <a:xfrm>
            <a:off x="2667000" y="3810000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>
                <a:solidFill>
                  <a:srgbClr val="000000"/>
                </a:solidFill>
                <a:latin typeface="Liter"/>
                <a:ea typeface="MiSans"/>
              </a:rPr>
              <a:t>各任务独立算 Gini / Top 份额</a:t>
            </a:r>
            <a:endParaRPr lang="en-US" sz="1200" noProof="1"/>
          </a:p>
        </p:txBody>
      </p:sp>
      <p:sp>
        <p:nvSpPr>
          <p:cNvPr id="13" name="p15_l0"/>
          <p:cNvSpPr/>
          <p:nvPr>
            <p:extLst>
              <p:ext uri="{F5677B7D-0D2A-4D9B-9A5C-6D8D7D0E5A5D}">
                <pptd:line encoding="base64url">eyJ2aWV3Qm94IjpbNDgwLDJdLCJwb2ludHMiOiIwLDAgNDgwLDAiLCJjdXJ2ZSI6InNoYXJwIn0</pptd:line>
              </p:ext>
            </p:extLst>
          </p:nvPr>
        </p:nvSpPr>
        <p:spPr>
          <a:xfrm>
            <a:off x="736600" y="4191000"/>
            <a:ext cx="6096000" cy="25400"/>
          </a:xfrm>
          <a:custGeom>
            <a:avLst/>
            <a:gdLst/>
            <a:ahLst/>
            <a:cxnLst/>
            <a:rect l="l" t="t" r="r" b="b"/>
            <a:pathLst>
              <a:path w="480" h="2">
                <a:moveTo>
                  <a:pt x="0" y="0"/>
                </a:moveTo>
                <a:lnTo>
                  <a:pt x="480" y="0"/>
                </a:lnTo>
              </a:path>
            </a:pathLst>
          </a:custGeom>
          <a:noFill/>
          <a:ln w="10160">
            <a:solidFill>
              <a:srgbClr val="C9C3B6"/>
            </a:solidFill>
          </a:ln>
        </p:spPr>
      </p:sp>
      <p:sp>
        <p:nvSpPr>
          <p:cNvPr id="14" name="p15_k1"/>
          <p:cNvSpPr txBox="1"/>
          <p:nvPr/>
        </p:nvSpPr>
        <p:spPr>
          <a:xfrm>
            <a:off x="736600" y="4495800"/>
            <a:ext cx="1905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000000"/>
                </a:solidFill>
                <a:latin typeface="Archivo Black"/>
                <a:ea typeface="MiSans"/>
              </a:rPr>
              <a:t>零下载率</a:t>
            </a:r>
            <a:endParaRPr lang="en-US" sz="1400" noProof="1"/>
          </a:p>
        </p:txBody>
      </p:sp>
      <p:sp>
        <p:nvSpPr>
          <p:cNvPr id="15" name="p15_v1"/>
          <p:cNvSpPr txBox="1"/>
          <p:nvPr/>
        </p:nvSpPr>
        <p:spPr>
          <a:xfrm>
            <a:off x="2667000" y="4495800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>
                <a:solidFill>
                  <a:srgbClr val="000000"/>
                </a:solidFill>
                <a:latin typeface="Liter"/>
                <a:ea typeface="MiSans"/>
              </a:rPr>
              <a:t>沉默模型占比按任务单独统计</a:t>
            </a:r>
            <a:endParaRPr lang="en-US" sz="1200" noProof="1"/>
          </a:p>
        </p:txBody>
      </p:sp>
      <p:sp>
        <p:nvSpPr>
          <p:cNvPr id="16" name="p15_l1"/>
          <p:cNvSpPr/>
          <p:nvPr>
            <p:extLst>
              <p:ext uri="{F5677B7D-0D2A-4D9B-9A5C-6D8D7D0E5A5D}">
                <pptd:line encoding="base64url">eyJ2aWV3Qm94IjpbNDgwLDJdLCJwb2ludHMiOiIwLDAgNDgwLDAiLCJjdXJ2ZSI6InNoYXJwIn0</pptd:line>
              </p:ext>
            </p:extLst>
          </p:nvPr>
        </p:nvSpPr>
        <p:spPr>
          <a:xfrm>
            <a:off x="736600" y="4876800"/>
            <a:ext cx="6096000" cy="25400"/>
          </a:xfrm>
          <a:custGeom>
            <a:avLst/>
            <a:gdLst/>
            <a:ahLst/>
            <a:cxnLst/>
            <a:rect l="l" t="t" r="r" b="b"/>
            <a:pathLst>
              <a:path w="480" h="2">
                <a:moveTo>
                  <a:pt x="0" y="0"/>
                </a:moveTo>
                <a:lnTo>
                  <a:pt x="480" y="0"/>
                </a:lnTo>
              </a:path>
            </a:pathLst>
          </a:custGeom>
          <a:noFill/>
          <a:ln w="10160">
            <a:solidFill>
              <a:srgbClr val="C9C3B6"/>
            </a:solidFill>
          </a:ln>
        </p:spPr>
      </p:sp>
      <p:sp>
        <p:nvSpPr>
          <p:cNvPr id="17" name="p15_k2"/>
          <p:cNvSpPr txBox="1"/>
          <p:nvPr/>
        </p:nvSpPr>
        <p:spPr>
          <a:xfrm>
            <a:off x="736600" y="5181600"/>
            <a:ext cx="1905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000000"/>
                </a:solidFill>
                <a:latin typeface="Archivo Black"/>
                <a:ea typeface="MiSans"/>
              </a:rPr>
              <a:t>底座覆盖率</a:t>
            </a:r>
            <a:endParaRPr lang="en-US" sz="1400" noProof="1"/>
          </a:p>
        </p:txBody>
      </p:sp>
      <p:sp>
        <p:nvSpPr>
          <p:cNvPr id="18" name="p15_v2"/>
          <p:cNvSpPr txBox="1"/>
          <p:nvPr/>
        </p:nvSpPr>
        <p:spPr>
          <a:xfrm>
            <a:off x="2667000" y="5181600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>
                <a:solidFill>
                  <a:srgbClr val="000000"/>
                </a:solidFill>
                <a:latin typeface="Liter"/>
                <a:ea typeface="MiSans"/>
              </a:rPr>
              <a:t>谱系关系只覆盖已标注部分</a:t>
            </a:r>
            <a:endParaRPr lang="en-US" sz="1200" noProof="1"/>
          </a:p>
        </p:txBody>
      </p:sp>
      <p:sp>
        <p:nvSpPr>
          <p:cNvPr id="19" name="p15_l2"/>
          <p:cNvSpPr/>
          <p:nvPr>
            <p:extLst>
              <p:ext uri="{F5677B7D-0D2A-4D9B-9A5C-6D8D7D0E5A5D}">
                <pptd:line encoding="base64url">eyJ2aWV3Qm94IjpbNDgwLDJdLCJwb2ludHMiOiIwLDAgNDgwLDAiLCJjdXJ2ZSI6InNoYXJwIn0</pptd:line>
              </p:ext>
            </p:extLst>
          </p:nvPr>
        </p:nvSpPr>
        <p:spPr>
          <a:xfrm>
            <a:off x="736600" y="5562600"/>
            <a:ext cx="6096000" cy="25400"/>
          </a:xfrm>
          <a:custGeom>
            <a:avLst/>
            <a:gdLst/>
            <a:ahLst/>
            <a:cxnLst/>
            <a:rect l="l" t="t" r="r" b="b"/>
            <a:pathLst>
              <a:path w="480" h="2">
                <a:moveTo>
                  <a:pt x="0" y="0"/>
                </a:moveTo>
                <a:lnTo>
                  <a:pt x="480" y="0"/>
                </a:lnTo>
              </a:path>
            </a:pathLst>
          </a:custGeom>
          <a:noFill/>
          <a:ln w="10160">
            <a:solidFill>
              <a:srgbClr val="C9C3B6"/>
            </a:solidFill>
          </a:ln>
        </p:spPr>
      </p:sp>
      <p:sp>
        <p:nvSpPr>
          <p:cNvPr id="20" name="p15_mid"/>
          <p:cNvSpPr/>
          <p:nvPr>
            <p:extLst>
              <p:ext uri="{F5677B7D-0D2A-4D9B-9A5C-6D8D7D0E5A5D}">
                <pptd:line encoding="base64url">eyJ2aWV3Qm94IjpbMiwzMDBdLCJwb2ludHMiOiIwLDAgMCwzMDAiLCJjdXJ2ZSI6InNoYXJwIn0</pptd:line>
              </p:ext>
            </p:extLst>
          </p:nvPr>
        </p:nvSpPr>
        <p:spPr>
          <a:xfrm>
            <a:off x="7442200" y="1905000"/>
            <a:ext cx="25400" cy="3810000"/>
          </a:xfrm>
          <a:custGeom>
            <a:avLst/>
            <a:gdLst/>
            <a:ahLst/>
            <a:cxnLst/>
            <a:rect l="l" t="t" r="r" b="b"/>
            <a:pathLst>
              <a:path w="2" h="300">
                <a:moveTo>
                  <a:pt x="0" y="0"/>
                </a:moveTo>
                <a:lnTo>
                  <a:pt x="0" y="300"/>
                </a:lnTo>
              </a:path>
            </a:pathLst>
          </a:custGeom>
          <a:noFill/>
          <a:ln w="12700">
            <a:solidFill>
              <a:srgbClr val="C9C3B6"/>
            </a:solidFill>
          </a:ln>
        </p:spPr>
      </p:sp>
      <p:sp>
        <p:nvSpPr>
          <p:cNvPr id="21" name="p15_right_h"/>
          <p:cNvSpPr txBox="1"/>
          <p:nvPr/>
        </p:nvSpPr>
        <p:spPr>
          <a:xfrm>
            <a:off x="7874000" y="2032000"/>
            <a:ext cx="3556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600" noProof="1" b="1">
                <a:solidFill>
                  <a:srgbClr val="000000"/>
                </a:solidFill>
                <a:latin typeface="Archivo Black"/>
                <a:ea typeface="MiSans"/>
              </a:rPr>
              <a:t>比较纪律</a:t>
            </a:r>
            <a:endParaRPr lang="en-US" sz="1600" noProof="1"/>
          </a:p>
        </p:txBody>
      </p:sp>
      <p:sp>
        <p:nvSpPr>
          <p:cNvPr id="22" name="p15_right"/>
          <p:cNvSpPr txBox="1"/>
          <p:nvPr/>
        </p:nvSpPr>
        <p:spPr>
          <a:xfrm>
            <a:off x="7874000" y="2514600"/>
            <a:ext cx="3632200" cy="241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2000"/>
              </a:lnSpc>
            </a:pPr>
            <a:r>
              <a:rPr lang="en-US" sz="1300" noProof="1">
                <a:solidFill>
                  <a:srgbClr val="000000"/>
                </a:solidFill>
                <a:latin typeface="Liter"/>
                <a:ea typeface="MiSans"/>
              </a:rPr>
              <a:t>1. 每个任务独立算，不拿全生态平均去压平差异。</a:t>
            </a:r>
            <a:endParaRPr lang="en-US" sz="1300" noProof="1"/>
          </a:p>
          <a:p>
            <a:pPr>
              <a:lnSpc>
                <a:spcPct val="142000"/>
              </a:lnSpc>
              <a:spcBef>
                <a:spcPts val="1000"/>
              </a:spcBef>
            </a:pPr>
            <a:r>
              <a:rPr lang="en-US" sz="1300" noProof="1">
                <a:solidFill>
                  <a:srgbClr val="000000"/>
                </a:solidFill>
                <a:latin typeface="Liter"/>
                <a:ea typeface="MiSans"/>
              </a:rPr>
              <a:t>2. unknown 占 65.6%，单独报告，不参与横向排名。</a:t>
            </a:r>
            <a:endParaRPr lang="en-US" sz="1300" noProof="1"/>
          </a:p>
          <a:p>
            <a:pPr>
              <a:lnSpc>
                <a:spcPct val="142000"/>
              </a:lnSpc>
              <a:spcBef>
                <a:spcPts val="1000"/>
              </a:spcBef>
            </a:pPr>
            <a:r>
              <a:rPr lang="en-US" sz="1300" noProof="1">
                <a:solidFill>
                  <a:srgbClr val="000000"/>
                </a:solidFill>
                <a:latin typeface="Liter"/>
                <a:ea typeface="MiSans"/>
              </a:rPr>
              <a:t>3. 逐任务数值与图形以 results_manifest.json 为准；原始 PNG 未随附件上传，本页只呈现比较口径。</a:t>
            </a:r>
            <a:endParaRPr lang="en-US" sz="1300" noProof="1"/>
          </a:p>
        </p:txBody>
      </p:sp>
      <p:sp>
        <p:nvSpPr>
          <p:cNvPr id="23" name="p15_call"/>
          <p:cNvSpPr/>
          <p:nvPr/>
        </p:nvSpPr>
        <p:spPr>
          <a:xfrm>
            <a:off x="7874000" y="5130800"/>
            <a:ext cx="3632200" cy="558800"/>
          </a:xfrm>
          <a:prstGeom prst="rect">
            <a:avLst/>
          </a:prstGeom>
          <a:solidFill>
            <a:srgbClr val="D772FF">
              <a:alpha val="18000"/>
            </a:srgbClr>
          </a:solidFill>
          <a:ln>
            <a:noFill/>
          </a:ln>
        </p:spPr>
      </p:sp>
      <p:sp>
        <p:nvSpPr>
          <p:cNvPr id="24" name="p15_call_t"/>
          <p:cNvSpPr txBox="1"/>
          <p:nvPr/>
        </p:nvSpPr>
        <p:spPr>
          <a:xfrm>
            <a:off x="8026400" y="5207000"/>
            <a:ext cx="33274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000000"/>
                </a:solidFill>
                <a:latin typeface="Liter"/>
                <a:ea typeface="MiSans"/>
              </a:rPr>
              <a:t>结论边界：任务结论只覆盖已标注的 34.4%。</a:t>
            </a:r>
            <a:endParaRPr lang="en-US" sz="1200" noProof="1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2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6_sq"/>
          <p:cNvSpPr/>
          <p:nvPr/>
        </p:nvSpPr>
        <p:spPr>
          <a:xfrm>
            <a:off x="609600" y="330200"/>
            <a:ext cx="165100" cy="165100"/>
          </a:xfrm>
          <a:prstGeom prst="rect">
            <a:avLst/>
          </a:prstGeom>
          <a:solidFill>
            <a:srgbClr val="D772FF"/>
          </a:solidFill>
          <a:ln>
            <a:noFill/>
          </a:ln>
        </p:spPr>
      </p:sp>
      <p:sp>
        <p:nvSpPr>
          <p:cNvPr id="3" name="h16_lab"/>
          <p:cNvSpPr txBox="1"/>
          <p:nvPr/>
        </p:nvSpPr>
        <p:spPr>
          <a:xfrm>
            <a:off x="889000" y="241300"/>
            <a:ext cx="4572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00" noProof="1" b="1" spc="200" kern="0">
                <a:solidFill>
                  <a:srgbClr val="000000"/>
                </a:solidFill>
                <a:latin typeface="Archivo Black"/>
                <a:ea typeface="MiSans"/>
              </a:rPr>
              <a:t>04 RESULT · SCALE</a:t>
            </a:r>
            <a:endParaRPr lang="en-US" sz="1000" noProof="1"/>
          </a:p>
        </p:txBody>
      </p:sp>
      <p:sp>
        <p:nvSpPr>
          <p:cNvPr id="4" name="t16"/>
          <p:cNvSpPr txBox="1"/>
          <p:nvPr/>
        </p:nvSpPr>
        <p:spPr>
          <a:xfrm>
            <a:off x="609600" y="685800"/>
            <a:ext cx="10972800" cy="736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04000"/>
              </a:lnSpc>
            </a:pPr>
            <a:r>
              <a:rPr lang="en-US" sz="2800" noProof="1" b="1">
                <a:solidFill>
                  <a:srgbClr val="000000"/>
                </a:solidFill>
                <a:latin typeface="Archivo Black"/>
                <a:ea typeface="MiSans"/>
              </a:rPr>
              <a:t>数据翻倍，流程还能跑；但我只声明单机结论</a:t>
            </a:r>
            <a:endParaRPr lang="en-US" sz="2800" noProof="1"/>
          </a:p>
        </p:txBody>
      </p:sp>
      <p:sp>
        <p:nvSpPr>
          <p:cNvPr id="5" name="st16"/>
          <p:cNvSpPr txBox="1"/>
          <p:nvPr/>
        </p:nvSpPr>
        <p:spPr>
          <a:xfrm>
            <a:off x="609600" y="1422400"/>
            <a:ext cx="10972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1100" noProof="1">
                <a:solidFill>
                  <a:srgbClr val="6E6A60"/>
                </a:solidFill>
                <a:latin typeface="Liter"/>
                <a:ea typeface="MiSans"/>
              </a:rPr>
              <a:t>107 个测量组合、321 次计时执行；每组另有 1 次不计时预热。</a:t>
            </a:r>
            <a:endParaRPr lang="en-US" sz="1100" noProof="1"/>
          </a:p>
        </p:txBody>
      </p:sp>
      <p:sp>
        <p:nvSpPr>
          <p:cNvPr id="6" name="f16_rule"/>
          <p:cNvSpPr/>
          <p:nvPr>
            <p:extLst>
              <p:ext uri="{F5677B7D-0D2A-4D9B-9A5C-6D8D7D0E5A5D}">
                <pptd:line encoding="base64url">eyJ2aWV3Qm94IjpbODY0LDJdLCJwb2ludHMiOiIwLDAgODY0LDAiLCJjdXJ2ZSI6InNoYXJwIn0</pptd:line>
              </p:ext>
            </p:extLst>
          </p:nvPr>
        </p:nvSpPr>
        <p:spPr>
          <a:xfrm>
            <a:off x="609600" y="6324600"/>
            <a:ext cx="10972800" cy="25400"/>
          </a:xfrm>
          <a:custGeom>
            <a:avLst/>
            <a:gdLst/>
            <a:ahLst/>
            <a:cxnLst/>
            <a:rect l="l" t="t" r="r" b="b"/>
            <a:pathLst>
              <a:path w="864" h="2">
                <a:moveTo>
                  <a:pt x="0" y="0"/>
                </a:moveTo>
                <a:lnTo>
                  <a:pt x="864" y="0"/>
                </a:lnTo>
              </a:path>
            </a:pathLst>
          </a:custGeom>
          <a:noFill/>
          <a:ln w="12700">
            <a:solidFill>
              <a:srgbClr val="C9C3B6"/>
            </a:solidFill>
          </a:ln>
        </p:spPr>
      </p:sp>
      <p:sp>
        <p:nvSpPr>
          <p:cNvPr id="7" name="f16_src"/>
          <p:cNvSpPr txBox="1"/>
          <p:nvPr/>
        </p:nvSpPr>
        <p:spPr>
          <a:xfrm>
            <a:off x="609600" y="6426200"/>
            <a:ext cx="9144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850" noProof="1">
                <a:solidFill>
                  <a:srgbClr val="6E6A60"/>
                </a:solidFill>
                <a:latin typeface="Liter"/>
                <a:ea typeface="MiSans"/>
              </a:rPr>
              <a:t>来源：项目 results_manifest.json 与用户提供大纲；口径与时间范围见各页标注。</a:t>
            </a:r>
            <a:endParaRPr lang="en-US" sz="850" noProof="1"/>
          </a:p>
        </p:txBody>
      </p:sp>
      <p:sp>
        <p:nvSpPr>
          <p:cNvPr id="8" name="f16_num"/>
          <p:cNvSpPr txBox="1"/>
          <p:nvPr/>
        </p:nvSpPr>
        <p:spPr>
          <a:xfrm>
            <a:off x="10922000" y="6426200"/>
            <a:ext cx="6604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6E6A60"/>
                </a:solidFill>
                <a:latin typeface="JetBrains Mono"/>
                <a:ea typeface="MiSans"/>
              </a:rPr>
              <a:t>16</a:t>
            </a:r>
            <a:endParaRPr lang="en-US" sz="900" noProof="1"/>
          </a:p>
        </p:txBody>
      </p:sp>
      <p:sp>
        <p:nvSpPr>
          <p:cNvPr id="9" name="p16_n1"/>
          <p:cNvSpPr txBox="1"/>
          <p:nvPr/>
        </p:nvSpPr>
        <p:spPr>
          <a:xfrm>
            <a:off x="736600" y="2006600"/>
            <a:ext cx="3175000" cy="838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4800" noProof="1" b="1">
                <a:solidFill>
                  <a:srgbClr val="D772FF"/>
                </a:solidFill>
                <a:latin typeface="Archivo Black"/>
                <a:ea typeface="MiSans"/>
              </a:rPr>
              <a:t>107</a:t>
            </a:r>
            <a:endParaRPr lang="en-US" sz="4800" noProof="1"/>
          </a:p>
        </p:txBody>
      </p:sp>
      <p:sp>
        <p:nvSpPr>
          <p:cNvPr id="10" name="p16_n1s"/>
          <p:cNvSpPr txBox="1"/>
          <p:nvPr/>
        </p:nvSpPr>
        <p:spPr>
          <a:xfrm>
            <a:off x="736600" y="2870200"/>
            <a:ext cx="3175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6E6A60"/>
                </a:solidFill>
                <a:latin typeface="Liter"/>
                <a:ea typeface="MiSans"/>
              </a:rPr>
              <a:t>测量组合</a:t>
            </a:r>
            <a:endParaRPr lang="en-US" sz="1200" noProof="1"/>
          </a:p>
        </p:txBody>
      </p:sp>
      <p:sp>
        <p:nvSpPr>
          <p:cNvPr id="11" name="p16_n2"/>
          <p:cNvSpPr txBox="1"/>
          <p:nvPr/>
        </p:nvSpPr>
        <p:spPr>
          <a:xfrm>
            <a:off x="4318000" y="2006600"/>
            <a:ext cx="3175000" cy="838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4800" noProof="1" b="1">
                <a:solidFill>
                  <a:srgbClr val="D772FF"/>
                </a:solidFill>
                <a:latin typeface="Archivo Black"/>
                <a:ea typeface="MiSans"/>
              </a:rPr>
              <a:t>321</a:t>
            </a:r>
            <a:endParaRPr lang="en-US" sz="4800" noProof="1"/>
          </a:p>
        </p:txBody>
      </p:sp>
      <p:sp>
        <p:nvSpPr>
          <p:cNvPr id="12" name="p16_n2s"/>
          <p:cNvSpPr txBox="1"/>
          <p:nvPr/>
        </p:nvSpPr>
        <p:spPr>
          <a:xfrm>
            <a:off x="4318000" y="2870200"/>
            <a:ext cx="3175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6E6A60"/>
                </a:solidFill>
                <a:latin typeface="Liter"/>
                <a:ea typeface="MiSans"/>
              </a:rPr>
              <a:t>计时执行</a:t>
            </a:r>
            <a:endParaRPr lang="en-US" sz="1200" noProof="1"/>
          </a:p>
        </p:txBody>
      </p:sp>
      <p:sp>
        <p:nvSpPr>
          <p:cNvPr id="13" name="p16_n3"/>
          <p:cNvSpPr txBox="1"/>
          <p:nvPr/>
        </p:nvSpPr>
        <p:spPr>
          <a:xfrm>
            <a:off x="7874000" y="2006600"/>
            <a:ext cx="3175000" cy="838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4000" noProof="1" b="1">
                <a:solidFill>
                  <a:srgbClr val="D772FF"/>
                </a:solidFill>
                <a:latin typeface="Archivo Black"/>
                <a:ea typeface="MiSans"/>
              </a:rPr>
              <a:t>10→100%</a:t>
            </a:r>
            <a:endParaRPr lang="en-US" sz="4000" noProof="1"/>
          </a:p>
        </p:txBody>
      </p:sp>
      <p:sp>
        <p:nvSpPr>
          <p:cNvPr id="14" name="p16_n3s"/>
          <p:cNvSpPr txBox="1"/>
          <p:nvPr/>
        </p:nvSpPr>
        <p:spPr>
          <a:xfrm>
            <a:off x="7874000" y="2870200"/>
            <a:ext cx="3556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6E6A60"/>
                </a:solidFill>
                <a:latin typeface="Liter"/>
                <a:ea typeface="MiSans"/>
              </a:rPr>
              <a:t>嵌套子集规模扫描</a:t>
            </a:r>
            <a:endParaRPr lang="en-US" sz="1200" noProof="1"/>
          </a:p>
        </p:txBody>
      </p:sp>
      <p:sp>
        <p:nvSpPr>
          <p:cNvPr id="15" name="p16_s0"/>
          <p:cNvSpPr txBox="1"/>
          <p:nvPr/>
        </p:nvSpPr>
        <p:spPr>
          <a:xfrm>
            <a:off x="736600" y="3810000"/>
            <a:ext cx="762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>
                <a:solidFill>
                  <a:srgbClr val="000000"/>
                </a:solidFill>
                <a:latin typeface="JetBrains Mono"/>
                <a:ea typeface="MiSans"/>
              </a:rPr>
              <a:t>10%</a:t>
            </a:r>
            <a:endParaRPr lang="en-US" sz="1200" noProof="1"/>
          </a:p>
        </p:txBody>
      </p:sp>
      <p:sp>
        <p:nvSpPr>
          <p:cNvPr id="16" name="p16_sb0"/>
          <p:cNvSpPr/>
          <p:nvPr/>
        </p:nvSpPr>
        <p:spPr>
          <a:xfrm>
            <a:off x="1574800" y="3848100"/>
            <a:ext cx="711200" cy="203200"/>
          </a:xfrm>
          <a:prstGeom prst="rect">
            <a:avLst/>
          </a:prstGeom>
          <a:solidFill>
            <a:srgbClr val="A4C9FF"/>
          </a:solidFill>
          <a:ln>
            <a:noFill/>
          </a:ln>
        </p:spPr>
      </p:sp>
      <p:sp>
        <p:nvSpPr>
          <p:cNvPr id="17" name="p16_note0"/>
          <p:cNvSpPr txBox="1"/>
          <p:nvPr/>
        </p:nvSpPr>
        <p:spPr>
          <a:xfrm>
            <a:off x="8890000" y="3810000"/>
            <a:ext cx="2413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50" noProof="1">
                <a:solidFill>
                  <a:srgbClr val="6E6A60"/>
                </a:solidFill>
                <a:latin typeface="Liter"/>
                <a:ea typeface="MiSans"/>
              </a:rPr>
              <a:t>只差数据量，不差样本构成</a:t>
            </a:r>
            <a:endParaRPr lang="en-US" sz="1050" noProof="1"/>
          </a:p>
        </p:txBody>
      </p:sp>
      <p:sp>
        <p:nvSpPr>
          <p:cNvPr id="18" name="p16_s1"/>
          <p:cNvSpPr txBox="1"/>
          <p:nvPr/>
        </p:nvSpPr>
        <p:spPr>
          <a:xfrm>
            <a:off x="736600" y="4292600"/>
            <a:ext cx="762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>
                <a:solidFill>
                  <a:srgbClr val="000000"/>
                </a:solidFill>
                <a:latin typeface="JetBrains Mono"/>
                <a:ea typeface="MiSans"/>
              </a:rPr>
              <a:t>25%</a:t>
            </a:r>
            <a:endParaRPr lang="en-US" sz="1200" noProof="1"/>
          </a:p>
        </p:txBody>
      </p:sp>
      <p:sp>
        <p:nvSpPr>
          <p:cNvPr id="19" name="p16_sb1"/>
          <p:cNvSpPr/>
          <p:nvPr/>
        </p:nvSpPr>
        <p:spPr>
          <a:xfrm>
            <a:off x="1574800" y="4330700"/>
            <a:ext cx="1778000" cy="203200"/>
          </a:xfrm>
          <a:prstGeom prst="rect">
            <a:avLst/>
          </a:prstGeom>
          <a:solidFill>
            <a:srgbClr val="A4C9FF"/>
          </a:solidFill>
          <a:ln>
            <a:noFill/>
          </a:ln>
        </p:spPr>
      </p:sp>
      <p:sp>
        <p:nvSpPr>
          <p:cNvPr id="20" name="p16_s2"/>
          <p:cNvSpPr txBox="1"/>
          <p:nvPr/>
        </p:nvSpPr>
        <p:spPr>
          <a:xfrm>
            <a:off x="736600" y="4775200"/>
            <a:ext cx="762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>
                <a:solidFill>
                  <a:srgbClr val="000000"/>
                </a:solidFill>
                <a:latin typeface="JetBrains Mono"/>
                <a:ea typeface="MiSans"/>
              </a:rPr>
              <a:t>50%</a:t>
            </a:r>
            <a:endParaRPr lang="en-US" sz="1200" noProof="1"/>
          </a:p>
        </p:txBody>
      </p:sp>
      <p:sp>
        <p:nvSpPr>
          <p:cNvPr id="21" name="p16_sb2"/>
          <p:cNvSpPr/>
          <p:nvPr/>
        </p:nvSpPr>
        <p:spPr>
          <a:xfrm>
            <a:off x="1574800" y="4813300"/>
            <a:ext cx="3556000" cy="203200"/>
          </a:xfrm>
          <a:prstGeom prst="rect">
            <a:avLst/>
          </a:prstGeom>
          <a:solidFill>
            <a:srgbClr val="A4C9FF"/>
          </a:solidFill>
          <a:ln>
            <a:noFill/>
          </a:ln>
        </p:spPr>
      </p:sp>
      <p:sp>
        <p:nvSpPr>
          <p:cNvPr id="22" name="p16_s3"/>
          <p:cNvSpPr txBox="1"/>
          <p:nvPr/>
        </p:nvSpPr>
        <p:spPr>
          <a:xfrm>
            <a:off x="736600" y="5257800"/>
            <a:ext cx="762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>
                <a:solidFill>
                  <a:srgbClr val="000000"/>
                </a:solidFill>
                <a:latin typeface="JetBrains Mono"/>
                <a:ea typeface="MiSans"/>
              </a:rPr>
              <a:t>100%</a:t>
            </a:r>
            <a:endParaRPr lang="en-US" sz="1200" noProof="1"/>
          </a:p>
        </p:txBody>
      </p:sp>
      <p:sp>
        <p:nvSpPr>
          <p:cNvPr id="23" name="p16_sb3"/>
          <p:cNvSpPr/>
          <p:nvPr/>
        </p:nvSpPr>
        <p:spPr>
          <a:xfrm>
            <a:off x="1574800" y="5295900"/>
            <a:ext cx="7112000" cy="203200"/>
          </a:xfrm>
          <a:prstGeom prst="rect">
            <a:avLst/>
          </a:prstGeom>
          <a:solidFill>
            <a:srgbClr val="7421F7"/>
          </a:solidFill>
          <a:ln>
            <a:noFill/>
          </a:ln>
        </p:spPr>
      </p:sp>
      <p:sp>
        <p:nvSpPr>
          <p:cNvPr id="24" name="p16_bound"/>
          <p:cNvSpPr txBox="1"/>
          <p:nvPr/>
        </p:nvSpPr>
        <p:spPr>
          <a:xfrm>
            <a:off x="736600" y="59182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250" noProof="1" b="1">
                <a:solidFill>
                  <a:srgbClr val="000000"/>
                </a:solidFill>
                <a:latin typeface="Liter"/>
                <a:ea typeface="MiSans"/>
              </a:rPr>
              <a:t>边界声明：单机多核实验；Windows 清不了缓存，计时是缓存热态；不代表集群结论。</a:t>
            </a:r>
            <a:endParaRPr lang="en-US" sz="1250" noProof="1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2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7_sq"/>
          <p:cNvSpPr/>
          <p:nvPr/>
        </p:nvSpPr>
        <p:spPr>
          <a:xfrm>
            <a:off x="609600" y="330200"/>
            <a:ext cx="165100" cy="165100"/>
          </a:xfrm>
          <a:prstGeom prst="rect">
            <a:avLst/>
          </a:prstGeom>
          <a:solidFill>
            <a:srgbClr val="4C36FD"/>
          </a:solidFill>
          <a:ln>
            <a:noFill/>
          </a:ln>
        </p:spPr>
      </p:sp>
      <p:sp>
        <p:nvSpPr>
          <p:cNvPr id="3" name="h17_lab"/>
          <p:cNvSpPr txBox="1"/>
          <p:nvPr/>
        </p:nvSpPr>
        <p:spPr>
          <a:xfrm>
            <a:off x="889000" y="241300"/>
            <a:ext cx="4572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00" noProof="1" b="1" spc="200" kern="0">
                <a:solidFill>
                  <a:srgbClr val="000000"/>
                </a:solidFill>
                <a:latin typeface="Archivo Black"/>
                <a:ea typeface="MiSans"/>
              </a:rPr>
              <a:t>05 WRAP</a:t>
            </a:r>
            <a:endParaRPr lang="en-US" sz="1000" noProof="1"/>
          </a:p>
        </p:txBody>
      </p:sp>
      <p:sp>
        <p:nvSpPr>
          <p:cNvPr id="4" name="t17"/>
          <p:cNvSpPr txBox="1"/>
          <p:nvPr/>
        </p:nvSpPr>
        <p:spPr>
          <a:xfrm>
            <a:off x="609600" y="685800"/>
            <a:ext cx="10972800" cy="736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04000"/>
              </a:lnSpc>
            </a:pPr>
            <a:r>
              <a:rPr lang="en-US" sz="2800" noProof="1" b="1">
                <a:solidFill>
                  <a:srgbClr val="000000"/>
                </a:solidFill>
                <a:latin typeface="Archivo Black"/>
                <a:ea typeface="MiSans"/>
              </a:rPr>
              <a:t>我不是“跑通就行”：这 4 件事做得更讲究</a:t>
            </a:r>
            <a:endParaRPr lang="en-US" sz="2800" noProof="1"/>
          </a:p>
        </p:txBody>
      </p:sp>
      <p:sp>
        <p:nvSpPr>
          <p:cNvPr id="5" name="st17"/>
          <p:cNvSpPr txBox="1"/>
          <p:nvPr/>
        </p:nvSpPr>
        <p:spPr>
          <a:xfrm>
            <a:off x="609600" y="1422400"/>
            <a:ext cx="10972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1100" noProof="1">
                <a:solidFill>
                  <a:srgbClr val="6E6A60"/>
                </a:solidFill>
                <a:latin typeface="Liter"/>
                <a:ea typeface="MiSans"/>
              </a:rPr>
              <a:t>高光 40 秒：每条都对应一个可核验的工程动作。</a:t>
            </a:r>
            <a:endParaRPr lang="en-US" sz="1100" noProof="1"/>
          </a:p>
        </p:txBody>
      </p:sp>
      <p:sp>
        <p:nvSpPr>
          <p:cNvPr id="6" name="f17_rule"/>
          <p:cNvSpPr/>
          <p:nvPr>
            <p:extLst>
              <p:ext uri="{F5677B7D-0D2A-4D9B-9A5C-6D8D7D0E5A5D}">
                <pptd:line encoding="base64url">eyJ2aWV3Qm94IjpbODY0LDJdLCJwb2ludHMiOiIwLDAgODY0LDAiLCJjdXJ2ZSI6InNoYXJwIn0</pptd:line>
              </p:ext>
            </p:extLst>
          </p:nvPr>
        </p:nvSpPr>
        <p:spPr>
          <a:xfrm>
            <a:off x="609600" y="6324600"/>
            <a:ext cx="10972800" cy="25400"/>
          </a:xfrm>
          <a:custGeom>
            <a:avLst/>
            <a:gdLst/>
            <a:ahLst/>
            <a:cxnLst/>
            <a:rect l="l" t="t" r="r" b="b"/>
            <a:pathLst>
              <a:path w="864" h="2">
                <a:moveTo>
                  <a:pt x="0" y="0"/>
                </a:moveTo>
                <a:lnTo>
                  <a:pt x="864" y="0"/>
                </a:lnTo>
              </a:path>
            </a:pathLst>
          </a:custGeom>
          <a:noFill/>
          <a:ln w="12700">
            <a:solidFill>
              <a:srgbClr val="C9C3B6"/>
            </a:solidFill>
          </a:ln>
        </p:spPr>
      </p:sp>
      <p:sp>
        <p:nvSpPr>
          <p:cNvPr id="7" name="f17_src"/>
          <p:cNvSpPr txBox="1"/>
          <p:nvPr/>
        </p:nvSpPr>
        <p:spPr>
          <a:xfrm>
            <a:off x="609600" y="6426200"/>
            <a:ext cx="9144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850" noProof="1">
                <a:solidFill>
                  <a:srgbClr val="6E6A60"/>
                </a:solidFill>
                <a:latin typeface="Liter"/>
                <a:ea typeface="MiSans"/>
              </a:rPr>
              <a:t>来源：项目 results_manifest.json 与用户提供大纲；口径与时间范围见各页标注。</a:t>
            </a:r>
            <a:endParaRPr lang="en-US" sz="850" noProof="1"/>
          </a:p>
        </p:txBody>
      </p:sp>
      <p:sp>
        <p:nvSpPr>
          <p:cNvPr id="8" name="f17_num"/>
          <p:cNvSpPr txBox="1"/>
          <p:nvPr/>
        </p:nvSpPr>
        <p:spPr>
          <a:xfrm>
            <a:off x="10922000" y="6426200"/>
            <a:ext cx="6604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6E6A60"/>
                </a:solidFill>
                <a:latin typeface="JetBrains Mono"/>
                <a:ea typeface="MiSans"/>
              </a:rPr>
              <a:t>17</a:t>
            </a:r>
            <a:endParaRPr lang="en-US" sz="900" noProof="1"/>
          </a:p>
        </p:txBody>
      </p:sp>
      <p:sp>
        <p:nvSpPr>
          <p:cNvPr id="9" name="p17_n0"/>
          <p:cNvSpPr txBox="1"/>
          <p:nvPr/>
        </p:nvSpPr>
        <p:spPr>
          <a:xfrm>
            <a:off x="736600" y="1930400"/>
            <a:ext cx="7112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4C36FD"/>
                </a:solidFill>
                <a:latin typeface="JetBrains Mono"/>
                <a:ea typeface="MiSans"/>
              </a:rPr>
              <a:t>01</a:t>
            </a:r>
            <a:endParaRPr lang="en-US" sz="2600" noProof="1"/>
          </a:p>
        </p:txBody>
      </p:sp>
      <p:sp>
        <p:nvSpPr>
          <p:cNvPr id="10" name="p17_l0"/>
          <p:cNvSpPr/>
          <p:nvPr>
            <p:extLst>
              <p:ext uri="{F5677B7D-0D2A-4D9B-9A5C-6D8D7D0E5A5D}">
                <pptd:line encoding="base64url">eyJ2aWV3Qm94IjpbMiw1NF0sInBvaW50cyI6IjAsMCAwLDU0IiwiY3VydmUiOiJzaGFycCJ9</pptd:line>
              </p:ext>
            </p:extLst>
          </p:nvPr>
        </p:nvSpPr>
        <p:spPr>
          <a:xfrm>
            <a:off x="1574800" y="2006600"/>
            <a:ext cx="25400" cy="685800"/>
          </a:xfrm>
          <a:custGeom>
            <a:avLst/>
            <a:gdLst/>
            <a:ahLst/>
            <a:cxnLst/>
            <a:rect l="l" t="t" r="r" b="b"/>
            <a:pathLst>
              <a:path w="2" h="54">
                <a:moveTo>
                  <a:pt x="0" y="0"/>
                </a:moveTo>
                <a:lnTo>
                  <a:pt x="0" y="54"/>
                </a:lnTo>
              </a:path>
            </a:pathLst>
          </a:custGeom>
          <a:noFill/>
          <a:ln w="38100">
            <a:solidFill>
              <a:srgbClr val="4C36FD"/>
            </a:solidFill>
          </a:ln>
        </p:spPr>
      </p:sp>
      <p:sp>
        <p:nvSpPr>
          <p:cNvPr id="11" name="p17_h0"/>
          <p:cNvSpPr txBox="1"/>
          <p:nvPr/>
        </p:nvSpPr>
        <p:spPr>
          <a:xfrm>
            <a:off x="1854200" y="1930400"/>
            <a:ext cx="4572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700" noProof="1" b="1">
                <a:solidFill>
                  <a:srgbClr val="000000"/>
                </a:solidFill>
                <a:latin typeface="Archivo Black"/>
                <a:ea typeface="MiSans"/>
              </a:rPr>
              <a:t>频数加权 Gini 精确口径</a:t>
            </a:r>
            <a:endParaRPr lang="en-US" sz="1700" noProof="1"/>
          </a:p>
        </p:txBody>
      </p:sp>
      <p:sp>
        <p:nvSpPr>
          <p:cNvPr id="12" name="p17_b0"/>
          <p:cNvSpPr txBox="1"/>
          <p:nvPr/>
        </p:nvSpPr>
        <p:spPr>
          <a:xfrm>
            <a:off x="1854200" y="2311400"/>
            <a:ext cx="8890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0000"/>
              </a:lnSpc>
            </a:pPr>
            <a:r>
              <a:rPr lang="en-US" sz="1300" noProof="1">
                <a:solidFill>
                  <a:srgbClr val="000000"/>
                </a:solidFill>
                <a:latin typeface="Liter"/>
                <a:ea typeface="MiSans"/>
              </a:rPr>
              <a:t>先数频数再算，绕开全局排序，还保证精确。</a:t>
            </a:r>
            <a:endParaRPr lang="en-US" sz="1300" noProof="1"/>
          </a:p>
        </p:txBody>
      </p:sp>
      <p:sp>
        <p:nvSpPr>
          <p:cNvPr id="13" name="p17_n1"/>
          <p:cNvSpPr txBox="1"/>
          <p:nvPr/>
        </p:nvSpPr>
        <p:spPr>
          <a:xfrm>
            <a:off x="736600" y="2971800"/>
            <a:ext cx="7112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4C36FD"/>
                </a:solidFill>
                <a:latin typeface="JetBrains Mono"/>
                <a:ea typeface="MiSans"/>
              </a:rPr>
              <a:t>02</a:t>
            </a:r>
            <a:endParaRPr lang="en-US" sz="2600" noProof="1"/>
          </a:p>
        </p:txBody>
      </p:sp>
      <p:sp>
        <p:nvSpPr>
          <p:cNvPr id="14" name="p17_l1"/>
          <p:cNvSpPr/>
          <p:nvPr>
            <p:extLst>
              <p:ext uri="{F5677B7D-0D2A-4D9B-9A5C-6D8D7D0E5A5D}">
                <pptd:line encoding="base64url">eyJ2aWV3Qm94IjpbMiw1NF0sInBvaW50cyI6IjAsMCAwLDU0IiwiY3VydmUiOiJzaGFycCJ9</pptd:line>
              </p:ext>
            </p:extLst>
          </p:nvPr>
        </p:nvSpPr>
        <p:spPr>
          <a:xfrm>
            <a:off x="1574800" y="3048000"/>
            <a:ext cx="25400" cy="685800"/>
          </a:xfrm>
          <a:custGeom>
            <a:avLst/>
            <a:gdLst/>
            <a:ahLst/>
            <a:cxnLst/>
            <a:rect l="l" t="t" r="r" b="b"/>
            <a:pathLst>
              <a:path w="2" h="54">
                <a:moveTo>
                  <a:pt x="0" y="0"/>
                </a:moveTo>
                <a:lnTo>
                  <a:pt x="0" y="54"/>
                </a:lnTo>
              </a:path>
            </a:pathLst>
          </a:custGeom>
          <a:noFill/>
          <a:ln w="38100">
            <a:solidFill>
              <a:srgbClr val="4C36FD"/>
            </a:solidFill>
          </a:ln>
        </p:spPr>
      </p:sp>
      <p:sp>
        <p:nvSpPr>
          <p:cNvPr id="15" name="p17_h1"/>
          <p:cNvSpPr txBox="1"/>
          <p:nvPr/>
        </p:nvSpPr>
        <p:spPr>
          <a:xfrm>
            <a:off x="1854200" y="2971800"/>
            <a:ext cx="4572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700" noProof="1" b="1">
                <a:solidFill>
                  <a:srgbClr val="000000"/>
                </a:solidFill>
                <a:latin typeface="Archivo Black"/>
                <a:ea typeface="MiSans"/>
              </a:rPr>
              <a:t>谱系边语义严格保留</a:t>
            </a:r>
            <a:endParaRPr lang="en-US" sz="1700" noProof="1"/>
          </a:p>
        </p:txBody>
      </p:sp>
      <p:sp>
        <p:nvSpPr>
          <p:cNvPr id="16" name="p17_b1"/>
          <p:cNvSpPr txBox="1"/>
          <p:nvPr/>
        </p:nvSpPr>
        <p:spPr>
          <a:xfrm>
            <a:off x="1854200" y="3352800"/>
            <a:ext cx="8890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0000"/>
              </a:lnSpc>
            </a:pPr>
            <a:r>
              <a:rPr lang="en-US" sz="1300" noProof="1">
                <a:solidFill>
                  <a:srgbClr val="000000"/>
                </a:solidFill>
                <a:latin typeface="Liter"/>
                <a:ea typeface="MiSans"/>
              </a:rPr>
              <a:t>方向不搞反，外部父模型完整留着。</a:t>
            </a:r>
            <a:endParaRPr lang="en-US" sz="1300" noProof="1"/>
          </a:p>
        </p:txBody>
      </p:sp>
      <p:sp>
        <p:nvSpPr>
          <p:cNvPr id="17" name="p17_n2"/>
          <p:cNvSpPr txBox="1"/>
          <p:nvPr/>
        </p:nvSpPr>
        <p:spPr>
          <a:xfrm>
            <a:off x="736600" y="4013200"/>
            <a:ext cx="7112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4C36FD"/>
                </a:solidFill>
                <a:latin typeface="JetBrains Mono"/>
                <a:ea typeface="MiSans"/>
              </a:rPr>
              <a:t>03</a:t>
            </a:r>
            <a:endParaRPr lang="en-US" sz="2600" noProof="1"/>
          </a:p>
        </p:txBody>
      </p:sp>
      <p:sp>
        <p:nvSpPr>
          <p:cNvPr id="18" name="p17_l2"/>
          <p:cNvSpPr/>
          <p:nvPr>
            <p:extLst>
              <p:ext uri="{F5677B7D-0D2A-4D9B-9A5C-6D8D7D0E5A5D}">
                <pptd:line encoding="base64url">eyJ2aWV3Qm94IjpbMiw1NF0sInBvaW50cyI6IjAsMCAwLDU0IiwiY3VydmUiOiJzaGFycCJ9</pptd:line>
              </p:ext>
            </p:extLst>
          </p:nvPr>
        </p:nvSpPr>
        <p:spPr>
          <a:xfrm>
            <a:off x="1574800" y="4089400"/>
            <a:ext cx="25400" cy="685800"/>
          </a:xfrm>
          <a:custGeom>
            <a:avLst/>
            <a:gdLst/>
            <a:ahLst/>
            <a:cxnLst/>
            <a:rect l="l" t="t" r="r" b="b"/>
            <a:pathLst>
              <a:path w="2" h="54">
                <a:moveTo>
                  <a:pt x="0" y="0"/>
                </a:moveTo>
                <a:lnTo>
                  <a:pt x="0" y="54"/>
                </a:lnTo>
              </a:path>
            </a:pathLst>
          </a:custGeom>
          <a:noFill/>
          <a:ln w="38100">
            <a:solidFill>
              <a:srgbClr val="4C36FD"/>
            </a:solidFill>
          </a:ln>
        </p:spPr>
      </p:sp>
      <p:sp>
        <p:nvSpPr>
          <p:cNvPr id="19" name="p17_h2"/>
          <p:cNvSpPr txBox="1"/>
          <p:nvPr/>
        </p:nvSpPr>
        <p:spPr>
          <a:xfrm>
            <a:off x="1854200" y="4013200"/>
            <a:ext cx="4572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700" noProof="1" b="1">
                <a:solidFill>
                  <a:srgbClr val="000000"/>
                </a:solidFill>
                <a:latin typeface="Archivo Black"/>
                <a:ea typeface="MiSans"/>
              </a:rPr>
              <a:t>双轨计算 + 断点续跑</a:t>
            </a:r>
            <a:endParaRPr lang="en-US" sz="1700" noProof="1"/>
          </a:p>
        </p:txBody>
      </p:sp>
      <p:sp>
        <p:nvSpPr>
          <p:cNvPr id="20" name="p17_b2"/>
          <p:cNvSpPr txBox="1"/>
          <p:nvPr/>
        </p:nvSpPr>
        <p:spPr>
          <a:xfrm>
            <a:off x="1854200" y="4394200"/>
            <a:ext cx="8890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0000"/>
              </a:lnSpc>
            </a:pPr>
            <a:r>
              <a:rPr lang="en-US" sz="1300" noProof="1">
                <a:solidFill>
                  <a:srgbClr val="000000"/>
                </a:solidFill>
                <a:latin typeface="Liter"/>
                <a:ea typeface="MiSans"/>
              </a:rPr>
              <a:t>GraphFrames 与 Spark 双轨；逐步骤落盘，耗时如实记录。</a:t>
            </a:r>
            <a:endParaRPr lang="en-US" sz="1300" noProof="1"/>
          </a:p>
        </p:txBody>
      </p:sp>
      <p:sp>
        <p:nvSpPr>
          <p:cNvPr id="21" name="p17_n3"/>
          <p:cNvSpPr txBox="1"/>
          <p:nvPr/>
        </p:nvSpPr>
        <p:spPr>
          <a:xfrm>
            <a:off x="736600" y="5054600"/>
            <a:ext cx="7112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4C36FD"/>
                </a:solidFill>
                <a:latin typeface="JetBrains Mono"/>
                <a:ea typeface="MiSans"/>
              </a:rPr>
              <a:t>04</a:t>
            </a:r>
            <a:endParaRPr lang="en-US" sz="2600" noProof="1"/>
          </a:p>
        </p:txBody>
      </p:sp>
      <p:sp>
        <p:nvSpPr>
          <p:cNvPr id="22" name="p17_l3"/>
          <p:cNvSpPr/>
          <p:nvPr>
            <p:extLst>
              <p:ext uri="{F5677B7D-0D2A-4D9B-9A5C-6D8D7D0E5A5D}">
                <pptd:line encoding="base64url">eyJ2aWV3Qm94IjpbMiw1NF0sInBvaW50cyI6IjAsMCAwLDU0IiwiY3VydmUiOiJzaGFycCJ9</pptd:line>
              </p:ext>
            </p:extLst>
          </p:nvPr>
        </p:nvSpPr>
        <p:spPr>
          <a:xfrm>
            <a:off x="1574800" y="5130800"/>
            <a:ext cx="25400" cy="685800"/>
          </a:xfrm>
          <a:custGeom>
            <a:avLst/>
            <a:gdLst/>
            <a:ahLst/>
            <a:cxnLst/>
            <a:rect l="l" t="t" r="r" b="b"/>
            <a:pathLst>
              <a:path w="2" h="54">
                <a:moveTo>
                  <a:pt x="0" y="0"/>
                </a:moveTo>
                <a:lnTo>
                  <a:pt x="0" y="54"/>
                </a:lnTo>
              </a:path>
            </a:pathLst>
          </a:custGeom>
          <a:noFill/>
          <a:ln w="38100">
            <a:solidFill>
              <a:srgbClr val="4C36FD"/>
            </a:solidFill>
          </a:ln>
        </p:spPr>
      </p:sp>
      <p:sp>
        <p:nvSpPr>
          <p:cNvPr id="23" name="p17_h3"/>
          <p:cNvSpPr txBox="1"/>
          <p:nvPr/>
        </p:nvSpPr>
        <p:spPr>
          <a:xfrm>
            <a:off x="1854200" y="5054600"/>
            <a:ext cx="4572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700" noProof="1" b="1">
                <a:solidFill>
                  <a:srgbClr val="000000"/>
                </a:solidFill>
                <a:latin typeface="Archivo Black"/>
                <a:ea typeface="MiSans"/>
              </a:rPr>
              <a:t>单一结果清单驱动交付</a:t>
            </a:r>
            <a:endParaRPr lang="en-US" sz="1700" noProof="1"/>
          </a:p>
        </p:txBody>
      </p:sp>
      <p:sp>
        <p:nvSpPr>
          <p:cNvPr id="24" name="p17_b3"/>
          <p:cNvSpPr txBox="1"/>
          <p:nvPr/>
        </p:nvSpPr>
        <p:spPr>
          <a:xfrm>
            <a:off x="1854200" y="5435600"/>
            <a:ext cx="8890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0000"/>
              </a:lnSpc>
            </a:pPr>
            <a:r>
              <a:rPr lang="en-US" sz="1300" noProof="1">
                <a:solidFill>
                  <a:srgbClr val="000000"/>
                </a:solidFill>
                <a:latin typeface="Liter"/>
                <a:ea typeface="MiSans"/>
              </a:rPr>
              <a:t>一个数据源，报告、图、看板全对齐。</a:t>
            </a:r>
            <a:endParaRPr lang="en-US" sz="1300" noProof="1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2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8_sq"/>
          <p:cNvSpPr/>
          <p:nvPr/>
        </p:nvSpPr>
        <p:spPr>
          <a:xfrm>
            <a:off x="609600" y="330200"/>
            <a:ext cx="165100" cy="165100"/>
          </a:xfrm>
          <a:prstGeom prst="rect">
            <a:avLst/>
          </a:prstGeom>
          <a:solidFill>
            <a:srgbClr val="4C36FD"/>
          </a:solidFill>
          <a:ln>
            <a:noFill/>
          </a:ln>
        </p:spPr>
      </p:sp>
      <p:sp>
        <p:nvSpPr>
          <p:cNvPr id="3" name="h18_lab"/>
          <p:cNvSpPr txBox="1"/>
          <p:nvPr/>
        </p:nvSpPr>
        <p:spPr>
          <a:xfrm>
            <a:off x="889000" y="241300"/>
            <a:ext cx="4572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00" noProof="1" b="1" spc="200" kern="0">
                <a:solidFill>
                  <a:srgbClr val="000000"/>
                </a:solidFill>
                <a:latin typeface="Archivo Black"/>
                <a:ea typeface="MiSans"/>
              </a:rPr>
              <a:t>05 WRAP</a:t>
            </a:r>
            <a:endParaRPr lang="en-US" sz="1000" noProof="1"/>
          </a:p>
        </p:txBody>
      </p:sp>
      <p:sp>
        <p:nvSpPr>
          <p:cNvPr id="4" name="t18"/>
          <p:cNvSpPr txBox="1"/>
          <p:nvPr/>
        </p:nvSpPr>
        <p:spPr>
          <a:xfrm>
            <a:off x="609600" y="685800"/>
            <a:ext cx="10972800" cy="736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04000"/>
              </a:lnSpc>
            </a:pPr>
            <a:r>
              <a:rPr lang="en-US" sz="2800" noProof="1" b="1">
                <a:solidFill>
                  <a:srgbClr val="000000"/>
                </a:solidFill>
                <a:latin typeface="Archivo Black"/>
                <a:ea typeface="MiSans"/>
              </a:rPr>
              <a:t>这些地方，我如实说</a:t>
            </a:r>
            <a:endParaRPr lang="en-US" sz="2800" noProof="1"/>
          </a:p>
        </p:txBody>
      </p:sp>
      <p:sp>
        <p:nvSpPr>
          <p:cNvPr id="5" name="st18"/>
          <p:cNvSpPr txBox="1"/>
          <p:nvPr/>
        </p:nvSpPr>
        <p:spPr>
          <a:xfrm>
            <a:off x="609600" y="1422400"/>
            <a:ext cx="10972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1100" noProof="1">
                <a:solidFill>
                  <a:srgbClr val="6E6A60"/>
                </a:solidFill>
                <a:latin typeface="Liter"/>
                <a:ea typeface="MiSans"/>
              </a:rPr>
              <a:t>主动亮边界，比被问出来更显成熟；以下前提决定结论适用范围。</a:t>
            </a:r>
            <a:endParaRPr lang="en-US" sz="1100" noProof="1"/>
          </a:p>
        </p:txBody>
      </p:sp>
      <p:sp>
        <p:nvSpPr>
          <p:cNvPr id="6" name="f18_rule"/>
          <p:cNvSpPr/>
          <p:nvPr>
            <p:extLst>
              <p:ext uri="{F5677B7D-0D2A-4D9B-9A5C-6D8D7D0E5A5D}">
                <pptd:line encoding="base64url">eyJ2aWV3Qm94IjpbODY0LDJdLCJwb2ludHMiOiIwLDAgODY0LDAiLCJjdXJ2ZSI6InNoYXJwIn0</pptd:line>
              </p:ext>
            </p:extLst>
          </p:nvPr>
        </p:nvSpPr>
        <p:spPr>
          <a:xfrm>
            <a:off x="609600" y="6324600"/>
            <a:ext cx="10972800" cy="25400"/>
          </a:xfrm>
          <a:custGeom>
            <a:avLst/>
            <a:gdLst/>
            <a:ahLst/>
            <a:cxnLst/>
            <a:rect l="l" t="t" r="r" b="b"/>
            <a:pathLst>
              <a:path w="864" h="2">
                <a:moveTo>
                  <a:pt x="0" y="0"/>
                </a:moveTo>
                <a:lnTo>
                  <a:pt x="864" y="0"/>
                </a:lnTo>
              </a:path>
            </a:pathLst>
          </a:custGeom>
          <a:noFill/>
          <a:ln w="12700">
            <a:solidFill>
              <a:srgbClr val="C9C3B6"/>
            </a:solidFill>
          </a:ln>
        </p:spPr>
      </p:sp>
      <p:sp>
        <p:nvSpPr>
          <p:cNvPr id="7" name="f18_src"/>
          <p:cNvSpPr txBox="1"/>
          <p:nvPr/>
        </p:nvSpPr>
        <p:spPr>
          <a:xfrm>
            <a:off x="609600" y="6426200"/>
            <a:ext cx="9144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850" noProof="1">
                <a:solidFill>
                  <a:srgbClr val="6E6A60"/>
                </a:solidFill>
                <a:latin typeface="Liter"/>
                <a:ea typeface="MiSans"/>
              </a:rPr>
              <a:t>来源：项目 results_manifest.json 与用户提供大纲；口径与时间范围见各页标注。</a:t>
            </a:r>
            <a:endParaRPr lang="en-US" sz="850" noProof="1"/>
          </a:p>
        </p:txBody>
      </p:sp>
      <p:sp>
        <p:nvSpPr>
          <p:cNvPr id="8" name="f18_num"/>
          <p:cNvSpPr txBox="1"/>
          <p:nvPr/>
        </p:nvSpPr>
        <p:spPr>
          <a:xfrm>
            <a:off x="10922000" y="6426200"/>
            <a:ext cx="6604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6E6A60"/>
                </a:solidFill>
                <a:latin typeface="JetBrains Mono"/>
                <a:ea typeface="MiSans"/>
              </a:rPr>
              <a:t>18</a:t>
            </a:r>
            <a:endParaRPr lang="en-US" sz="900" noProof="1"/>
          </a:p>
        </p:txBody>
      </p:sp>
      <p:sp>
        <p:nvSpPr>
          <p:cNvPr id="9" name="p18_dot0"/>
          <p:cNvSpPr/>
          <p:nvPr/>
        </p:nvSpPr>
        <p:spPr>
          <a:xfrm>
            <a:off x="762000" y="2057400"/>
            <a:ext cx="152400" cy="152400"/>
          </a:xfrm>
          <a:prstGeom prst="rect">
            <a:avLst/>
          </a:prstGeom>
          <a:solidFill>
            <a:srgbClr val="4C36FD"/>
          </a:solidFill>
          <a:ln>
            <a:noFill/>
          </a:ln>
        </p:spPr>
      </p:sp>
      <p:sp>
        <p:nvSpPr>
          <p:cNvPr id="10" name="p18_h0"/>
          <p:cNvSpPr txBox="1"/>
          <p:nvPr/>
        </p:nvSpPr>
        <p:spPr>
          <a:xfrm>
            <a:off x="1117600" y="1955800"/>
            <a:ext cx="2286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50" noProof="1" b="1">
                <a:solidFill>
                  <a:srgbClr val="000000"/>
                </a:solidFill>
                <a:latin typeface="Archivo Black"/>
                <a:ea typeface="MiSans"/>
              </a:rPr>
              <a:t>快照性质</a:t>
            </a:r>
            <a:endParaRPr lang="en-US" sz="1550" noProof="1"/>
          </a:p>
        </p:txBody>
      </p:sp>
      <p:sp>
        <p:nvSpPr>
          <p:cNvPr id="11" name="p18_b0"/>
          <p:cNvSpPr txBox="1"/>
          <p:nvPr/>
        </p:nvSpPr>
        <p:spPr>
          <a:xfrm>
            <a:off x="3556000" y="1955800"/>
            <a:ext cx="7874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1300" noProof="1">
                <a:solidFill>
                  <a:srgbClr val="000000"/>
                </a:solidFill>
                <a:latin typeface="Liter"/>
                <a:ea typeface="MiSans"/>
              </a:rPr>
              <a:t>只含还公开可见的模型，早期月份绝对量偏低。</a:t>
            </a:r>
            <a:endParaRPr lang="en-US" sz="1300" noProof="1"/>
          </a:p>
        </p:txBody>
      </p:sp>
      <p:sp>
        <p:nvSpPr>
          <p:cNvPr id="12" name="p18_l0"/>
          <p:cNvSpPr/>
          <p:nvPr>
            <p:extLst>
              <p:ext uri="{F5677B7D-0D2A-4D9B-9A5C-6D8D7D0E5A5D}">
                <pptd:line encoding="base64url">eyJ2aWV3Qm94IjpbODQwLDJdLCJwb2ludHMiOiIwLDAgODQwLDAiLCJjdXJ2ZSI6InNoYXJwIn0</pptd:line>
              </p:ext>
            </p:extLst>
          </p:nvPr>
        </p:nvSpPr>
        <p:spPr>
          <a:xfrm>
            <a:off x="762000" y="2489200"/>
            <a:ext cx="10668000" cy="25400"/>
          </a:xfrm>
          <a:custGeom>
            <a:avLst/>
            <a:gdLst/>
            <a:ahLst/>
            <a:cxnLst/>
            <a:rect l="l" t="t" r="r" b="b"/>
            <a:pathLst>
              <a:path w="840" h="2">
                <a:moveTo>
                  <a:pt x="0" y="0"/>
                </a:moveTo>
                <a:lnTo>
                  <a:pt x="840" y="0"/>
                </a:lnTo>
              </a:path>
            </a:pathLst>
          </a:custGeom>
          <a:noFill/>
          <a:ln w="10160">
            <a:solidFill>
              <a:srgbClr val="C9C3B6"/>
            </a:solidFill>
          </a:ln>
        </p:spPr>
      </p:sp>
      <p:sp>
        <p:nvSpPr>
          <p:cNvPr id="13" name="p18_dot1"/>
          <p:cNvSpPr/>
          <p:nvPr/>
        </p:nvSpPr>
        <p:spPr>
          <a:xfrm>
            <a:off x="762000" y="2844800"/>
            <a:ext cx="152400" cy="152400"/>
          </a:xfrm>
          <a:prstGeom prst="rect">
            <a:avLst/>
          </a:prstGeom>
          <a:solidFill>
            <a:srgbClr val="4C36FD"/>
          </a:solidFill>
          <a:ln>
            <a:noFill/>
          </a:ln>
        </p:spPr>
      </p:sp>
      <p:sp>
        <p:nvSpPr>
          <p:cNvPr id="14" name="p18_h1"/>
          <p:cNvSpPr txBox="1"/>
          <p:nvPr/>
        </p:nvSpPr>
        <p:spPr>
          <a:xfrm>
            <a:off x="1117600" y="2743200"/>
            <a:ext cx="2286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50" noProof="1" b="1">
                <a:solidFill>
                  <a:srgbClr val="000000"/>
                </a:solidFill>
                <a:latin typeface="Archivo Black"/>
                <a:ea typeface="MiSans"/>
              </a:rPr>
              <a:t>缺失覆盖</a:t>
            </a:r>
            <a:endParaRPr lang="en-US" sz="1550" noProof="1"/>
          </a:p>
        </p:txBody>
      </p:sp>
      <p:sp>
        <p:nvSpPr>
          <p:cNvPr id="15" name="p18_b1"/>
          <p:cNvSpPr txBox="1"/>
          <p:nvPr/>
        </p:nvSpPr>
        <p:spPr>
          <a:xfrm>
            <a:off x="3556000" y="2743200"/>
            <a:ext cx="7874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1300" noProof="1">
                <a:solidFill>
                  <a:srgbClr val="000000"/>
                </a:solidFill>
                <a:latin typeface="Liter"/>
                <a:ea typeface="MiSans"/>
              </a:rPr>
              <a:t>任务标签缺 65.6%、底座关系缺 71.7%；结论只覆盖已标注部分。</a:t>
            </a:r>
            <a:endParaRPr lang="en-US" sz="1300" noProof="1"/>
          </a:p>
        </p:txBody>
      </p:sp>
      <p:sp>
        <p:nvSpPr>
          <p:cNvPr id="16" name="p18_l1"/>
          <p:cNvSpPr/>
          <p:nvPr>
            <p:extLst>
              <p:ext uri="{F5677B7D-0D2A-4D9B-9A5C-6D8D7D0E5A5D}">
                <pptd:line encoding="base64url">eyJ2aWV3Qm94IjpbODQwLDJdLCJwb2ludHMiOiIwLDAgODQwLDAiLCJjdXJ2ZSI6InNoYXJwIn0</pptd:line>
              </p:ext>
            </p:extLst>
          </p:nvPr>
        </p:nvSpPr>
        <p:spPr>
          <a:xfrm>
            <a:off x="762000" y="3276600"/>
            <a:ext cx="10668000" cy="25400"/>
          </a:xfrm>
          <a:custGeom>
            <a:avLst/>
            <a:gdLst/>
            <a:ahLst/>
            <a:cxnLst/>
            <a:rect l="l" t="t" r="r" b="b"/>
            <a:pathLst>
              <a:path w="840" h="2">
                <a:moveTo>
                  <a:pt x="0" y="0"/>
                </a:moveTo>
                <a:lnTo>
                  <a:pt x="840" y="0"/>
                </a:lnTo>
              </a:path>
            </a:pathLst>
          </a:custGeom>
          <a:noFill/>
          <a:ln w="10160">
            <a:solidFill>
              <a:srgbClr val="C9C3B6"/>
            </a:solidFill>
          </a:ln>
        </p:spPr>
      </p:sp>
      <p:sp>
        <p:nvSpPr>
          <p:cNvPr id="17" name="p18_dot2"/>
          <p:cNvSpPr/>
          <p:nvPr/>
        </p:nvSpPr>
        <p:spPr>
          <a:xfrm>
            <a:off x="762000" y="3632200"/>
            <a:ext cx="152400" cy="152400"/>
          </a:xfrm>
          <a:prstGeom prst="rect">
            <a:avLst/>
          </a:prstGeom>
          <a:solidFill>
            <a:srgbClr val="4C36FD"/>
          </a:solidFill>
          <a:ln>
            <a:noFill/>
          </a:ln>
        </p:spPr>
      </p:sp>
      <p:sp>
        <p:nvSpPr>
          <p:cNvPr id="18" name="p18_h2"/>
          <p:cNvSpPr txBox="1"/>
          <p:nvPr/>
        </p:nvSpPr>
        <p:spPr>
          <a:xfrm>
            <a:off x="1117600" y="3530600"/>
            <a:ext cx="2286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50" noProof="1" b="1">
                <a:solidFill>
                  <a:srgbClr val="000000"/>
                </a:solidFill>
                <a:latin typeface="Archivo Black"/>
                <a:ea typeface="MiSans"/>
              </a:rPr>
              <a:t>关联而非预测</a:t>
            </a:r>
            <a:endParaRPr lang="en-US" sz="1550" noProof="1"/>
          </a:p>
        </p:txBody>
      </p:sp>
      <p:sp>
        <p:nvSpPr>
          <p:cNvPr id="19" name="p18_b2"/>
          <p:cNvSpPr txBox="1"/>
          <p:nvPr/>
        </p:nvSpPr>
        <p:spPr>
          <a:xfrm>
            <a:off x="3556000" y="3530600"/>
            <a:ext cx="7874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1300" noProof="1">
                <a:solidFill>
                  <a:srgbClr val="000000"/>
                </a:solidFill>
                <a:latin typeface="Liter"/>
                <a:ea typeface="MiSans"/>
              </a:rPr>
              <a:t>RQ4 是同期关联，不预测未来会不会火。</a:t>
            </a:r>
            <a:endParaRPr lang="en-US" sz="1300" noProof="1"/>
          </a:p>
        </p:txBody>
      </p:sp>
      <p:sp>
        <p:nvSpPr>
          <p:cNvPr id="20" name="p18_l2"/>
          <p:cNvSpPr/>
          <p:nvPr>
            <p:extLst>
              <p:ext uri="{F5677B7D-0D2A-4D9B-9A5C-6D8D7D0E5A5D}">
                <pptd:line encoding="base64url">eyJ2aWV3Qm94IjpbODQwLDJdLCJwb2ludHMiOiIwLDAgODQwLDAiLCJjdXJ2ZSI6InNoYXJwIn0</pptd:line>
              </p:ext>
            </p:extLst>
          </p:nvPr>
        </p:nvSpPr>
        <p:spPr>
          <a:xfrm>
            <a:off x="762000" y="4064000"/>
            <a:ext cx="10668000" cy="25400"/>
          </a:xfrm>
          <a:custGeom>
            <a:avLst/>
            <a:gdLst/>
            <a:ahLst/>
            <a:cxnLst/>
            <a:rect l="l" t="t" r="r" b="b"/>
            <a:pathLst>
              <a:path w="840" h="2">
                <a:moveTo>
                  <a:pt x="0" y="0"/>
                </a:moveTo>
                <a:lnTo>
                  <a:pt x="840" y="0"/>
                </a:lnTo>
              </a:path>
            </a:pathLst>
          </a:custGeom>
          <a:noFill/>
          <a:ln w="10160">
            <a:solidFill>
              <a:srgbClr val="C9C3B6"/>
            </a:solidFill>
          </a:ln>
        </p:spPr>
      </p:sp>
      <p:sp>
        <p:nvSpPr>
          <p:cNvPr id="21" name="p18_dot3"/>
          <p:cNvSpPr/>
          <p:nvPr/>
        </p:nvSpPr>
        <p:spPr>
          <a:xfrm>
            <a:off x="762000" y="4419600"/>
            <a:ext cx="152400" cy="152400"/>
          </a:xfrm>
          <a:prstGeom prst="rect">
            <a:avLst/>
          </a:prstGeom>
          <a:solidFill>
            <a:srgbClr val="4C36FD"/>
          </a:solidFill>
          <a:ln>
            <a:noFill/>
          </a:ln>
        </p:spPr>
      </p:sp>
      <p:sp>
        <p:nvSpPr>
          <p:cNvPr id="22" name="p18_h3"/>
          <p:cNvSpPr txBox="1"/>
          <p:nvPr/>
        </p:nvSpPr>
        <p:spPr>
          <a:xfrm>
            <a:off x="1117600" y="4318000"/>
            <a:ext cx="2286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50" noProof="1" b="1">
                <a:solidFill>
                  <a:srgbClr val="000000"/>
                </a:solidFill>
                <a:latin typeface="Archivo Black"/>
                <a:ea typeface="MiSans"/>
              </a:rPr>
              <a:t>单机边界</a:t>
            </a:r>
            <a:endParaRPr lang="en-US" sz="1550" noProof="1"/>
          </a:p>
        </p:txBody>
      </p:sp>
      <p:sp>
        <p:nvSpPr>
          <p:cNvPr id="23" name="p18_b3"/>
          <p:cNvSpPr txBox="1"/>
          <p:nvPr/>
        </p:nvSpPr>
        <p:spPr>
          <a:xfrm>
            <a:off x="3556000" y="4318000"/>
            <a:ext cx="7874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1300" noProof="1">
                <a:solidFill>
                  <a:srgbClr val="000000"/>
                </a:solidFill>
                <a:latin typeface="Liter"/>
                <a:ea typeface="MiSans"/>
              </a:rPr>
              <a:t>扩展性实验是单机多核，不是集群结论。</a:t>
            </a:r>
            <a:endParaRPr lang="en-US" sz="1300" noProof="1"/>
          </a:p>
        </p:txBody>
      </p:sp>
      <p:sp>
        <p:nvSpPr>
          <p:cNvPr id="24" name="p18_l3"/>
          <p:cNvSpPr/>
          <p:nvPr>
            <p:extLst>
              <p:ext uri="{F5677B7D-0D2A-4D9B-9A5C-6D8D7D0E5A5D}">
                <pptd:line encoding="base64url">eyJ2aWV3Qm94IjpbODQwLDJdLCJwb2ludHMiOiIwLDAgODQwLDAiLCJjdXJ2ZSI6InNoYXJwIn0</pptd:line>
              </p:ext>
            </p:extLst>
          </p:nvPr>
        </p:nvSpPr>
        <p:spPr>
          <a:xfrm>
            <a:off x="762000" y="4851400"/>
            <a:ext cx="10668000" cy="25400"/>
          </a:xfrm>
          <a:custGeom>
            <a:avLst/>
            <a:gdLst/>
            <a:ahLst/>
            <a:cxnLst/>
            <a:rect l="l" t="t" r="r" b="b"/>
            <a:pathLst>
              <a:path w="840" h="2">
                <a:moveTo>
                  <a:pt x="0" y="0"/>
                </a:moveTo>
                <a:lnTo>
                  <a:pt x="840" y="0"/>
                </a:lnTo>
              </a:path>
            </a:pathLst>
          </a:custGeom>
          <a:noFill/>
          <a:ln w="10160">
            <a:solidFill>
              <a:srgbClr val="C9C3B6"/>
            </a:solidFill>
          </a:ln>
        </p:spPr>
      </p:sp>
      <p:sp>
        <p:nvSpPr>
          <p:cNvPr id="25" name="p18_dot4"/>
          <p:cNvSpPr/>
          <p:nvPr/>
        </p:nvSpPr>
        <p:spPr>
          <a:xfrm>
            <a:off x="762000" y="5207000"/>
            <a:ext cx="152400" cy="152400"/>
          </a:xfrm>
          <a:prstGeom prst="rect">
            <a:avLst/>
          </a:prstGeom>
          <a:solidFill>
            <a:srgbClr val="4C36FD"/>
          </a:solidFill>
          <a:ln>
            <a:noFill/>
          </a:ln>
        </p:spPr>
      </p:sp>
      <p:sp>
        <p:nvSpPr>
          <p:cNvPr id="26" name="p18_h4"/>
          <p:cNvSpPr txBox="1"/>
          <p:nvPr/>
        </p:nvSpPr>
        <p:spPr>
          <a:xfrm>
            <a:off x="1117600" y="5105400"/>
            <a:ext cx="2286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50" noProof="1" b="1">
                <a:solidFill>
                  <a:srgbClr val="000000"/>
                </a:solidFill>
                <a:latin typeface="Archivo Black"/>
                <a:ea typeface="MiSans"/>
              </a:rPr>
              <a:t>热度≠质量</a:t>
            </a:r>
            <a:endParaRPr lang="en-US" sz="1550" noProof="1"/>
          </a:p>
        </p:txBody>
      </p:sp>
      <p:sp>
        <p:nvSpPr>
          <p:cNvPr id="27" name="p18_b4"/>
          <p:cNvSpPr txBox="1"/>
          <p:nvPr/>
        </p:nvSpPr>
        <p:spPr>
          <a:xfrm>
            <a:off x="3556000" y="5105400"/>
            <a:ext cx="7874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1300" noProof="1">
                <a:solidFill>
                  <a:srgbClr val="000000"/>
                </a:solidFill>
                <a:latin typeface="Liter"/>
                <a:ea typeface="MiSans"/>
              </a:rPr>
              <a:t>下载量只代表注意力，全文不用“质量”形容热度。</a:t>
            </a:r>
            <a:endParaRPr lang="en-US" sz="1300" noProof="1"/>
          </a:p>
        </p:txBody>
      </p:sp>
      <p:sp>
        <p:nvSpPr>
          <p:cNvPr id="28" name="p18_l4"/>
          <p:cNvSpPr/>
          <p:nvPr>
            <p:extLst>
              <p:ext uri="{F5677B7D-0D2A-4D9B-9A5C-6D8D7D0E5A5D}">
                <pptd:line encoding="base64url">eyJ2aWV3Qm94IjpbODQwLDJdLCJwb2ludHMiOiIwLDAgODQwLDAiLCJjdXJ2ZSI6InNoYXJwIn0</pptd:line>
              </p:ext>
            </p:extLst>
          </p:nvPr>
        </p:nvSpPr>
        <p:spPr>
          <a:xfrm>
            <a:off x="762000" y="5638800"/>
            <a:ext cx="10668000" cy="25400"/>
          </a:xfrm>
          <a:custGeom>
            <a:avLst/>
            <a:gdLst/>
            <a:ahLst/>
            <a:cxnLst/>
            <a:rect l="l" t="t" r="r" b="b"/>
            <a:pathLst>
              <a:path w="840" h="2">
                <a:moveTo>
                  <a:pt x="0" y="0"/>
                </a:moveTo>
                <a:lnTo>
                  <a:pt x="840" y="0"/>
                </a:lnTo>
              </a:path>
            </a:pathLst>
          </a:custGeom>
          <a:noFill/>
          <a:ln w="10160">
            <a:solidFill>
              <a:srgbClr val="C9C3B6"/>
            </a:solidFill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2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9_sq"/>
          <p:cNvSpPr/>
          <p:nvPr/>
        </p:nvSpPr>
        <p:spPr>
          <a:xfrm>
            <a:off x="609600" y="330200"/>
            <a:ext cx="165100" cy="165100"/>
          </a:xfrm>
          <a:prstGeom prst="rect">
            <a:avLst/>
          </a:prstGeom>
          <a:solidFill>
            <a:srgbClr val="4C36FD"/>
          </a:solidFill>
          <a:ln>
            <a:noFill/>
          </a:ln>
        </p:spPr>
      </p:sp>
      <p:sp>
        <p:nvSpPr>
          <p:cNvPr id="3" name="h19_lab"/>
          <p:cNvSpPr txBox="1"/>
          <p:nvPr/>
        </p:nvSpPr>
        <p:spPr>
          <a:xfrm>
            <a:off x="889000" y="241300"/>
            <a:ext cx="4572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00" noProof="1" b="1" spc="200" kern="0">
                <a:solidFill>
                  <a:srgbClr val="000000"/>
                </a:solidFill>
                <a:latin typeface="Archivo Black"/>
                <a:ea typeface="MiSans"/>
              </a:rPr>
              <a:t>05 WRAP</a:t>
            </a:r>
            <a:endParaRPr lang="en-US" sz="1000" noProof="1"/>
          </a:p>
        </p:txBody>
      </p:sp>
      <p:sp>
        <p:nvSpPr>
          <p:cNvPr id="4" name="t19"/>
          <p:cNvSpPr txBox="1"/>
          <p:nvPr/>
        </p:nvSpPr>
        <p:spPr>
          <a:xfrm>
            <a:off x="609600" y="685800"/>
            <a:ext cx="10972800" cy="736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04000"/>
              </a:lnSpc>
            </a:pPr>
            <a:r>
              <a:rPr lang="en-US" sz="2800" noProof="1" b="1">
                <a:solidFill>
                  <a:srgbClr val="000000"/>
                </a:solidFill>
                <a:latin typeface="Archivo Black"/>
                <a:ea typeface="MiSans"/>
              </a:rPr>
              <a:t>一句话总结：314 万行数据，做成一套可复现、可校验的分析</a:t>
            </a:r>
            <a:endParaRPr lang="en-US" sz="2800" noProof="1"/>
          </a:p>
        </p:txBody>
      </p:sp>
      <p:sp>
        <p:nvSpPr>
          <p:cNvPr id="5" name="st19"/>
          <p:cNvSpPr txBox="1"/>
          <p:nvPr/>
        </p:nvSpPr>
        <p:spPr>
          <a:xfrm>
            <a:off x="609600" y="1422400"/>
            <a:ext cx="10972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1100" noProof="1">
                <a:solidFill>
                  <a:srgbClr val="6E6A60"/>
                </a:solidFill>
                <a:latin typeface="Liter"/>
                <a:ea typeface="MiSans"/>
              </a:rPr>
              <a:t>五组结论回顾；每组都能回到前面的证据页。</a:t>
            </a:r>
            <a:endParaRPr lang="en-US" sz="1100" noProof="1"/>
          </a:p>
        </p:txBody>
      </p:sp>
      <p:sp>
        <p:nvSpPr>
          <p:cNvPr id="6" name="f19_rule"/>
          <p:cNvSpPr/>
          <p:nvPr>
            <p:extLst>
              <p:ext uri="{F5677B7D-0D2A-4D9B-9A5C-6D8D7D0E5A5D}">
                <pptd:line encoding="base64url">eyJ2aWV3Qm94IjpbODY0LDJdLCJwb2ludHMiOiIwLDAgODY0LDAiLCJjdXJ2ZSI6InNoYXJwIn0</pptd:line>
              </p:ext>
            </p:extLst>
          </p:nvPr>
        </p:nvSpPr>
        <p:spPr>
          <a:xfrm>
            <a:off x="609600" y="6324600"/>
            <a:ext cx="10972800" cy="25400"/>
          </a:xfrm>
          <a:custGeom>
            <a:avLst/>
            <a:gdLst/>
            <a:ahLst/>
            <a:cxnLst/>
            <a:rect l="l" t="t" r="r" b="b"/>
            <a:pathLst>
              <a:path w="864" h="2">
                <a:moveTo>
                  <a:pt x="0" y="0"/>
                </a:moveTo>
                <a:lnTo>
                  <a:pt x="864" y="0"/>
                </a:lnTo>
              </a:path>
            </a:pathLst>
          </a:custGeom>
          <a:noFill/>
          <a:ln w="12700">
            <a:solidFill>
              <a:srgbClr val="C9C3B6"/>
            </a:solidFill>
          </a:ln>
        </p:spPr>
      </p:sp>
      <p:sp>
        <p:nvSpPr>
          <p:cNvPr id="7" name="f19_src"/>
          <p:cNvSpPr txBox="1"/>
          <p:nvPr/>
        </p:nvSpPr>
        <p:spPr>
          <a:xfrm>
            <a:off x="609600" y="6426200"/>
            <a:ext cx="9144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850" noProof="1">
                <a:solidFill>
                  <a:srgbClr val="6E6A60"/>
                </a:solidFill>
                <a:latin typeface="Liter"/>
                <a:ea typeface="MiSans"/>
              </a:rPr>
              <a:t>来源：项目 results_manifest.json 与用户提供大纲；口径与时间范围见各页标注。</a:t>
            </a:r>
            <a:endParaRPr lang="en-US" sz="850" noProof="1"/>
          </a:p>
        </p:txBody>
      </p:sp>
      <p:sp>
        <p:nvSpPr>
          <p:cNvPr id="8" name="f19_num"/>
          <p:cNvSpPr txBox="1"/>
          <p:nvPr/>
        </p:nvSpPr>
        <p:spPr>
          <a:xfrm>
            <a:off x="10922000" y="6426200"/>
            <a:ext cx="6604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6E6A60"/>
                </a:solidFill>
                <a:latin typeface="JetBrains Mono"/>
                <a:ea typeface="MiSans"/>
              </a:rPr>
              <a:t>19</a:t>
            </a:r>
            <a:endParaRPr lang="en-US" sz="900" noProof="1"/>
          </a:p>
        </p:txBody>
      </p:sp>
      <p:sp>
        <p:nvSpPr>
          <p:cNvPr id="9" name="p19_rq0"/>
          <p:cNvSpPr txBox="1"/>
          <p:nvPr/>
        </p:nvSpPr>
        <p:spPr>
          <a:xfrm>
            <a:off x="736600" y="1905000"/>
            <a:ext cx="7366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4C36FD"/>
                </a:solidFill>
                <a:latin typeface="JetBrains Mono"/>
                <a:ea typeface="MiSans"/>
              </a:rPr>
              <a:t>RQ1</a:t>
            </a:r>
            <a:endParaRPr lang="en-US" sz="1500" noProof="1"/>
          </a:p>
        </p:txBody>
      </p:sp>
      <p:sp>
        <p:nvSpPr>
          <p:cNvPr id="10" name="p19_s0"/>
          <p:cNvSpPr txBox="1"/>
          <p:nvPr/>
        </p:nvSpPr>
        <p:spPr>
          <a:xfrm>
            <a:off x="1574800" y="1905000"/>
            <a:ext cx="7874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450" noProof="1">
                <a:solidFill>
                  <a:srgbClr val="000000"/>
                </a:solidFill>
                <a:latin typeface="Liter"/>
                <a:ea typeface="MiSans"/>
              </a:rPr>
              <a:t>生态在 2024-09 达峰，单月新增 125,030。</a:t>
            </a:r>
            <a:endParaRPr lang="en-US" sz="1450" noProof="1"/>
          </a:p>
        </p:txBody>
      </p:sp>
      <p:sp>
        <p:nvSpPr>
          <p:cNvPr id="11" name="p19_ok0"/>
          <p:cNvSpPr txBox="1"/>
          <p:nvPr/>
        </p:nvSpPr>
        <p:spPr>
          <a:xfrm>
            <a:off x="10160000" y="1905000"/>
            <a:ext cx="1143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200" noProof="1" b="1">
                <a:solidFill>
                  <a:srgbClr val="08BC51"/>
                </a:solidFill>
                <a:latin typeface="Liter"/>
                <a:ea typeface="MiSans"/>
              </a:rPr>
              <a:t>✓ 已证</a:t>
            </a:r>
            <a:endParaRPr lang="en-US" sz="1200" noProof="1"/>
          </a:p>
        </p:txBody>
      </p:sp>
      <p:sp>
        <p:nvSpPr>
          <p:cNvPr id="12" name="p19_rq1"/>
          <p:cNvSpPr txBox="1"/>
          <p:nvPr/>
        </p:nvSpPr>
        <p:spPr>
          <a:xfrm>
            <a:off x="736600" y="2590800"/>
            <a:ext cx="7366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4C36FD"/>
                </a:solidFill>
                <a:latin typeface="JetBrains Mono"/>
                <a:ea typeface="MiSans"/>
              </a:rPr>
              <a:t>RQ2</a:t>
            </a:r>
            <a:endParaRPr lang="en-US" sz="1500" noProof="1"/>
          </a:p>
        </p:txBody>
      </p:sp>
      <p:sp>
        <p:nvSpPr>
          <p:cNvPr id="13" name="p19_s1"/>
          <p:cNvSpPr txBox="1"/>
          <p:nvPr/>
        </p:nvSpPr>
        <p:spPr>
          <a:xfrm>
            <a:off x="1574800" y="2590800"/>
            <a:ext cx="7874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450" noProof="1">
                <a:solidFill>
                  <a:srgbClr val="000000"/>
                </a:solidFill>
                <a:latin typeface="Liter"/>
                <a:ea typeface="MiSans"/>
              </a:rPr>
              <a:t>下载极度集中：Gini ≈ 0.995–0.998。</a:t>
            </a:r>
            <a:endParaRPr lang="en-US" sz="1450" noProof="1"/>
          </a:p>
        </p:txBody>
      </p:sp>
      <p:sp>
        <p:nvSpPr>
          <p:cNvPr id="14" name="p19_ok1"/>
          <p:cNvSpPr txBox="1"/>
          <p:nvPr/>
        </p:nvSpPr>
        <p:spPr>
          <a:xfrm>
            <a:off x="10160000" y="2590800"/>
            <a:ext cx="1143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200" noProof="1" b="1">
                <a:solidFill>
                  <a:srgbClr val="08BC51"/>
                </a:solidFill>
                <a:latin typeface="Liter"/>
                <a:ea typeface="MiSans"/>
              </a:rPr>
              <a:t>✓ 已证</a:t>
            </a:r>
            <a:endParaRPr lang="en-US" sz="1200" noProof="1"/>
          </a:p>
        </p:txBody>
      </p:sp>
      <p:sp>
        <p:nvSpPr>
          <p:cNvPr id="15" name="p19_rq2"/>
          <p:cNvSpPr txBox="1"/>
          <p:nvPr/>
        </p:nvSpPr>
        <p:spPr>
          <a:xfrm>
            <a:off x="736600" y="3276600"/>
            <a:ext cx="7366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4C36FD"/>
                </a:solidFill>
                <a:latin typeface="JetBrains Mono"/>
                <a:ea typeface="MiSans"/>
              </a:rPr>
              <a:t>RQ3</a:t>
            </a:r>
            <a:endParaRPr lang="en-US" sz="1500" noProof="1"/>
          </a:p>
        </p:txBody>
      </p:sp>
      <p:sp>
        <p:nvSpPr>
          <p:cNvPr id="16" name="p19_s2"/>
          <p:cNvSpPr txBox="1"/>
          <p:nvPr/>
        </p:nvSpPr>
        <p:spPr>
          <a:xfrm>
            <a:off x="1574800" y="3276600"/>
            <a:ext cx="7874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450" noProof="1">
                <a:solidFill>
                  <a:srgbClr val="000000"/>
                </a:solidFill>
                <a:latin typeface="Liter"/>
                <a:ea typeface="MiSans"/>
              </a:rPr>
              <a:t>谱系以 FLUX.1-dev 等底座为中心。</a:t>
            </a:r>
            <a:endParaRPr lang="en-US" sz="1450" noProof="1"/>
          </a:p>
        </p:txBody>
      </p:sp>
      <p:sp>
        <p:nvSpPr>
          <p:cNvPr id="17" name="p19_ok2"/>
          <p:cNvSpPr txBox="1"/>
          <p:nvPr/>
        </p:nvSpPr>
        <p:spPr>
          <a:xfrm>
            <a:off x="10160000" y="3276600"/>
            <a:ext cx="1143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200" noProof="1" b="1">
                <a:solidFill>
                  <a:srgbClr val="08BC51"/>
                </a:solidFill>
                <a:latin typeface="Liter"/>
                <a:ea typeface="MiSans"/>
              </a:rPr>
              <a:t>✓ 已证</a:t>
            </a:r>
            <a:endParaRPr lang="en-US" sz="1200" noProof="1"/>
          </a:p>
        </p:txBody>
      </p:sp>
      <p:sp>
        <p:nvSpPr>
          <p:cNvPr id="18" name="p19_rq3"/>
          <p:cNvSpPr txBox="1"/>
          <p:nvPr/>
        </p:nvSpPr>
        <p:spPr>
          <a:xfrm>
            <a:off x="736600" y="3962400"/>
            <a:ext cx="7366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4C36FD"/>
                </a:solidFill>
                <a:latin typeface="JetBrains Mono"/>
                <a:ea typeface="MiSans"/>
              </a:rPr>
              <a:t>RQ4</a:t>
            </a:r>
            <a:endParaRPr lang="en-US" sz="1500" noProof="1"/>
          </a:p>
        </p:txBody>
      </p:sp>
      <p:sp>
        <p:nvSpPr>
          <p:cNvPr id="19" name="p19_s3"/>
          <p:cNvSpPr txBox="1"/>
          <p:nvPr/>
        </p:nvSpPr>
        <p:spPr>
          <a:xfrm>
            <a:off x="1574800" y="3962400"/>
            <a:ext cx="7874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450" noProof="1">
                <a:solidFill>
                  <a:srgbClr val="000000"/>
                </a:solidFill>
                <a:latin typeface="Liter"/>
                <a:ea typeface="MiSans"/>
              </a:rPr>
              <a:t>tag_count 是热度最强关联特征。</a:t>
            </a:r>
            <a:endParaRPr lang="en-US" sz="1450" noProof="1"/>
          </a:p>
        </p:txBody>
      </p:sp>
      <p:sp>
        <p:nvSpPr>
          <p:cNvPr id="20" name="p19_ok3"/>
          <p:cNvSpPr txBox="1"/>
          <p:nvPr/>
        </p:nvSpPr>
        <p:spPr>
          <a:xfrm>
            <a:off x="10160000" y="3962400"/>
            <a:ext cx="1143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200" noProof="1" b="1">
                <a:solidFill>
                  <a:srgbClr val="08BC51"/>
                </a:solidFill>
                <a:latin typeface="Liter"/>
                <a:ea typeface="MiSans"/>
              </a:rPr>
              <a:t>✓ 已证</a:t>
            </a:r>
            <a:endParaRPr lang="en-US" sz="1200" noProof="1"/>
          </a:p>
        </p:txBody>
      </p:sp>
      <p:sp>
        <p:nvSpPr>
          <p:cNvPr id="21" name="p19_rq4"/>
          <p:cNvSpPr txBox="1"/>
          <p:nvPr/>
        </p:nvSpPr>
        <p:spPr>
          <a:xfrm>
            <a:off x="736600" y="4648200"/>
            <a:ext cx="7366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4C36FD"/>
                </a:solidFill>
                <a:latin typeface="JetBrains Mono"/>
                <a:ea typeface="MiSans"/>
              </a:rPr>
              <a:t>RQ5</a:t>
            </a:r>
            <a:endParaRPr lang="en-US" sz="1500" noProof="1"/>
          </a:p>
        </p:txBody>
      </p:sp>
      <p:sp>
        <p:nvSpPr>
          <p:cNvPr id="22" name="p19_s4"/>
          <p:cNvSpPr txBox="1"/>
          <p:nvPr/>
        </p:nvSpPr>
        <p:spPr>
          <a:xfrm>
            <a:off x="1574800" y="4648200"/>
            <a:ext cx="7874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450" noProof="1">
                <a:solidFill>
                  <a:srgbClr val="000000"/>
                </a:solidFill>
                <a:latin typeface="Liter"/>
                <a:ea typeface="MiSans"/>
              </a:rPr>
              <a:t>任务生态差异明显，缺失标签单独报告。</a:t>
            </a:r>
            <a:endParaRPr lang="en-US" sz="1450" noProof="1"/>
          </a:p>
        </p:txBody>
      </p:sp>
      <p:sp>
        <p:nvSpPr>
          <p:cNvPr id="23" name="p19_ok4"/>
          <p:cNvSpPr txBox="1"/>
          <p:nvPr/>
        </p:nvSpPr>
        <p:spPr>
          <a:xfrm>
            <a:off x="10160000" y="4648200"/>
            <a:ext cx="1143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200" noProof="1" b="1">
                <a:solidFill>
                  <a:srgbClr val="08BC51"/>
                </a:solidFill>
                <a:latin typeface="Liter"/>
                <a:ea typeface="MiSans"/>
              </a:rPr>
              <a:t>✓ 已证</a:t>
            </a:r>
            <a:endParaRPr lang="en-US" sz="1200" noProof="1"/>
          </a:p>
        </p:txBody>
      </p:sp>
      <p:sp>
        <p:nvSpPr>
          <p:cNvPr id="24" name="p19_final"/>
          <p:cNvSpPr/>
          <p:nvPr/>
        </p:nvSpPr>
        <p:spPr>
          <a:xfrm>
            <a:off x="736600" y="5486400"/>
            <a:ext cx="10668000" cy="558800"/>
          </a:xfrm>
          <a:prstGeom prst="rect">
            <a:avLst/>
          </a:prstGeom>
          <a:solidFill>
            <a:srgbClr val="0B1636"/>
          </a:solidFill>
          <a:ln>
            <a:noFill/>
          </a:ln>
        </p:spPr>
      </p:sp>
      <p:sp>
        <p:nvSpPr>
          <p:cNvPr id="25" name="p19_final_t"/>
          <p:cNvSpPr txBox="1"/>
          <p:nvPr/>
        </p:nvSpPr>
        <p:spPr>
          <a:xfrm>
            <a:off x="914400" y="5486400"/>
            <a:ext cx="103124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700" noProof="1" b="1">
                <a:solidFill>
                  <a:srgbClr val="FFFFFF"/>
                </a:solidFill>
                <a:latin typeface="Archivo Black"/>
                <a:ea typeface="MiSans"/>
              </a:rPr>
              <a:t>我用 Spark 把 314 万行开源模型数据，做成一套可复现、可校验的分析。</a:t>
            </a:r>
            <a:endParaRPr lang="en-US" sz="1700" noProof="1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0520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_label"/>
          <p:cNvSpPr txBox="1"/>
          <p:nvPr/>
        </p:nvSpPr>
        <p:spPr>
          <a:xfrm>
            <a:off x="609600" y="330200"/>
            <a:ext cx="508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b="1" spc="200" kern="0">
                <a:solidFill>
                  <a:srgbClr val="A4C9FF"/>
                </a:solidFill>
                <a:latin typeface="Archivo Black"/>
                <a:ea typeface="MiSans"/>
              </a:rPr>
              <a:t>Q&amp;A · CHEAT SHEET</a:t>
            </a:r>
            <a:endParaRPr lang="en-US" sz="1000" noProof="1"/>
          </a:p>
        </p:txBody>
      </p:sp>
      <p:sp>
        <p:nvSpPr>
          <p:cNvPr id="3" name="q_title"/>
          <p:cNvSpPr txBox="1"/>
          <p:nvPr/>
        </p:nvSpPr>
        <p:spPr>
          <a:xfrm>
            <a:off x="609600" y="812800"/>
            <a:ext cx="711200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4400" noProof="1" b="1">
                <a:solidFill>
                  <a:srgbClr val="FFFFFF"/>
                </a:solidFill>
                <a:latin typeface="Archivo Black"/>
                <a:ea typeface="MiSans"/>
              </a:rPr>
              <a:t>谢谢大家，欢迎提问</a:t>
            </a:r>
            <a:endParaRPr lang="en-US" sz="4400" noProof="1"/>
          </a:p>
        </p:txBody>
      </p:sp>
      <p:sp>
        <p:nvSpPr>
          <p:cNvPr id="4" name="q_sub"/>
          <p:cNvSpPr txBox="1"/>
          <p:nvPr/>
        </p:nvSpPr>
        <p:spPr>
          <a:xfrm>
            <a:off x="660400" y="1752600"/>
            <a:ext cx="6604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A4C9FF"/>
                </a:solidFill>
                <a:latin typeface="Liter"/>
                <a:ea typeface="MiSans"/>
              </a:rPr>
              <a:t>姓名 / 联系方式：课堂分享后补充</a:t>
            </a:r>
            <a:endParaRPr lang="en-US" sz="1200" noProof="1"/>
          </a:p>
        </p:txBody>
      </p:sp>
      <p:sp>
        <p:nvSpPr>
          <p:cNvPr id="5" name="q_k0"/>
          <p:cNvSpPr txBox="1"/>
          <p:nvPr/>
        </p:nvSpPr>
        <p:spPr>
          <a:xfrm>
            <a:off x="762000" y="26670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50" noProof="1" b="1">
                <a:solidFill>
                  <a:srgbClr val="A4C9FF"/>
                </a:solidFill>
                <a:latin typeface="Liter"/>
                <a:ea typeface="MiSans"/>
              </a:rPr>
              <a:t>数据量</a:t>
            </a:r>
            <a:endParaRPr lang="en-US" sz="1150" noProof="1"/>
          </a:p>
        </p:txBody>
      </p:sp>
      <p:sp>
        <p:nvSpPr>
          <p:cNvPr id="6" name="q_v0"/>
          <p:cNvSpPr txBox="1"/>
          <p:nvPr/>
        </p:nvSpPr>
        <p:spPr>
          <a:xfrm>
            <a:off x="2794000" y="2667000"/>
            <a:ext cx="7112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300" noProof="1">
                <a:solidFill>
                  <a:srgbClr val="FFFFFF"/>
                </a:solidFill>
                <a:latin typeface="JetBrains Mono"/>
                <a:ea typeface="MiSans"/>
              </a:rPr>
              <a:t>3,138,954 模型 · 1.49 GiB</a:t>
            </a:r>
            <a:endParaRPr lang="en-US" sz="1300" noProof="1"/>
          </a:p>
        </p:txBody>
      </p:sp>
      <p:sp>
        <p:nvSpPr>
          <p:cNvPr id="7" name="q_l0"/>
          <p:cNvSpPr/>
          <p:nvPr>
            <p:extLst>
              <p:ext uri="{F5677B7D-0D2A-4D9B-9A5C-6D8D7D0E5A5D}">
                <pptd:line encoding="base64url">eyJ2aWV3Qm94IjpbNzIwLDJdLCJwb2ludHMiOiIwLDAgNzIwLDAiLCJjdXJ2ZSI6InNoYXJwIn0</pptd:line>
              </p:ext>
            </p:extLst>
          </p:nvPr>
        </p:nvSpPr>
        <p:spPr>
          <a:xfrm>
            <a:off x="762000" y="3048000"/>
            <a:ext cx="9144000" cy="25400"/>
          </a:xfrm>
          <a:custGeom>
            <a:avLst/>
            <a:gdLst/>
            <a:ahLst/>
            <a:cxnLst/>
            <a:rect l="l" t="t" r="r" b="b"/>
            <a:pathLst>
              <a:path w="720" h="2">
                <a:moveTo>
                  <a:pt x="0" y="0"/>
                </a:moveTo>
                <a:lnTo>
                  <a:pt x="720" y="0"/>
                </a:lnTo>
              </a:path>
            </a:pathLst>
          </a:custGeom>
          <a:noFill/>
          <a:ln w="10160">
            <a:solidFill>
              <a:srgbClr val="2A4A43"/>
            </a:solidFill>
          </a:ln>
        </p:spPr>
      </p:sp>
      <p:sp>
        <p:nvSpPr>
          <p:cNvPr id="8" name="q_k1"/>
          <p:cNvSpPr txBox="1"/>
          <p:nvPr/>
        </p:nvSpPr>
        <p:spPr>
          <a:xfrm>
            <a:off x="762000" y="32004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50" noProof="1" b="1">
                <a:solidFill>
                  <a:srgbClr val="A4C9FF"/>
                </a:solidFill>
                <a:latin typeface="Liter"/>
                <a:ea typeface="MiSans"/>
              </a:rPr>
              <a:t>Gini</a:t>
            </a:r>
            <a:endParaRPr lang="en-US" sz="1150" noProof="1"/>
          </a:p>
        </p:txBody>
      </p:sp>
      <p:sp>
        <p:nvSpPr>
          <p:cNvPr id="9" name="q_v1"/>
          <p:cNvSpPr txBox="1"/>
          <p:nvPr/>
        </p:nvSpPr>
        <p:spPr>
          <a:xfrm>
            <a:off x="2794000" y="3200400"/>
            <a:ext cx="7112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300" noProof="1">
                <a:solidFill>
                  <a:srgbClr val="FFFFFF"/>
                </a:solidFill>
                <a:latin typeface="JetBrains Mono"/>
                <a:ea typeface="MiSans"/>
              </a:rPr>
              <a:t>近30天 0.995355 · 累计 0.998117</a:t>
            </a:r>
            <a:endParaRPr lang="en-US" sz="1300" noProof="1"/>
          </a:p>
        </p:txBody>
      </p:sp>
      <p:sp>
        <p:nvSpPr>
          <p:cNvPr id="10" name="q_l1"/>
          <p:cNvSpPr/>
          <p:nvPr>
            <p:extLst>
              <p:ext uri="{F5677B7D-0D2A-4D9B-9A5C-6D8D7D0E5A5D}">
                <pptd:line encoding="base64url">eyJ2aWV3Qm94IjpbNzIwLDJdLCJwb2ludHMiOiIwLDAgNzIwLDAiLCJjdXJ2ZSI6InNoYXJwIn0</pptd:line>
              </p:ext>
            </p:extLst>
          </p:nvPr>
        </p:nvSpPr>
        <p:spPr>
          <a:xfrm>
            <a:off x="762000" y="3581400"/>
            <a:ext cx="9144000" cy="25400"/>
          </a:xfrm>
          <a:custGeom>
            <a:avLst/>
            <a:gdLst/>
            <a:ahLst/>
            <a:cxnLst/>
            <a:rect l="l" t="t" r="r" b="b"/>
            <a:pathLst>
              <a:path w="720" h="2">
                <a:moveTo>
                  <a:pt x="0" y="0"/>
                </a:moveTo>
                <a:lnTo>
                  <a:pt x="720" y="0"/>
                </a:lnTo>
              </a:path>
            </a:pathLst>
          </a:custGeom>
          <a:noFill/>
          <a:ln w="10160">
            <a:solidFill>
              <a:srgbClr val="2A4A43"/>
            </a:solidFill>
          </a:ln>
        </p:spPr>
      </p:sp>
      <p:sp>
        <p:nvSpPr>
          <p:cNvPr id="11" name="q_k2"/>
          <p:cNvSpPr txBox="1"/>
          <p:nvPr/>
        </p:nvSpPr>
        <p:spPr>
          <a:xfrm>
            <a:off x="762000" y="37338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50" noProof="1" b="1">
                <a:solidFill>
                  <a:srgbClr val="A4C9FF"/>
                </a:solidFill>
                <a:latin typeface="Liter"/>
                <a:ea typeface="MiSans"/>
              </a:rPr>
              <a:t>Top-1% 份额</a:t>
            </a:r>
            <a:endParaRPr lang="en-US" sz="1150" noProof="1"/>
          </a:p>
        </p:txBody>
      </p:sp>
      <p:sp>
        <p:nvSpPr>
          <p:cNvPr id="12" name="q_v2"/>
          <p:cNvSpPr txBox="1"/>
          <p:nvPr/>
        </p:nvSpPr>
        <p:spPr>
          <a:xfrm>
            <a:off x="2794000" y="3733800"/>
            <a:ext cx="7112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300" noProof="1">
                <a:solidFill>
                  <a:srgbClr val="FFFFFF"/>
                </a:solidFill>
                <a:latin typeface="JetBrains Mono"/>
                <a:ea typeface="MiSans"/>
              </a:rPr>
              <a:t>97.13% / 98.70%</a:t>
            </a:r>
            <a:endParaRPr lang="en-US" sz="1300" noProof="1"/>
          </a:p>
        </p:txBody>
      </p:sp>
      <p:sp>
        <p:nvSpPr>
          <p:cNvPr id="13" name="q_l2"/>
          <p:cNvSpPr/>
          <p:nvPr>
            <p:extLst>
              <p:ext uri="{F5677B7D-0D2A-4D9B-9A5C-6D8D7D0E5A5D}">
                <pptd:line encoding="base64url">eyJ2aWV3Qm94IjpbNzIwLDJdLCJwb2ludHMiOiIwLDAgNzIwLDAiLCJjdXJ2ZSI6InNoYXJwIn0</pptd:line>
              </p:ext>
            </p:extLst>
          </p:nvPr>
        </p:nvSpPr>
        <p:spPr>
          <a:xfrm>
            <a:off x="762000" y="4114800"/>
            <a:ext cx="9144000" cy="25400"/>
          </a:xfrm>
          <a:custGeom>
            <a:avLst/>
            <a:gdLst/>
            <a:ahLst/>
            <a:cxnLst/>
            <a:rect l="l" t="t" r="r" b="b"/>
            <a:pathLst>
              <a:path w="720" h="2">
                <a:moveTo>
                  <a:pt x="0" y="0"/>
                </a:moveTo>
                <a:lnTo>
                  <a:pt x="720" y="0"/>
                </a:lnTo>
              </a:path>
            </a:pathLst>
          </a:custGeom>
          <a:noFill/>
          <a:ln w="10160">
            <a:solidFill>
              <a:srgbClr val="2A4A43"/>
            </a:solidFill>
          </a:ln>
        </p:spPr>
      </p:sp>
      <p:sp>
        <p:nvSpPr>
          <p:cNvPr id="14" name="q_k3"/>
          <p:cNvSpPr txBox="1"/>
          <p:nvPr/>
        </p:nvSpPr>
        <p:spPr>
          <a:xfrm>
            <a:off x="762000" y="42672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50" noProof="1" b="1">
                <a:solidFill>
                  <a:srgbClr val="A4C9FF"/>
                </a:solidFill>
                <a:latin typeface="Liter"/>
                <a:ea typeface="MiSans"/>
              </a:rPr>
              <a:t>最大底座</a:t>
            </a:r>
            <a:endParaRPr lang="en-US" sz="1150" noProof="1"/>
          </a:p>
        </p:txBody>
      </p:sp>
      <p:sp>
        <p:nvSpPr>
          <p:cNvPr id="15" name="q_v3"/>
          <p:cNvSpPr txBox="1"/>
          <p:nvPr/>
        </p:nvSpPr>
        <p:spPr>
          <a:xfrm>
            <a:off x="2794000" y="4267200"/>
            <a:ext cx="7112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300" noProof="1">
                <a:solidFill>
                  <a:srgbClr val="FFFFFF"/>
                </a:solidFill>
                <a:latin typeface="JetBrains Mono"/>
                <a:ea typeface="MiSans"/>
              </a:rPr>
              <a:t>FLUX.1-dev · 43,419</a:t>
            </a:r>
            <a:endParaRPr lang="en-US" sz="1300" noProof="1"/>
          </a:p>
        </p:txBody>
      </p:sp>
      <p:sp>
        <p:nvSpPr>
          <p:cNvPr id="16" name="q_l3"/>
          <p:cNvSpPr/>
          <p:nvPr>
            <p:extLst>
              <p:ext uri="{F5677B7D-0D2A-4D9B-9A5C-6D8D7D0E5A5D}">
                <pptd:line encoding="base64url">eyJ2aWV3Qm94IjpbNzIwLDJdLCJwb2ludHMiOiIwLDAgNzIwLDAiLCJjdXJ2ZSI6InNoYXJwIn0</pptd:line>
              </p:ext>
            </p:extLst>
          </p:nvPr>
        </p:nvSpPr>
        <p:spPr>
          <a:xfrm>
            <a:off x="762000" y="4648200"/>
            <a:ext cx="9144000" cy="25400"/>
          </a:xfrm>
          <a:custGeom>
            <a:avLst/>
            <a:gdLst/>
            <a:ahLst/>
            <a:cxnLst/>
            <a:rect l="l" t="t" r="r" b="b"/>
            <a:pathLst>
              <a:path w="720" h="2">
                <a:moveTo>
                  <a:pt x="0" y="0"/>
                </a:moveTo>
                <a:lnTo>
                  <a:pt x="720" y="0"/>
                </a:lnTo>
              </a:path>
            </a:pathLst>
          </a:custGeom>
          <a:noFill/>
          <a:ln w="10160">
            <a:solidFill>
              <a:srgbClr val="2A4A43"/>
            </a:solidFill>
          </a:ln>
        </p:spPr>
      </p:sp>
      <p:sp>
        <p:nvSpPr>
          <p:cNvPr id="17" name="q_k4"/>
          <p:cNvSpPr txBox="1"/>
          <p:nvPr/>
        </p:nvSpPr>
        <p:spPr>
          <a:xfrm>
            <a:off x="762000" y="48006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50" noProof="1" b="1">
                <a:solidFill>
                  <a:srgbClr val="A4C9FF"/>
                </a:solidFill>
                <a:latin typeface="Liter"/>
                <a:ea typeface="MiSans"/>
              </a:rPr>
              <a:t>ML 最佳 R²</a:t>
            </a:r>
            <a:endParaRPr lang="en-US" sz="1150" noProof="1"/>
          </a:p>
        </p:txBody>
      </p:sp>
      <p:sp>
        <p:nvSpPr>
          <p:cNvPr id="18" name="q_v4"/>
          <p:cNvSpPr txBox="1"/>
          <p:nvPr/>
        </p:nvSpPr>
        <p:spPr>
          <a:xfrm>
            <a:off x="2794000" y="4800600"/>
            <a:ext cx="7112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300" noProof="1">
                <a:solidFill>
                  <a:srgbClr val="FFFFFF"/>
                </a:solidFill>
                <a:latin typeface="JetBrains Mono"/>
                <a:ea typeface="MiSans"/>
              </a:rPr>
              <a:t>RandomForest 0.663</a:t>
            </a:r>
            <a:endParaRPr lang="en-US" sz="1300" noProof="1"/>
          </a:p>
        </p:txBody>
      </p:sp>
      <p:sp>
        <p:nvSpPr>
          <p:cNvPr id="19" name="q_l4"/>
          <p:cNvSpPr/>
          <p:nvPr>
            <p:extLst>
              <p:ext uri="{F5677B7D-0D2A-4D9B-9A5C-6D8D7D0E5A5D}">
                <pptd:line encoding="base64url">eyJ2aWV3Qm94IjpbNzIwLDJdLCJwb2ludHMiOiIwLDAgNzIwLDAiLCJjdXJ2ZSI6InNoYXJwIn0</pptd:line>
              </p:ext>
            </p:extLst>
          </p:nvPr>
        </p:nvSpPr>
        <p:spPr>
          <a:xfrm>
            <a:off x="762000" y="5181600"/>
            <a:ext cx="9144000" cy="25400"/>
          </a:xfrm>
          <a:custGeom>
            <a:avLst/>
            <a:gdLst/>
            <a:ahLst/>
            <a:cxnLst/>
            <a:rect l="l" t="t" r="r" b="b"/>
            <a:pathLst>
              <a:path w="720" h="2">
                <a:moveTo>
                  <a:pt x="0" y="0"/>
                </a:moveTo>
                <a:lnTo>
                  <a:pt x="720" y="0"/>
                </a:lnTo>
              </a:path>
            </a:pathLst>
          </a:custGeom>
          <a:noFill/>
          <a:ln w="10160">
            <a:solidFill>
              <a:srgbClr val="2A4A43"/>
            </a:solidFill>
          </a:ln>
        </p:spPr>
      </p:sp>
      <p:sp>
        <p:nvSpPr>
          <p:cNvPr id="20" name="q_k5"/>
          <p:cNvSpPr txBox="1"/>
          <p:nvPr/>
        </p:nvSpPr>
        <p:spPr>
          <a:xfrm>
            <a:off x="762000" y="53340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50" noProof="1" b="1">
                <a:solidFill>
                  <a:srgbClr val="A4C9FF"/>
                </a:solidFill>
                <a:latin typeface="Liter"/>
                <a:ea typeface="MiSans"/>
              </a:rPr>
              <a:t>一致性检查</a:t>
            </a:r>
            <a:endParaRPr lang="en-US" sz="1150" noProof="1"/>
          </a:p>
        </p:txBody>
      </p:sp>
      <p:sp>
        <p:nvSpPr>
          <p:cNvPr id="21" name="q_v5"/>
          <p:cNvSpPr txBox="1"/>
          <p:nvPr/>
        </p:nvSpPr>
        <p:spPr>
          <a:xfrm>
            <a:off x="2794000" y="5334000"/>
            <a:ext cx="7112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300" noProof="1">
                <a:solidFill>
                  <a:srgbClr val="FFFFFF"/>
                </a:solidFill>
                <a:latin typeface="JetBrains Mono"/>
                <a:ea typeface="MiSans"/>
              </a:rPr>
              <a:t>114 项 · 0 失败</a:t>
            </a:r>
            <a:endParaRPr lang="en-US" sz="1300" noProof="1"/>
          </a:p>
        </p:txBody>
      </p:sp>
      <p:sp>
        <p:nvSpPr>
          <p:cNvPr id="22" name="q_l5"/>
          <p:cNvSpPr/>
          <p:nvPr>
            <p:extLst>
              <p:ext uri="{F5677B7D-0D2A-4D9B-9A5C-6D8D7D0E5A5D}">
                <pptd:line encoding="base64url">eyJ2aWV3Qm94IjpbNzIwLDJdLCJwb2ludHMiOiIwLDAgNzIwLDAiLCJjdXJ2ZSI6InNoYXJwIn0</pptd:line>
              </p:ext>
            </p:extLst>
          </p:nvPr>
        </p:nvSpPr>
        <p:spPr>
          <a:xfrm>
            <a:off x="762000" y="5715000"/>
            <a:ext cx="9144000" cy="25400"/>
          </a:xfrm>
          <a:custGeom>
            <a:avLst/>
            <a:gdLst/>
            <a:ahLst/>
            <a:cxnLst/>
            <a:rect l="l" t="t" r="r" b="b"/>
            <a:pathLst>
              <a:path w="720" h="2">
                <a:moveTo>
                  <a:pt x="0" y="0"/>
                </a:moveTo>
                <a:lnTo>
                  <a:pt x="720" y="0"/>
                </a:lnTo>
              </a:path>
            </a:pathLst>
          </a:custGeom>
          <a:noFill/>
          <a:ln w="10160">
            <a:solidFill>
              <a:srgbClr val="2A4A43"/>
            </a:solidFill>
          </a:ln>
        </p:spPr>
      </p:sp>
      <p:sp>
        <p:nvSpPr>
          <p:cNvPr id="23" name="q_num"/>
          <p:cNvSpPr/>
          <p:nvPr/>
        </p:nvSpPr>
        <p:spPr>
          <a:xfrm>
            <a:off x="9906000" y="1016000"/>
            <a:ext cx="1676400" cy="1676400"/>
          </a:xfrm>
          <a:prstGeom prst="rect">
            <a:avLst/>
          </a:prstGeom>
          <a:solidFill>
            <a:srgbClr val="F9961F"/>
          </a:solidFill>
          <a:ln>
            <a:noFill/>
          </a:ln>
        </p:spPr>
      </p:sp>
      <p:sp>
        <p:nvSpPr>
          <p:cNvPr id="24" name="q_num_t"/>
          <p:cNvSpPr txBox="1"/>
          <p:nvPr/>
        </p:nvSpPr>
        <p:spPr>
          <a:xfrm>
            <a:off x="9906000" y="1016000"/>
            <a:ext cx="1676400" cy="167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6400" noProof="1" b="1">
                <a:solidFill>
                  <a:srgbClr val="05201B"/>
                </a:solidFill>
                <a:latin typeface="Archivo Black"/>
                <a:ea typeface="MiSans"/>
              </a:rPr>
              <a:t>20</a:t>
            </a:r>
            <a:endParaRPr lang="en-US" sz="6400" noProof="1"/>
          </a:p>
        </p:txBody>
      </p:sp>
      <p:sp>
        <p:nvSpPr>
          <p:cNvPr id="25" name="q_num_s"/>
          <p:cNvSpPr txBox="1"/>
          <p:nvPr/>
        </p:nvSpPr>
        <p:spPr>
          <a:xfrm>
            <a:off x="9931400" y="2768600"/>
            <a:ext cx="16256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20000"/>
              </a:lnSpc>
            </a:pPr>
            <a:r>
              <a:rPr lang="en-US" sz="1050" noProof="1">
                <a:solidFill>
                  <a:srgbClr val="A4C9FF"/>
                </a:solidFill>
                <a:latin typeface="Liter"/>
                <a:ea typeface="MiSans"/>
              </a:rPr>
              <a:t>页 · 12–15 分钟</a:t>
            </a:r>
            <a:endParaRPr lang="en-US" sz="1050" noProof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customXml/provenance.xml><?xml version="1.0" encoding="utf-8"?>
<provenance xmlns="urn:kimi:pptd:provenance">
  <producer>Kimi Slides/Design</producer>
  <statement>Built by Kimi Slides/Design with PPTD</statement>
</provenance>
</file>

<file path=docProps/app.xml><?xml version="1.0" encoding="utf-8"?>
<Properties xmlns="http://schemas.openxmlformats.org/officeDocument/2006/extended-properties">
  <Application>Neo Design</Application>
  <Slides>20</Slides>
</Properties>
</file>

<file path=docProps/core.xml><?xml version="1.0" encoding="utf-8"?>
<cp:coreProperties xmlns:dc="http://purl.org/dc/elements/1.1/" xmlns:cp="http://schemas.openxmlformats.org/package/2006/metadata/core-properties">
  <dc:title>开源 AI 模型生态分析（大数据课程项目）</dc:title>
</cp:coreProperties>
</file>

<file path=docProps/custom.xml><?xml version="1.0" encoding="utf-8"?>
<Properties xmlns:vt="http://schemas.openxmlformats.org/officeDocument/2006/docPropsVTypes" xmlns="http://schemas.openxmlformats.org/officeDocument/2006/custom-properties">
  <property fmtid="{D5CDD505-2E9C-101B-9397-08002B2CF9AE}" pid="4" name="AIGC">
    <vt:lpwstr/>
  </property>
</Properties>
</file>
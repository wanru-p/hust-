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_1.xml" ContentType="application/vnd.openxmlformats-officedocument.drawingml.chart+xml"/>
  <Override PartName="/ppt/charts/chart11_1.xml" ContentType="application/vnd.openxmlformats-officedocument.drawingml.chart+xml"/>
  <Override PartName="/ppt/charts/chart14_1.xml" ContentType="application/vnd.openxmlformats-officedocument.drawingml.chart+xml"/>
  <Override PartName="/ppt/charts/chart14_2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notesMasterIdLst>
    <p:notesMasterId r:id="rId28"/>
  </p:notesMasterIdLst>
  <p:sldSz cx="12192000" cy="6858000" type="custom"/>
  <p:notesSz cx="12192000" cy="6858000"/>
  <p:embeddedFontLst>
    <p:embeddedFont>
      <p:font typeface="MiSans" charset="-122" pitchFamily="34"/>
      <p:regular r:id="rId25"/>
    </p:embeddedFont>
    <p:embeddedFont>
      <p:font typeface="Alimama ShuHeiTi" charset="-122" pitchFamily="34"/>
      <p:regular r:id="rId26"/>
    </p:embeddedFont>
    <p:embeddedFont>
      <p:font typeface="JetBrains Mono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/Relationships>
</file>

<file path=ppt/charts/chart3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</c:v>
          </c:tx>
          <c:spPr>
            <a:solidFill>
              <a:srgbClr val="4DA3FF"/>
            </a:solidFill>
          </c:spPr>
          <c:dLbls>
            <c:txPr>
              <a:bodyPr/>
              <a:lstStyle/>
              <a:p>
                <a:pPr>
                  <a:defRPr sz="1200" noProof="1" b="0" i="0" u="none" strike="noStrike">
                    <a:solidFill>
                      <a:srgbClr val="E8EEF7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27324A"/>
            </a:solidFill>
          </a:ln>
        </c:spPr>
        <c:txPr>
          <a:bodyPr/>
          <a:lstStyle/>
          <a:p>
            <a:pPr>
              <a:defRPr sz="1100" noProof="1" b="0" i="0" u="none" strike="noStrike">
                <a:solidFill>
                  <a:srgbClr val="8C99AD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 w="12700">
              <a:solidFill>
                <a:srgbClr val="1E2A4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5B6A82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</c:v>
          </c:tx>
          <c:spPr>
            <a:solidFill>
              <a:srgbClr val="4DA3FF"/>
            </a:solidFill>
          </c:spPr>
          <c:dLbls>
            <c:txPr>
              <a:bodyPr/>
              <a:lstStyle/>
              <a:p>
                <a:pPr>
                  <a:defRPr sz="1200" noProof="1" b="0" i="0" u="none" strike="noStrike">
                    <a:solidFill>
                      <a:srgbClr val="E8EEF7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10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27324A"/>
            </a:solidFill>
          </a:ln>
        </c:spPr>
        <c:txPr>
          <a:bodyPr/>
          <a:lstStyle/>
          <a:p>
            <a:pPr>
              <a:defRPr sz="1100" noProof="1" b="0" i="0" u="none" strike="noStrike">
                <a:solidFill>
                  <a:srgbClr val="8C99AD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 w="12700">
              <a:solidFill>
                <a:srgbClr val="1E2A4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5B6A82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charts/chart14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重要性</c:v>
          </c:tx>
          <c:spPr>
            <a:solidFill>
              <a:srgbClr val="4DA3FF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E8EEF7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tag_count 标签数量</c:v>
              </c:pt>
              <c:pt idx="1">
                <c:v>library_top 用什么库</c:v>
              </c:pt>
              <c:pt idx="2">
                <c:v>likes_log 点赞量</c:v>
              </c:pt>
            </c:strLit>
          </c:cat>
          <c:val>
            <c:numLit>
              <c:formatCode>General</c:formatCode>
              <c:ptCount val="3"/>
              <c:pt idx="0">
                <c:v>0.413</c:v>
              </c:pt>
              <c:pt idx="1">
                <c:v>0.194</c:v>
              </c:pt>
              <c:pt idx="2">
                <c:v>0.151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27324A"/>
            </a:solidFill>
          </a:ln>
        </c:spPr>
        <c:txPr>
          <a:bodyPr/>
          <a:lstStyle/>
          <a:p>
            <a:pPr>
              <a:defRPr sz="1100" noProof="1" b="0" i="0" u="none" strike="noStrike">
                <a:solidFill>
                  <a:srgbClr val="8C99AD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0.5"/>
          <c:min val="0"/>
        </c:scaling>
        <c:delete val="0"/>
        <c:axPos val="l"/>
        <c:majorGridlines>
          <c:spPr>
            <a:ln w="12700">
              <a:solidFill>
                <a:srgbClr val="1E2A4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5B6A82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charts/chart14_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R²</c:v>
          </c:tx>
          <c:spPr>
            <a:solidFill>
              <a:srgbClr val="4DA3FF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E8EEF7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RandomForest</c:v>
              </c:pt>
              <c:pt idx="1">
                <c:v>GBT</c:v>
              </c:pt>
              <c:pt idx="2">
                <c:v>LinearRegression</c:v>
              </c:pt>
            </c:strLit>
          </c:cat>
          <c:val>
            <c:numLit>
              <c:formatCode>General</c:formatCode>
              <c:ptCount val="3"/>
              <c:pt idx="0">
                <c:v>0.663</c:v>
              </c:pt>
              <c:pt idx="1">
                <c:v>0.631</c:v>
              </c:pt>
              <c:pt idx="2">
                <c:v>0.418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27324A"/>
            </a:solidFill>
          </a:ln>
        </c:spPr>
        <c:txPr>
          <a:bodyPr/>
          <a:lstStyle/>
          <a:p>
            <a:pPr>
              <a:defRPr sz="1000" noProof="1" b="0" i="0" u="none" strike="noStrike">
                <a:solidFill>
                  <a:srgbClr val="8C99AD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0.8"/>
          <c:min val="0"/>
        </c:scaling>
        <c:delete val="0"/>
        <c:axPos val="l"/>
        <c:majorGridlines>
          <c:spPr>
            <a:ln w="12700">
              <a:solidFill>
                <a:srgbClr val="1E2A4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5B6A82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开场（30 秒）：今天不卷你们，给大家看个有意思的东西——我用 Spark 把 Hugging Face 上 314 万个开源模型全扒了一遍，发现这个圈子比咱们班绩点还「卷」。过渡：先给个路线图，别走丢。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目录（20 秒）：我按这五步走，重点是中间的「踩坑」和「结果」，前面的问题很快过。过渡：先说说我为啥闲得慌去扒这个。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背景（60 秒）：咱们都知道 GitHub 上热门仓库 star 数能碾压冷门仓库。Hugging Face 上的模型也是这样吗？我就想用数据实锤一下。过渡：为了说清楚，我拆成 5 个小问题。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研究问题（40 秒）：特别声明一下 RQ4——我做的是「关联」，不是「预测它以后火不火」，这俩是两码事，别混了。过渡：问题定了，接下来看我怎么把 314 万行数据弄到手、弄干净。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数据（90 秒，重点页）：数据从 Hugging Face 官方数据集来的，我固定了提交版本、做了 SHA-256 校验，不会跑着跑着数据变了。而且它 65% 的任务标签是空的——比咱们课程实验的数据脏多了，但我没瞎填。过渡：这么杂的数据怎么加工？我用了一个「做菜式」的三层架构。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架构（60 秒）：为啥分三层？因为每一步都能单独验证，出错了能定位到是哪一层，而不是一锅端——就像写代码分层解耦，哪层崩了报错就报哪层。过渡：光有架构不够，关键是整条流水线能一键重跑。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流水线（40 秒，可快讲）：我最得意的点：所有数字只有一个来源，报告、图、看板都读它，所以数字绝不会自相矛盾。这是我觉得比「跑通」更重要的地方。过渡：听着顺利，其实踩了一堆坑，我挑几个最狠的讲。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踩坑地图（30 秒，可快讲）：这七个坑，每个都能讲十分钟，我挑最体现「排查能力」的一个展开——很多同学在 Windows 上跑 Spark 都会撞它。过渡：先说第一个，Windows 上跑 Spark 的祖传报错。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难点深挖（90 秒，全场共鸣点）：我当时也不信没法配，就反编译了 Hadoop 的 jar 一行行看，确认它真没留开关。于是我不硬刚，直接换一个行为正确的实现。这段排查经历，我觉得比代码本身更值。过渡：工程跑通了，还得证明「数字是对的」。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算法正确性（60 秒）：有人可能会问「你这数字靠谱吗」。我的回答是：三套互相独立的算法，结果在小数点后 15 位才差一点点，那就是浮点误差，说明算对了。而且我区分了两种下载口径，差 27 倍，混着用就是耍流氓。过渡：方法讲完了，直接上结果，每页一句结论 + 一张图。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RQ1（50 秒，先甩结论）：第一个结论——生态在 2024 年 9 月达到单月新增 12.5 万个的峰值。但我坦白，最早那个月的数据有时间戳异常，我不瞎编原因，只当它是观测现象。过渡：模型这么多，下载量是平均分吗？答案是——差老远了。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RQ2（60 秒，全场最震撼）：第二个结论最震撼——Gini 系数 0.995，几乎到 1。1% 的头部模型拿走 97% 的下载，剩下 99% 的模型抢那 3%。而且 43% 的模型下载量是 0。过渡：既然头部这么吃香，这些头部之间是什么关系？就是谱系网络。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RQ3（70 秒）：一个严谨细节——数节点时不能把「底座数 + 衍生数」直接相加，一个模型可能既当别人的底座、又当别人的衍生，直接加会重复算 4 万多个。我取的是去重并集 93 万。过渡：那什么样的模型更容易「火」？我用机器学习找关联——先说好，是关联，不是算命。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RQ4（70 秒）：我特意防了「评估泄漏」——就像考试不能拿测试卷当练习题。先切好训练集和测试集，模型只在训练集练、只在测试集打分。结果标签数量是最强关联特征：标签写得越全，越容易被发现。过渡：最后看不同任务之间，生态差多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RQ5（30 秒，可一句话带过）：不同任务之间下载集中度差异明显，但缺失标签的部分我不强行归类。过渡：以上是结论，最后我做了一组「扩展性实验」，验证数据变大时 Spark 还靠不靠谱。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扩展性实验（50 秒）：我还额外跑了组性能实验，证明数据量翻倍时流程还能跑、性能变化合理。但丑话说前面——这是单机，不是集群，别拿去吹横向扩展。过渡：结果讲完，我总结下自己做对了哪几件事、还有哪些没做到。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创新点（40 秒，收尾高光）：如果只让我说一件事——这套分析里没有一个数字是手抄的，全部从同一个结果清单来，所以可复现、可校验。这是我做完之后最满意的点。过渡：但我也不回避问题，下面是我没做到、或有意不做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局限（40 秒，主动亮短板）：我知道肯定有人问「局限在哪」，所以我先自己说。这几个边界，是我所有结论成立的前提，说清楚比藏着强。过渡：最后用一页把五组结论收个口。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总结（40 秒，收束有力）：总结成一句——我用 Spark 把 314 万行开源模型数据，做成一套可复现、可校验的分析，得出了上面五组结论。以上，谢谢大家，欢迎提问。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致谢 + Q&amp;A：感谢大家听我讲完，有问题的直接问，我尽量答；答不上来的我也老实说「这块我没深入」。手边备好数字速查卡，被追问时瞄一眼。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2" Type="http://schemas.openxmlformats.org/officeDocument/2006/relationships/chart" Target="../charts/chart3_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2" Type="http://schemas.openxmlformats.org/officeDocument/2006/relationships/chart" Target="../charts/chart14_1.xml"/><Relationship Id="rId3" Type="http://schemas.openxmlformats.org/officeDocument/2006/relationships/chart" Target="../charts/chart14_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t-l1"/>
          <p:cNvSpPr/>
          <p:nvPr>
            <p:extLst>
              <p:ext uri="{F5677B7D-0D2A-4D9B-9A5C-6D8D7D0E5A5D}">
                <pptd:line encoding="base64url">eyJ2aWV3Qm94IjpbMTMwLDMwXSwicG9pbnRzIjoiMCwzMCAxMzAsMCJ9</pptd:line>
              </p:ext>
            </p:extLst>
          </p:nvPr>
        </p:nvSpPr>
        <p:spPr>
          <a:xfrm>
            <a:off x="8763000" y="1016000"/>
            <a:ext cx="1651000" cy="381000"/>
          </a:xfrm>
          <a:custGeom>
            <a:avLst/>
            <a:gdLst/>
            <a:ahLst/>
            <a:cxnLst/>
            <a:rect l="l" t="t" r="r" b="b"/>
            <a:pathLst>
              <a:path w="130" h="30">
                <a:moveTo>
                  <a:pt x="0" y="30"/>
                </a:moveTo>
                <a:lnTo>
                  <a:pt x="130" y="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3" name="net-l2"/>
          <p:cNvSpPr/>
          <p:nvPr>
            <p:extLst>
              <p:ext uri="{F5677B7D-0D2A-4D9B-9A5C-6D8D7D0E5A5D}">
                <pptd:line encoding="base64url">eyJ2aWV3Qm94IjpbMTkwLDgwXSwicG9pbnRzIjoiMCwwIDE5MCw4MCJ9</pptd:line>
              </p:ext>
            </p:extLst>
          </p:nvPr>
        </p:nvSpPr>
        <p:spPr>
          <a:xfrm>
            <a:off x="8763000" y="1397000"/>
            <a:ext cx="2413000" cy="1016000"/>
          </a:xfrm>
          <a:custGeom>
            <a:avLst/>
            <a:gdLst/>
            <a:ahLst/>
            <a:cxnLst/>
            <a:rect l="l" t="t" r="r" b="b"/>
            <a:pathLst>
              <a:path w="190" h="80">
                <a:moveTo>
                  <a:pt x="0" y="0"/>
                </a:moveTo>
                <a:lnTo>
                  <a:pt x="190" y="8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4" name="net-l3"/>
          <p:cNvSpPr/>
          <p:nvPr>
            <p:extLst>
              <p:ext uri="{F5677B7D-0D2A-4D9B-9A5C-6D8D7D0E5A5D}">
                <pptd:line encoding="base64url">eyJ2aWV3Qm94IjpbNzAsMTEwXSwicG9pbnRzIjoiMCwwIDcwLDExMCJ9</pptd:line>
              </p:ext>
            </p:extLst>
          </p:nvPr>
        </p:nvSpPr>
        <p:spPr>
          <a:xfrm>
            <a:off x="8763000" y="1397000"/>
            <a:ext cx="889000" cy="1397000"/>
          </a:xfrm>
          <a:custGeom>
            <a:avLst/>
            <a:gdLst/>
            <a:ahLst/>
            <a:cxnLst/>
            <a:rect l="l" t="t" r="r" b="b"/>
            <a:pathLst>
              <a:path w="70" h="110">
                <a:moveTo>
                  <a:pt x="0" y="0"/>
                </a:moveTo>
                <a:lnTo>
                  <a:pt x="70" y="11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5" name="net-l4"/>
          <p:cNvSpPr/>
          <p:nvPr>
            <p:extLst>
              <p:ext uri="{F5677B7D-0D2A-4D9B-9A5C-6D8D7D0E5A5D}">
                <pptd:line encoding="base64url">eyJ2aWV3Qm94IjpbODAsMTAwXSwicG9pbnRzIjoiMCwwIDgwLDEwMCJ9</pptd:line>
              </p:ext>
            </p:extLst>
          </p:nvPr>
        </p:nvSpPr>
        <p:spPr>
          <a:xfrm>
            <a:off x="9652000" y="2794000"/>
            <a:ext cx="1016000" cy="1270000"/>
          </a:xfrm>
          <a:custGeom>
            <a:avLst/>
            <a:gdLst/>
            <a:ahLst/>
            <a:cxnLst/>
            <a:rect l="l" t="t" r="r" b="b"/>
            <a:pathLst>
              <a:path w="80" h="100">
                <a:moveTo>
                  <a:pt x="0" y="0"/>
                </a:moveTo>
                <a:lnTo>
                  <a:pt x="80" y="10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6" name="net-l5"/>
          <p:cNvSpPr/>
          <p:nvPr>
            <p:extLst>
              <p:ext uri="{F5677B7D-0D2A-4D9B-9A5C-6D8D7D0E5A5D}">
                <pptd:line encoding="base64url">eyJ2aWV3Qm94IjpbNDAsMTMwXSwicG9pbnRzIjoiNDAsMCAwLDEzMCJ9</pptd:line>
              </p:ext>
            </p:extLst>
          </p:nvPr>
        </p:nvSpPr>
        <p:spPr>
          <a:xfrm>
            <a:off x="10668000" y="2413000"/>
            <a:ext cx="508000" cy="1651000"/>
          </a:xfrm>
          <a:custGeom>
            <a:avLst/>
            <a:gdLst/>
            <a:ahLst/>
            <a:cxnLst/>
            <a:rect l="l" t="t" r="r" b="b"/>
            <a:pathLst>
              <a:path w="40" h="130">
                <a:moveTo>
                  <a:pt x="40" y="0"/>
                </a:moveTo>
                <a:lnTo>
                  <a:pt x="0" y="13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7" name="net-l6"/>
          <p:cNvSpPr/>
          <p:nvPr>
            <p:extLst>
              <p:ext uri="{F5677B7D-0D2A-4D9B-9A5C-6D8D7D0E5A5D}">
                <pptd:line encoding="base64url">eyJ2aWV3Qm94IjpbMzAsMTkwXSwicG9pbnRzIjoiMzAsMCAwLDE5MCJ9</pptd:line>
              </p:ext>
            </p:extLst>
          </p:nvPr>
        </p:nvSpPr>
        <p:spPr>
          <a:xfrm>
            <a:off x="8382000" y="1397000"/>
            <a:ext cx="381000" cy="2413000"/>
          </a:xfrm>
          <a:custGeom>
            <a:avLst/>
            <a:gdLst/>
            <a:ahLst/>
            <a:cxnLst/>
            <a:rect l="l" t="t" r="r" b="b"/>
            <a:pathLst>
              <a:path w="30" h="190">
                <a:moveTo>
                  <a:pt x="30" y="0"/>
                </a:moveTo>
                <a:lnTo>
                  <a:pt x="0" y="19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8" name="net-l7"/>
          <p:cNvSpPr/>
          <p:nvPr>
            <p:extLst>
              <p:ext uri="{F5677B7D-0D2A-4D9B-9A5C-6D8D7D0E5A5D}">
                <pptd:line encoding="base64url">eyJ2aWV3Qm94IjpbMTgwLDIwXSwicG9pbnRzIjoiMCwwIDE4MCwyMCJ9</pptd:line>
              </p:ext>
            </p:extLst>
          </p:nvPr>
        </p:nvSpPr>
        <p:spPr>
          <a:xfrm>
            <a:off x="8382000" y="3810000"/>
            <a:ext cx="2286000" cy="254000"/>
          </a:xfrm>
          <a:custGeom>
            <a:avLst/>
            <a:gdLst/>
            <a:ahLst/>
            <a:cxnLst/>
            <a:rect l="l" t="t" r="r" b="b"/>
            <a:pathLst>
              <a:path w="180" h="20">
                <a:moveTo>
                  <a:pt x="0" y="0"/>
                </a:moveTo>
                <a:lnTo>
                  <a:pt x="180" y="2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9" name="net-l8"/>
          <p:cNvSpPr/>
          <p:nvPr>
            <p:extLst>
              <p:ext uri="{F5677B7D-0D2A-4D9B-9A5C-6D8D7D0E5A5D}">
                <pptd:line encoding="base64url">eyJ2aWV3Qm94IjpbNjAsMTAwXSwicG9pbnRzIjoiNjAsMCAwLDEwMCJ9</pptd:line>
              </p:ext>
            </p:extLst>
          </p:nvPr>
        </p:nvSpPr>
        <p:spPr>
          <a:xfrm>
            <a:off x="9906000" y="4064000"/>
            <a:ext cx="762000" cy="1270000"/>
          </a:xfrm>
          <a:custGeom>
            <a:avLst/>
            <a:gdLst/>
            <a:ahLst/>
            <a:cxnLst/>
            <a:rect l="l" t="t" r="r" b="b"/>
            <a:pathLst>
              <a:path w="60" h="100">
                <a:moveTo>
                  <a:pt x="60" y="0"/>
                </a:moveTo>
                <a:lnTo>
                  <a:pt x="0" y="10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10" name="net-l9"/>
          <p:cNvSpPr/>
          <p:nvPr>
            <p:extLst>
              <p:ext uri="{F5677B7D-0D2A-4D9B-9A5C-6D8D7D0E5A5D}">
                <pptd:line encoding="base64url">eyJ2aWV3Qm94IjpbMTIwLDEyMF0sInBvaW50cyI6IjAsMCAxMjAsMTIwIn0</pptd:line>
              </p:ext>
            </p:extLst>
          </p:nvPr>
        </p:nvSpPr>
        <p:spPr>
          <a:xfrm>
            <a:off x="8382000" y="3810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20" h="120">
                <a:moveTo>
                  <a:pt x="0" y="0"/>
                </a:moveTo>
                <a:lnTo>
                  <a:pt x="120" y="12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11" name="net-l10"/>
          <p:cNvSpPr/>
          <p:nvPr>
            <p:extLst>
              <p:ext uri="{F5677B7D-0D2A-4D9B-9A5C-6D8D7D0E5A5D}">
                <pptd:line encoding="base64url">eyJ2aWV3Qm94IjpbMTIwLDJdLCJwb2ludHMiOiIwLDEgMTIwLDEifQ</pptd:line>
              </p:ext>
            </p:extLst>
          </p:nvPr>
        </p:nvSpPr>
        <p:spPr>
          <a:xfrm>
            <a:off x="9906000" y="53213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12" name="net-l11"/>
          <p:cNvSpPr/>
          <p:nvPr>
            <p:extLst>
              <p:ext uri="{F5677B7D-0D2A-4D9B-9A5C-6D8D7D0E5A5D}">
                <pptd:line encoding="base64url">eyJ2aWV3Qm94IjpbODAsNDBdLCJwb2ludHMiOiI4MCwwIDAsNDAifQ</pptd:line>
              </p:ext>
            </p:extLst>
          </p:nvPr>
        </p:nvSpPr>
        <p:spPr>
          <a:xfrm>
            <a:off x="8890000" y="5334000"/>
            <a:ext cx="1016000" cy="508000"/>
          </a:xfrm>
          <a:custGeom>
            <a:avLst/>
            <a:gdLst/>
            <a:ahLst/>
            <a:cxnLst/>
            <a:rect l="l" t="t" r="r" b="b"/>
            <a:pathLst>
              <a:path w="80" h="40">
                <a:moveTo>
                  <a:pt x="80" y="0"/>
                </a:moveTo>
                <a:lnTo>
                  <a:pt x="0" y="40"/>
                </a:lnTo>
              </a:path>
            </a:pathLst>
          </a:custGeom>
          <a:noFill/>
          <a:ln w="12700" cap="rnd">
            <a:solidFill>
              <a:srgbClr val="24406B">
                <a:alpha val="70000"/>
              </a:srgbClr>
            </a:solidFill>
            <a:round/>
          </a:ln>
        </p:spPr>
      </p:sp>
      <p:sp>
        <p:nvSpPr>
          <p:cNvPr id="13" name="net-n1"/>
          <p:cNvSpPr/>
          <p:nvPr/>
        </p:nvSpPr>
        <p:spPr>
          <a:xfrm>
            <a:off x="8559800" y="1193800"/>
            <a:ext cx="406400" cy="406400"/>
          </a:xfrm>
          <a:prstGeom prst="ellipse">
            <a:avLst/>
          </a:prstGeom>
          <a:solidFill>
            <a:srgbClr val="4DA3FF">
              <a:alpha val="90000"/>
            </a:srgbClr>
          </a:solidFill>
          <a:ln>
            <a:noFill/>
          </a:ln>
        </p:spPr>
      </p:sp>
      <p:sp>
        <p:nvSpPr>
          <p:cNvPr id="14" name="net-n2"/>
          <p:cNvSpPr/>
          <p:nvPr/>
        </p:nvSpPr>
        <p:spPr>
          <a:xfrm>
            <a:off x="10312400" y="914400"/>
            <a:ext cx="203200" cy="20320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4DA3FF"/>
            </a:solidFill>
          </a:ln>
        </p:spPr>
      </p:sp>
      <p:sp>
        <p:nvSpPr>
          <p:cNvPr id="15" name="net-n3"/>
          <p:cNvSpPr/>
          <p:nvPr/>
        </p:nvSpPr>
        <p:spPr>
          <a:xfrm>
            <a:off x="11023600" y="2260600"/>
            <a:ext cx="304800" cy="304800"/>
          </a:xfrm>
          <a:prstGeom prst="ellipse">
            <a:avLst/>
          </a:prstGeom>
          <a:solidFill>
            <a:srgbClr val="1B3A66"/>
          </a:solidFill>
          <a:ln w="19050">
            <a:solidFill>
              <a:srgbClr val="4DA3FF"/>
            </a:solidFill>
          </a:ln>
        </p:spPr>
      </p:sp>
      <p:sp>
        <p:nvSpPr>
          <p:cNvPr id="16" name="net-n4"/>
          <p:cNvSpPr/>
          <p:nvPr/>
        </p:nvSpPr>
        <p:spPr>
          <a:xfrm>
            <a:off x="9575800" y="2717800"/>
            <a:ext cx="152400" cy="152400"/>
          </a:xfrm>
          <a:prstGeom prst="ellipse">
            <a:avLst/>
          </a:prstGeom>
          <a:solidFill>
            <a:srgbClr val="4DA3FF">
              <a:alpha val="80000"/>
            </a:srgbClr>
          </a:solidFill>
          <a:ln>
            <a:noFill/>
          </a:ln>
        </p:spPr>
      </p:sp>
      <p:sp>
        <p:nvSpPr>
          <p:cNvPr id="17" name="net-n5"/>
          <p:cNvSpPr/>
          <p:nvPr/>
        </p:nvSpPr>
        <p:spPr>
          <a:xfrm>
            <a:off x="10541000" y="3937000"/>
            <a:ext cx="254000" cy="254000"/>
          </a:xfrm>
          <a:prstGeom prst="ellipse">
            <a:avLst/>
          </a:prstGeom>
          <a:solidFill>
            <a:srgbClr val="1B3A66"/>
          </a:solidFill>
          <a:ln w="19050">
            <a:solidFill>
              <a:srgbClr val="4DA3FF"/>
            </a:solidFill>
          </a:ln>
        </p:spPr>
      </p:sp>
      <p:sp>
        <p:nvSpPr>
          <p:cNvPr id="18" name="net-n6"/>
          <p:cNvSpPr/>
          <p:nvPr/>
        </p:nvSpPr>
        <p:spPr>
          <a:xfrm>
            <a:off x="8280400" y="3708400"/>
            <a:ext cx="203200" cy="203200"/>
          </a:xfrm>
          <a:prstGeom prst="ellipse">
            <a:avLst/>
          </a:prstGeom>
          <a:solidFill>
            <a:srgbClr val="4DA3FF">
              <a:alpha val="70000"/>
            </a:srgbClr>
          </a:solidFill>
          <a:ln>
            <a:noFill/>
          </a:ln>
        </p:spPr>
      </p:sp>
      <p:sp>
        <p:nvSpPr>
          <p:cNvPr id="19" name="net-n7"/>
          <p:cNvSpPr/>
          <p:nvPr/>
        </p:nvSpPr>
        <p:spPr>
          <a:xfrm>
            <a:off x="9753600" y="5181600"/>
            <a:ext cx="304800" cy="304800"/>
          </a:xfrm>
          <a:prstGeom prst="ellipse">
            <a:avLst/>
          </a:prstGeom>
          <a:solidFill>
            <a:srgbClr val="1B3A66"/>
          </a:solidFill>
          <a:ln w="19050">
            <a:solidFill>
              <a:srgbClr val="4DA3FF"/>
            </a:solidFill>
          </a:ln>
        </p:spPr>
      </p:sp>
      <p:sp>
        <p:nvSpPr>
          <p:cNvPr id="20" name="net-n8"/>
          <p:cNvSpPr/>
          <p:nvPr/>
        </p:nvSpPr>
        <p:spPr>
          <a:xfrm>
            <a:off x="11353800" y="5257800"/>
            <a:ext cx="152400" cy="152400"/>
          </a:xfrm>
          <a:prstGeom prst="ellipse">
            <a:avLst/>
          </a:prstGeom>
          <a:solidFill>
            <a:srgbClr val="4DA3FF">
              <a:alpha val="60000"/>
            </a:srgbClr>
          </a:solidFill>
          <a:ln>
            <a:noFill/>
          </a:ln>
        </p:spPr>
      </p:sp>
      <p:sp>
        <p:nvSpPr>
          <p:cNvPr id="21" name="net-n9"/>
          <p:cNvSpPr/>
          <p:nvPr/>
        </p:nvSpPr>
        <p:spPr>
          <a:xfrm>
            <a:off x="8826500" y="5778500"/>
            <a:ext cx="127000" cy="127000"/>
          </a:xfrm>
          <a:prstGeom prst="ellipse">
            <a:avLst/>
          </a:prstGeom>
          <a:solidFill>
            <a:srgbClr val="4DA3FF">
              <a:alpha val="60000"/>
            </a:srgbClr>
          </a:solidFill>
          <a:ln>
            <a:noFill/>
          </a:ln>
        </p:spPr>
      </p:sp>
      <p:sp>
        <p:nvSpPr>
          <p:cNvPr id="22" name="cover-tag"/>
          <p:cNvSpPr txBox="1"/>
          <p:nvPr/>
        </p:nvSpPr>
        <p:spPr>
          <a:xfrm>
            <a:off x="1016000" y="17526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BIG DATA COURSE PROJECT · HUGGING FACE</a:t>
            </a:r>
            <a:endParaRPr lang="en-US" sz="1100" noProof="1"/>
          </a:p>
        </p:txBody>
      </p:sp>
      <p:sp>
        <p:nvSpPr>
          <p:cNvPr id="23" name="cover-title"/>
          <p:cNvSpPr txBox="1"/>
          <p:nvPr/>
        </p:nvSpPr>
        <p:spPr>
          <a:xfrm>
            <a:off x="1016000" y="2133600"/>
            <a:ext cx="711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4400" noProof="1">
                <a:solidFill>
                  <a:srgbClr val="E8EEF7"/>
                </a:solidFill>
                <a:latin typeface="Alimama ShuHeiTi"/>
                <a:ea typeface="Alimama ShuHeiTi"/>
              </a:rPr>
              <a:t>开源 AI 模型生态，</a:t>
            </a:r>
            <a:endParaRPr lang="en-US" sz="4400" noProof="1"/>
          </a:p>
          <a:p>
            <a:pPr>
              <a:lnSpc>
                <a:spcPct val="135000"/>
              </a:lnSpc>
            </a:pPr>
            <a:r>
              <a:rPr lang="en-US" sz="4400" noProof="1">
                <a:solidFill>
                  <a:srgbClr val="E8EEF7"/>
                </a:solidFill>
                <a:latin typeface="Alimama ShuHeiTi"/>
                <a:ea typeface="Alimama ShuHeiTi"/>
              </a:rPr>
              <a:t>比你想的更</a:t>
            </a:r>
            <a:r>
              <a:rPr lang="en-US" sz="4400" noProof="1">
                <a:solidFill>
                  <a:srgbClr val="4DA3FF"/>
                </a:solidFill>
                <a:latin typeface="Alimama ShuHeiTi"/>
                <a:ea typeface="Alimama ShuHeiTi"/>
              </a:rPr>
              <a:t>「卷」</a:t>
            </a:r>
            <a:endParaRPr lang="en-US" sz="4400" noProof="1"/>
          </a:p>
        </p:txBody>
      </p:sp>
      <p:sp>
        <p:nvSpPr>
          <p:cNvPr id="24" name="cover-sub"/>
          <p:cNvSpPr txBox="1"/>
          <p:nvPr/>
        </p:nvSpPr>
        <p:spPr>
          <a:xfrm>
            <a:off x="1016000" y="3962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C99AD"/>
                </a:solidFill>
                <a:latin typeface="MiSans"/>
                <a:ea typeface="MiSans"/>
              </a:rPr>
              <a:t>大二大数据作业 · 用 Spark 分析了 Hugging Face 上 </a:t>
            </a:r>
            <a:r>
              <a:rPr lang="en-US" sz="1500" noProof="1">
                <a:solidFill>
                  <a:srgbClr val="4DA3FF"/>
                </a:solidFill>
                <a:latin typeface="JetBrains Mono"/>
                <a:ea typeface="JetBrains Mono"/>
              </a:rPr>
              <a:t>3,138,954</a:t>
            </a:r>
            <a:r>
              <a:rPr lang="en-US" sz="1500" noProof="1">
                <a:solidFill>
                  <a:srgbClr val="8C99AD"/>
                </a:solidFill>
                <a:latin typeface="MiSans"/>
                <a:ea typeface="MiSans"/>
              </a:rPr>
              <a:t> 个模型</a:t>
            </a:r>
            <a:endParaRPr lang="en-US" sz="1500" noProof="1"/>
          </a:p>
        </p:txBody>
      </p:sp>
      <p:sp>
        <p:nvSpPr>
          <p:cNvPr id="25" name="cover-rule"/>
          <p:cNvSpPr/>
          <p:nvPr/>
        </p:nvSpPr>
        <p:spPr>
          <a:xfrm>
            <a:off x="1016000" y="4521200"/>
            <a:ext cx="6096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26" name="cover-info"/>
          <p:cNvSpPr txBox="1"/>
          <p:nvPr/>
        </p:nvSpPr>
        <p:spPr>
          <a:xfrm>
            <a:off x="1016000" y="4724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B6A82"/>
                </a:solidFill>
                <a:latin typeface="MiSans"/>
                <a:ea typeface="MiSans"/>
              </a:rPr>
              <a:t>汇报人：XXX（姓名）　｜　大数据课程　｜　</a:t>
            </a:r>
            <a:r>
              <a:rPr lang="en-US" sz="1200" noProof="1">
                <a:solidFill>
                  <a:srgbClr val="5B6A82"/>
                </a:solidFill>
                <a:latin typeface="JetBrains Mono"/>
                <a:ea typeface="JetBrains Mono"/>
              </a:rPr>
              <a:t>2026-10</a:t>
            </a:r>
            <a:endParaRPr lang="en-US" sz="1200" noProof="1"/>
          </a:p>
        </p:txBody>
      </p:sp>
      <p:sp>
        <p:nvSpPr>
          <p:cNvPr id="27" name="cover-note"/>
          <p:cNvSpPr txBox="1"/>
          <p:nvPr/>
        </p:nvSpPr>
        <p:spPr>
          <a:xfrm>
            <a:off x="1016000" y="59690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SOURCE: cfahlgren1/hub-stats (pinned commit)</a:t>
            </a:r>
            <a:endParaRPr lang="en-US" sz="900" noProof="1"/>
          </a:p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ENGINE: PySpark 4.2.0 · GraphFrames 0.12.3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kicker"/>
          <p:cNvSpPr txBox="1"/>
          <p:nvPr/>
        </p:nvSpPr>
        <p:spPr>
          <a:xfrm>
            <a:off x="7112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CONTENTS</a:t>
            </a:r>
            <a:endParaRPr lang="en-US" sz="1100" noProof="1"/>
          </a:p>
        </p:txBody>
      </p:sp>
      <p:sp>
        <p:nvSpPr>
          <p:cNvPr id="3" name="toc-title"/>
          <p:cNvSpPr txBox="1"/>
          <p:nvPr/>
        </p:nvSpPr>
        <p:spPr>
          <a:xfrm>
            <a:off x="711200" y="7874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>
                <a:solidFill>
                  <a:srgbClr val="E8EEF7"/>
                </a:solidFill>
                <a:latin typeface="Alimama ShuHeiTi"/>
                <a:ea typeface="Alimama ShuHeiTi"/>
              </a:rPr>
              <a:t>目录</a:t>
            </a:r>
            <a:endParaRPr lang="en-US" sz="3200" noProof="1"/>
          </a:p>
        </p:txBody>
      </p:sp>
      <p:sp>
        <p:nvSpPr>
          <p:cNvPr id="4" name="toc-line"/>
          <p:cNvSpPr/>
          <p:nvPr/>
        </p:nvSpPr>
        <p:spPr>
          <a:xfrm>
            <a:off x="711200" y="26670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5" name="toc-n1"/>
          <p:cNvSpPr txBox="1"/>
          <p:nvPr/>
        </p:nvSpPr>
        <p:spPr>
          <a:xfrm>
            <a:off x="7112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01</a:t>
            </a:r>
            <a:endParaRPr lang="en-US" sz="3000" noProof="1"/>
          </a:p>
        </p:txBody>
      </p:sp>
      <p:sp>
        <p:nvSpPr>
          <p:cNvPr id="6" name="toc-t1"/>
          <p:cNvSpPr txBox="1"/>
          <p:nvPr/>
        </p:nvSpPr>
        <p:spPr>
          <a:xfrm>
            <a:off x="7112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E8EEF7"/>
                </a:solidFill>
                <a:latin typeface="MiSans"/>
                <a:ea typeface="MiSans"/>
              </a:rPr>
              <a:t>研究问题</a:t>
            </a:r>
            <a:endParaRPr lang="en-US" sz="1700" noProof="1"/>
          </a:p>
        </p:txBody>
      </p:sp>
      <p:sp>
        <p:nvSpPr>
          <p:cNvPr id="7" name="toc-d1"/>
          <p:cNvSpPr txBox="1"/>
          <p:nvPr/>
        </p:nvSpPr>
        <p:spPr>
          <a:xfrm>
            <a:off x="7112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5 个 RQ，边界先讲清楚</a:t>
            </a:r>
            <a:endParaRPr lang="en-US" sz="1100" noProof="1"/>
          </a:p>
        </p:txBody>
      </p:sp>
      <p:sp>
        <p:nvSpPr>
          <p:cNvPr id="8" name="toc-n2"/>
          <p:cNvSpPr txBox="1"/>
          <p:nvPr/>
        </p:nvSpPr>
        <p:spPr>
          <a:xfrm>
            <a:off x="29210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02</a:t>
            </a:r>
            <a:endParaRPr lang="en-US" sz="3000" noProof="1"/>
          </a:p>
        </p:txBody>
      </p:sp>
      <p:sp>
        <p:nvSpPr>
          <p:cNvPr id="9" name="toc-t2"/>
          <p:cNvSpPr txBox="1"/>
          <p:nvPr/>
        </p:nvSpPr>
        <p:spPr>
          <a:xfrm>
            <a:off x="29210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E8EEF7"/>
                </a:solidFill>
                <a:latin typeface="MiSans"/>
                <a:ea typeface="MiSans"/>
              </a:rPr>
              <a:t>数据与方法</a:t>
            </a:r>
            <a:endParaRPr lang="en-US" sz="1700" noProof="1"/>
          </a:p>
        </p:txBody>
      </p:sp>
      <p:sp>
        <p:nvSpPr>
          <p:cNvPr id="10" name="toc-d2"/>
          <p:cNvSpPr txBox="1"/>
          <p:nvPr/>
        </p:nvSpPr>
        <p:spPr>
          <a:xfrm>
            <a:off x="29210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314 万行数据 · 三层架构</a:t>
            </a:r>
            <a:endParaRPr lang="en-US" sz="1100" noProof="1"/>
          </a:p>
        </p:txBody>
      </p:sp>
      <p:sp>
        <p:nvSpPr>
          <p:cNvPr id="11" name="toc-n3"/>
          <p:cNvSpPr txBox="1"/>
          <p:nvPr/>
        </p:nvSpPr>
        <p:spPr>
          <a:xfrm>
            <a:off x="51308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03</a:t>
            </a:r>
            <a:endParaRPr lang="en-US" sz="3000" noProof="1"/>
          </a:p>
        </p:txBody>
      </p:sp>
      <p:sp>
        <p:nvSpPr>
          <p:cNvPr id="12" name="toc-t3"/>
          <p:cNvSpPr txBox="1"/>
          <p:nvPr/>
        </p:nvSpPr>
        <p:spPr>
          <a:xfrm>
            <a:off x="51308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E8EEF7"/>
                </a:solidFill>
                <a:latin typeface="MiSans"/>
                <a:ea typeface="MiSans"/>
              </a:rPr>
              <a:t>踩坑记录</a:t>
            </a:r>
            <a:endParaRPr lang="en-US" sz="1700" noProof="1"/>
          </a:p>
        </p:txBody>
      </p:sp>
      <p:sp>
        <p:nvSpPr>
          <p:cNvPr id="13" name="toc-d3"/>
          <p:cNvSpPr txBox="1"/>
          <p:nvPr/>
        </p:nvSpPr>
        <p:spPr>
          <a:xfrm>
            <a:off x="51308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7 个坑，每个都能讲 10 分钟</a:t>
            </a:r>
            <a:endParaRPr lang="en-US" sz="1100" noProof="1"/>
          </a:p>
        </p:txBody>
      </p:sp>
      <p:sp>
        <p:nvSpPr>
          <p:cNvPr id="14" name="toc-n4"/>
          <p:cNvSpPr txBox="1"/>
          <p:nvPr/>
        </p:nvSpPr>
        <p:spPr>
          <a:xfrm>
            <a:off x="73406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04</a:t>
            </a:r>
            <a:endParaRPr lang="en-US" sz="3000" noProof="1"/>
          </a:p>
        </p:txBody>
      </p:sp>
      <p:sp>
        <p:nvSpPr>
          <p:cNvPr id="15" name="toc-t4"/>
          <p:cNvSpPr txBox="1"/>
          <p:nvPr/>
        </p:nvSpPr>
        <p:spPr>
          <a:xfrm>
            <a:off x="73406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E8EEF7"/>
                </a:solidFill>
                <a:latin typeface="MiSans"/>
                <a:ea typeface="MiSans"/>
              </a:rPr>
              <a:t>实验结果</a:t>
            </a:r>
            <a:endParaRPr lang="en-US" sz="1700" noProof="1"/>
          </a:p>
        </p:txBody>
      </p:sp>
      <p:sp>
        <p:nvSpPr>
          <p:cNvPr id="16" name="toc-d4"/>
          <p:cNvSpPr txBox="1"/>
          <p:nvPr/>
        </p:nvSpPr>
        <p:spPr>
          <a:xfrm>
            <a:off x="73406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5 组结论 + 扩展性实验</a:t>
            </a:r>
            <a:endParaRPr lang="en-US" sz="1100" noProof="1"/>
          </a:p>
        </p:txBody>
      </p:sp>
      <p:sp>
        <p:nvSpPr>
          <p:cNvPr id="17" name="toc-n5"/>
          <p:cNvSpPr txBox="1"/>
          <p:nvPr/>
        </p:nvSpPr>
        <p:spPr>
          <a:xfrm>
            <a:off x="95504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05</a:t>
            </a:r>
            <a:endParaRPr lang="en-US" sz="3000" noProof="1"/>
          </a:p>
        </p:txBody>
      </p:sp>
      <p:sp>
        <p:nvSpPr>
          <p:cNvPr id="18" name="toc-t5"/>
          <p:cNvSpPr txBox="1"/>
          <p:nvPr/>
        </p:nvSpPr>
        <p:spPr>
          <a:xfrm>
            <a:off x="95504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E8EEF7"/>
                </a:solidFill>
                <a:latin typeface="MiSans"/>
                <a:ea typeface="MiSans"/>
              </a:rPr>
              <a:t>创新与总结</a:t>
            </a:r>
            <a:endParaRPr lang="en-US" sz="1700" noProof="1"/>
          </a:p>
        </p:txBody>
      </p:sp>
      <p:sp>
        <p:nvSpPr>
          <p:cNvPr id="19" name="toc-d5"/>
          <p:cNvSpPr txBox="1"/>
          <p:nvPr/>
        </p:nvSpPr>
        <p:spPr>
          <a:xfrm>
            <a:off x="95504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4 个亮点 · 局限 · 收口</a:t>
            </a:r>
            <a:endParaRPr lang="en-US" sz="1100" noProof="1"/>
          </a:p>
        </p:txBody>
      </p:sp>
      <p:sp>
        <p:nvSpPr>
          <p:cNvPr id="20" name="toc-time"/>
          <p:cNvSpPr txBox="1"/>
          <p:nvPr/>
        </p:nvSpPr>
        <p:spPr>
          <a:xfrm>
            <a:off x="711200" y="546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TOTAL 12–15 MIN · 20 PAGES · ⭐ 重点页在结果区</a:t>
            </a:r>
            <a:endParaRPr lang="en-US" sz="900" noProof="1"/>
          </a:p>
        </p:txBody>
      </p:sp>
      <p:sp>
        <p:nvSpPr>
          <p:cNvPr id="21" name="toc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02 / 20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01 · 研究背景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E8EEF7"/>
                </a:solidFill>
                <a:latin typeface="Alimama ShuHeiTi"/>
                <a:ea typeface="Alimama ShuHeiTi"/>
              </a:rPr>
              <a:t>GitHub 有 314 万个仓库，Hugging Face 有 </a:t>
            </a:r>
            <a:r>
              <a:rPr lang="en-US" sz="2500" noProof="1">
                <a:solidFill>
                  <a:srgbClr val="4DA3FF"/>
                </a:solidFill>
                <a:latin typeface="Alimama ShuHeiTi"/>
                <a:ea typeface="Alimama ShuHeiTi"/>
              </a:rPr>
              <a:t>314 万个模型</a:t>
            </a:r>
            <a:endParaRPr lang="en-US" sz="25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graphicFrame>
        <p:nvGraphicFramePr>
          <p:cNvPr id="5" name="chart-growth"/>
          <p:cNvGraphicFramePr/>
          <p:nvPr/>
        </p:nvGraphicFramePr>
        <p:xfrm>
          <a:off x="711200" y="1625600"/>
          <a:ext cx="55880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6" name="chart-cap"/>
          <p:cNvSpPr txBox="1"/>
          <p:nvPr/>
        </p:nvSpPr>
        <p:spPr>
          <a:xfrm>
            <a:off x="711200" y="55118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年度新增模型数（万）· 数据源 cfahlgren1/hub-stats</a:t>
            </a:r>
            <a:endParaRPr lang="en-US" sz="900" noProof="1"/>
          </a:p>
        </p:txBody>
      </p:sp>
      <p:sp>
        <p:nvSpPr>
          <p:cNvPr id="7" name="phen-head"/>
          <p:cNvSpPr txBox="1"/>
          <p:nvPr/>
        </p:nvSpPr>
        <p:spPr>
          <a:xfrm>
            <a:off x="6858000" y="16256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但这个社区里，有三件事没人系统算过：</a:t>
            </a:r>
            <a:endParaRPr lang="en-US" sz="1200" noProof="1"/>
          </a:p>
        </p:txBody>
      </p:sp>
      <p:sp>
        <p:nvSpPr>
          <p:cNvPr id="8" name="phen-i1"/>
          <p:cNvSpPr/>
          <p:nvPr>
            <p:extLst>
              <p:ext uri="{F5677B7D-0D2A-4D9B-9A5C-6D8D7D0E5A5D}">
                <pptd:icon encoding="base64url">eyJpY29uTmFtZSI6ImZhczp0cm9waHkifQ</pptd:icon>
              </p:ext>
            </p:extLst>
          </p:nvPr>
        </p:nvSpPr>
        <p:spPr>
          <a:xfrm>
            <a:off x="6858000" y="213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0"/>
                </a:moveTo>
                <a:lnTo>
                  <a:pt x="368" y="0"/>
                </a:lnTo>
                <a:cubicBezTo>
                  <a:pt x="395" y="0"/>
                  <a:pt x="416" y="22"/>
                  <a:pt x="415" y="48"/>
                </a:cubicBezTo>
                <a:cubicBezTo>
                  <a:pt x="415" y="54"/>
                  <a:pt x="415" y="59"/>
                  <a:pt x="415" y="64"/>
                </a:cubicBezTo>
                <a:lnTo>
                  <a:pt x="464" y="64"/>
                </a:lnTo>
                <a:cubicBezTo>
                  <a:pt x="490" y="64"/>
                  <a:pt x="513" y="86"/>
                  <a:pt x="511" y="114"/>
                </a:cubicBezTo>
                <a:cubicBezTo>
                  <a:pt x="504" y="218"/>
                  <a:pt x="451" y="275"/>
                  <a:pt x="393" y="304"/>
                </a:cubicBezTo>
                <a:cubicBezTo>
                  <a:pt x="378" y="313"/>
                  <a:pt x="362" y="319"/>
                  <a:pt x="346" y="323"/>
                </a:cubicBezTo>
                <a:cubicBezTo>
                  <a:pt x="326" y="352"/>
                  <a:pt x="305" y="367"/>
                  <a:pt x="288" y="375"/>
                </a:cubicBezTo>
                <a:lnTo>
                  <a:pt x="288" y="448"/>
                </a:lnTo>
                <a:lnTo>
                  <a:pt x="352" y="448"/>
                </a:lnTo>
                <a:cubicBezTo>
                  <a:pt x="370" y="448"/>
                  <a:pt x="384" y="462"/>
                  <a:pt x="384" y="480"/>
                </a:cubicBezTo>
                <a:cubicBezTo>
                  <a:pt x="384" y="498"/>
                  <a:pt x="370" y="512"/>
                  <a:pt x="352" y="512"/>
                </a:cubicBezTo>
                <a:lnTo>
                  <a:pt x="160" y="512"/>
                </a:lnTo>
                <a:cubicBezTo>
                  <a:pt x="143" y="512"/>
                  <a:pt x="128" y="498"/>
                  <a:pt x="128" y="480"/>
                </a:cubicBezTo>
                <a:cubicBezTo>
                  <a:pt x="128" y="462"/>
                  <a:pt x="143" y="448"/>
                  <a:pt x="160" y="448"/>
                </a:cubicBezTo>
                <a:lnTo>
                  <a:pt x="224" y="448"/>
                </a:lnTo>
                <a:lnTo>
                  <a:pt x="224" y="375"/>
                </a:lnTo>
                <a:cubicBezTo>
                  <a:pt x="208" y="367"/>
                  <a:pt x="188" y="353"/>
                  <a:pt x="169" y="327"/>
                </a:cubicBezTo>
                <a:cubicBezTo>
                  <a:pt x="151" y="322"/>
                  <a:pt x="131" y="314"/>
                  <a:pt x="111" y="303"/>
                </a:cubicBezTo>
                <a:cubicBezTo>
                  <a:pt x="57" y="273"/>
                  <a:pt x="8" y="216"/>
                  <a:pt x="1" y="114"/>
                </a:cubicBezTo>
                <a:cubicBezTo>
                  <a:pt x="-1" y="85"/>
                  <a:pt x="22" y="64"/>
                  <a:pt x="48" y="64"/>
                </a:cubicBezTo>
                <a:lnTo>
                  <a:pt x="98" y="64"/>
                </a:lnTo>
                <a:cubicBezTo>
                  <a:pt x="98" y="59"/>
                  <a:pt x="97" y="53"/>
                  <a:pt x="97" y="48"/>
                </a:cubicBezTo>
                <a:cubicBezTo>
                  <a:pt x="96" y="22"/>
                  <a:pt x="118" y="0"/>
                  <a:pt x="144" y="0"/>
                </a:cubicBezTo>
                <a:close/>
                <a:moveTo>
                  <a:pt x="102" y="112"/>
                </a:moveTo>
                <a:lnTo>
                  <a:pt x="49" y="112"/>
                </a:lnTo>
                <a:cubicBezTo>
                  <a:pt x="55" y="197"/>
                  <a:pt x="94" y="239"/>
                  <a:pt x="134" y="262"/>
                </a:cubicBezTo>
                <a:cubicBezTo>
                  <a:pt x="120" y="224"/>
                  <a:pt x="108" y="176"/>
                  <a:pt x="102" y="112"/>
                </a:cubicBezTo>
                <a:close/>
                <a:moveTo>
                  <a:pt x="380" y="257"/>
                </a:moveTo>
                <a:cubicBezTo>
                  <a:pt x="421" y="233"/>
                  <a:pt x="457" y="191"/>
                  <a:pt x="463" y="112"/>
                </a:cubicBezTo>
                <a:lnTo>
                  <a:pt x="411" y="112"/>
                </a:lnTo>
                <a:cubicBezTo>
                  <a:pt x="405" y="173"/>
                  <a:pt x="394" y="220"/>
                  <a:pt x="380" y="257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9" name="phen-t1"/>
          <p:cNvSpPr txBox="1"/>
          <p:nvPr/>
        </p:nvSpPr>
        <p:spPr>
          <a:xfrm>
            <a:off x="7315200" y="2057400"/>
            <a:ext cx="4165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头部独大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头部模型拿走绝大多数下载，剩下呢？</a:t>
            </a:r>
            <a:endParaRPr lang="en-US" sz="1300" noProof="1"/>
          </a:p>
        </p:txBody>
      </p:sp>
      <p:sp>
        <p:nvSpPr>
          <p:cNvPr id="10" name="phen-i2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6858000" y="3022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1" name="phen-t2"/>
          <p:cNvSpPr txBox="1"/>
          <p:nvPr/>
        </p:nvSpPr>
        <p:spPr>
          <a:xfrm>
            <a:off x="7315200" y="2946400"/>
            <a:ext cx="4165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互相 fork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模型像 GitHub 仓库一样互相派生，谱系长啥样？</a:t>
            </a:r>
            <a:endParaRPr lang="en-US" sz="1300" noProof="1"/>
          </a:p>
        </p:txBody>
      </p:sp>
      <p:sp>
        <p:nvSpPr>
          <p:cNvPr id="12" name="phen-i3"/>
          <p:cNvSpPr/>
          <p:nvPr>
            <p:extLst>
              <p:ext uri="{F5677B7D-0D2A-4D9B-9A5C-6D8D7D0E5A5D}">
                <pptd:icon encoding="base64url">eyJpY29uTmFtZSI6ImZhczp0ZW1wZXJhdHVyZS1oYWxmIn0</pptd:icon>
              </p:ext>
            </p:extLst>
          </p:nvPr>
        </p:nvSpPr>
        <p:spPr>
          <a:xfrm>
            <a:off x="6858000" y="3911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160" y="0"/>
                </a:moveTo>
                <a:cubicBezTo>
                  <a:pt x="107" y="0"/>
                  <a:pt x="64" y="43"/>
                  <a:pt x="64" y="96"/>
                </a:cubicBezTo>
                <a:lnTo>
                  <a:pt x="64" y="261"/>
                </a:lnTo>
                <a:cubicBezTo>
                  <a:pt x="35" y="287"/>
                  <a:pt x="16" y="325"/>
                  <a:pt x="16" y="368"/>
                </a:cubicBezTo>
                <a:cubicBezTo>
                  <a:pt x="16" y="448"/>
                  <a:pt x="81" y="512"/>
                  <a:pt x="160" y="512"/>
                </a:cubicBezTo>
                <a:cubicBezTo>
                  <a:pt x="240" y="512"/>
                  <a:pt x="304" y="448"/>
                  <a:pt x="304" y="368"/>
                </a:cubicBezTo>
                <a:cubicBezTo>
                  <a:pt x="304" y="325"/>
                  <a:pt x="286" y="287"/>
                  <a:pt x="256" y="261"/>
                </a:cubicBezTo>
                <a:lnTo>
                  <a:pt x="256" y="96"/>
                </a:lnTo>
                <a:cubicBezTo>
                  <a:pt x="256" y="43"/>
                  <a:pt x="213" y="0"/>
                  <a:pt x="160" y="0"/>
                </a:cubicBezTo>
                <a:close/>
                <a:moveTo>
                  <a:pt x="224" y="368"/>
                </a:moveTo>
                <a:cubicBezTo>
                  <a:pt x="224" y="403"/>
                  <a:pt x="195" y="432"/>
                  <a:pt x="160" y="432"/>
                </a:cubicBezTo>
                <a:cubicBezTo>
                  <a:pt x="125" y="432"/>
                  <a:pt x="96" y="403"/>
                  <a:pt x="96" y="368"/>
                </a:cubicBezTo>
                <a:cubicBezTo>
                  <a:pt x="96" y="341"/>
                  <a:pt x="113" y="318"/>
                  <a:pt x="136" y="309"/>
                </a:cubicBezTo>
                <a:lnTo>
                  <a:pt x="136" y="216"/>
                </a:lnTo>
                <a:cubicBezTo>
                  <a:pt x="136" y="203"/>
                  <a:pt x="147" y="192"/>
                  <a:pt x="160" y="192"/>
                </a:cubicBezTo>
                <a:cubicBezTo>
                  <a:pt x="173" y="192"/>
                  <a:pt x="184" y="203"/>
                  <a:pt x="184" y="216"/>
                </a:cubicBezTo>
                <a:lnTo>
                  <a:pt x="184" y="309"/>
                </a:lnTo>
                <a:cubicBezTo>
                  <a:pt x="208" y="318"/>
                  <a:pt x="224" y="341"/>
                  <a:pt x="224" y="368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3" name="phen-t3"/>
          <p:cNvSpPr txBox="1"/>
          <p:nvPr/>
        </p:nvSpPr>
        <p:spPr>
          <a:xfrm>
            <a:off x="7315200" y="3835400"/>
            <a:ext cx="4165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冷热不均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不同任务的生态，差距到底有多大？</a:t>
            </a:r>
            <a:endParaRPr lang="en-US" sz="1300" noProof="1"/>
          </a:p>
        </p:txBody>
      </p:sp>
      <p:sp>
        <p:nvSpPr>
          <p:cNvPr id="14" name="phen-rule"/>
          <p:cNvSpPr/>
          <p:nvPr/>
        </p:nvSpPr>
        <p:spPr>
          <a:xfrm>
            <a:off x="6858000" y="4800600"/>
            <a:ext cx="46228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5" name="phen-goal"/>
          <p:cNvSpPr txBox="1"/>
          <p:nvPr/>
        </p:nvSpPr>
        <p:spPr>
          <a:xfrm>
            <a:off x="6858000" y="5003800"/>
            <a:ext cx="462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于是我想：能不能用课上学的大数据引擎 </a:t>
            </a:r>
            <a:r>
              <a:rPr lang="en-US" sz="1300" noProof="1">
                <a:solidFill>
                  <a:srgbClr val="4DA3FF"/>
                </a:solidFill>
                <a:latin typeface="JetBrains Mono"/>
                <a:ea typeface="JetBrains Mono"/>
              </a:rPr>
              <a:t>Spark</a:t>
            </a: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，把这三件事量化出来？</a:t>
            </a:r>
            <a:endParaRPr lang="en-US" sz="1300" noProof="1"/>
          </a:p>
        </p:txBody>
      </p:sp>
      <p:sp>
        <p:nvSpPr>
          <p:cNvPr id="16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7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03 / 20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01 · 研究问题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5 个研究问题，5 种方法，边界清楚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graphicFrame>
        <p:nvGraphicFramePr>
          <p:cNvPr id="5" name="rq-table"/>
          <p:cNvGraphicFramePr>
            <a:graphicFrameLocks noGrp="1"/>
          </p:cNvGraphicFramePr>
          <p:nvPr/>
        </p:nvGraphicFramePr>
        <p:xfrm>
          <a:off x="711200" y="1651000"/>
          <a:ext cx="10769600" cy="4064000"/>
        </p:xfrm>
        <a:graphic>
          <a:graphicData uri="http://schemas.openxmlformats.org/drawingml/2006/table">
            <a:tbl>
              <a:tblPr/>
              <a:tblGrid>
                <a:gridCol w="1184656"/>
                <a:gridCol w="6354064"/>
                <a:gridCol w="3230880"/>
              </a:tblGrid>
              <a:tr h="56896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9CC8FF"/>
                          </a:solidFill>
                          <a:latin typeface="Times New Roman"/>
                          <a:ea typeface="Times New Roman"/>
                        </a:rPr>
                        <a:t>RQ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4DA3FF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9CC8FF"/>
                          </a:solidFill>
                          <a:latin typeface="Times New Roman"/>
                          <a:ea typeface="Times New Roman"/>
                        </a:rPr>
                        <a:t>问题（大白话）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4DA3FF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9CC8FF"/>
                          </a:solidFill>
                          <a:latin typeface="Times New Roman"/>
                          <a:ea typeface="Times New Roman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4DA3FF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4DA3FF"/>
                          </a:solidFill>
                          <a:latin typeface="JetBrains Mono"/>
                          <a:ea typeface="JetBrains Mono"/>
                        </a:rPr>
                        <a:t>RQ1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模型一年年怎么涨起来的？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JetBrains Mono"/>
                          <a:ea typeface="JetBrains Mono"/>
                        </a:rPr>
                        <a:t>时间序列统计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4DA3FF"/>
                          </a:solidFill>
                          <a:latin typeface="JetBrains Mono"/>
                          <a:ea typeface="JetBrains Mono"/>
                        </a:rPr>
                        <a:t>RQ2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下载有多「贫富不均」？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JetBrains Mono"/>
                          <a:ea typeface="JetBrains Mono"/>
                        </a:rPr>
                        <a:t>集中度 / 长尾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4DA3FF"/>
                          </a:solidFill>
                          <a:latin typeface="JetBrains Mono"/>
                          <a:ea typeface="JetBrains Mono"/>
                        </a:rPr>
                        <a:t>RQ3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谁在 fork 谁？谱系长啥样？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JetBrains Mono"/>
                          <a:ea typeface="JetBrains Mono"/>
                        </a:rPr>
                        <a:t>图算法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4DA3FF"/>
                          </a:solidFill>
                          <a:latin typeface="JetBrains Mono"/>
                          <a:ea typeface="JetBrains Mono"/>
                        </a:rPr>
                        <a:t>RQ4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哪些属性跟「火」有关系？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JetBrains Mono"/>
                          <a:ea typeface="JetBrains Mono"/>
                        </a:rPr>
                        <a:t>机器学习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4DA3FF"/>
                          </a:solidFill>
                          <a:latin typeface="JetBrains Mono"/>
                          <a:ea typeface="JetBrains Mono"/>
                        </a:rPr>
                        <a:t>RQ5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不同任务生态差在哪？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JetBrains Mono"/>
                          <a:ea typeface="JetBrains Mono"/>
                        </a:rPr>
                        <a:t>分组对比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</a:tbl>
          </a:graphicData>
        </a:graphic>
      </p:graphicFrame>
      <p:sp>
        <p:nvSpPr>
          <p:cNvPr id="6" name="rq-note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711200" y="596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7" name="rq-note"/>
          <p:cNvSpPr txBox="1"/>
          <p:nvPr/>
        </p:nvSpPr>
        <p:spPr>
          <a:xfrm>
            <a:off x="1041400" y="5943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特别说明：RQ4 做的是</a:t>
            </a:r>
            <a:r>
              <a:rPr lang="en-US" sz="1200" noProof="1">
                <a:solidFill>
                  <a:srgbClr val="E3B341"/>
                </a:solidFill>
                <a:latin typeface="MiSans"/>
                <a:ea typeface="MiSans"/>
              </a:rPr>
              <a:t>「同期关联」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，不是「预测未来会不会火」——两码事。</a:t>
            </a:r>
            <a:endParaRPr lang="en-US" sz="1200" noProof="1"/>
          </a:p>
        </p:txBody>
      </p:sp>
      <p:sp>
        <p:nvSpPr>
          <p:cNvPr id="8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9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04 / 20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02 · 数据来源与规模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314 万行数据：从哪来、多大、多「脏」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big-num-label"/>
          <p:cNvSpPr txBox="1"/>
          <p:nvPr/>
        </p:nvSpPr>
        <p:spPr>
          <a:xfrm>
            <a:off x="711200" y="19050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DEDUPED MODELS</a:t>
            </a:r>
            <a:endParaRPr lang="en-US" sz="1100" noProof="1"/>
          </a:p>
        </p:txBody>
      </p:sp>
      <p:sp>
        <p:nvSpPr>
          <p:cNvPr id="6" name="big-num"/>
          <p:cNvSpPr txBox="1"/>
          <p:nvPr/>
        </p:nvSpPr>
        <p:spPr>
          <a:xfrm>
            <a:off x="711200" y="2184400"/>
            <a:ext cx="431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>
                <a:solidFill>
                  <a:srgbClr val="4DA3FF"/>
                </a:solidFill>
                <a:latin typeface="JetBrains Mono"/>
                <a:ea typeface="JetBrains Mono"/>
              </a:rPr>
              <a:t>3,138,954</a:t>
            </a:r>
            <a:endParaRPr lang="en-US" sz="4600" noProof="1"/>
          </a:p>
        </p:txBody>
      </p:sp>
      <p:sp>
        <p:nvSpPr>
          <p:cNvPr id="7" name="big-num-sub"/>
          <p:cNvSpPr txBox="1"/>
          <p:nvPr/>
        </p:nvSpPr>
        <p:spPr>
          <a:xfrm>
            <a:off x="711200" y="31496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个去重模型 · 源文件 1.49 GiB</a:t>
            </a:r>
            <a:endParaRPr lang="en-US" sz="1300" noProof="1"/>
          </a:p>
        </p:txBody>
      </p:sp>
      <p:sp>
        <p:nvSpPr>
          <p:cNvPr id="8" name="src-rule"/>
          <p:cNvSpPr/>
          <p:nvPr/>
        </p:nvSpPr>
        <p:spPr>
          <a:xfrm>
            <a:off x="711200" y="3810000"/>
            <a:ext cx="40640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9" name="src-icon"/>
          <p:cNvSpPr/>
          <p:nvPr>
            <p:extLst>
              <p:ext uri="{F5677B7D-0D2A-4D9B-9A5C-6D8D7D0E5A5D}">
                <pptd:icon encoding="base64url">eyJpY29uTmFtZSI6ImZhczpkYXRhYmFzZSJ9</pptd:icon>
              </p:ext>
            </p:extLst>
          </p:nvPr>
        </p:nvSpPr>
        <p:spPr>
          <a:xfrm>
            <a:off x="711200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0" name="src-text"/>
          <p:cNvSpPr txBox="1"/>
          <p:nvPr/>
        </p:nvSpPr>
        <p:spPr>
          <a:xfrm>
            <a:off x="1066800" y="40132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Hugging Face 官方数据集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9CC8FF"/>
                </a:solidFill>
                <a:latin typeface="JetBrains Mono"/>
                <a:ea typeface="JetBrains Mono"/>
              </a:rPr>
              <a:t>cfahlgren1/hub-stats</a:t>
            </a:r>
            <a:endParaRPr lang="en-US" sz="1200" noProof="1"/>
          </a:p>
        </p:txBody>
      </p:sp>
      <p:sp>
        <p:nvSpPr>
          <p:cNvPr id="11" name="src-badge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1066800" y="4927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2" name="src-badge"/>
          <p:cNvSpPr txBox="1"/>
          <p:nvPr/>
        </p:nvSpPr>
        <p:spPr>
          <a:xfrm>
            <a:off x="1346200" y="4902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7AB5A"/>
                </a:solidFill>
                <a:latin typeface="MiSans"/>
                <a:ea typeface="MiSans"/>
              </a:rPr>
              <a:t>固定提交版本 · SHA-256 校验通过</a:t>
            </a:r>
            <a:endParaRPr lang="en-US" sz="1100" noProof="1"/>
          </a:p>
        </p:txBody>
      </p:sp>
      <p:sp>
        <p:nvSpPr>
          <p:cNvPr id="13" name="v-vline"/>
          <p:cNvSpPr/>
          <p:nvPr/>
        </p:nvSpPr>
        <p:spPr>
          <a:xfrm>
            <a:off x="7874000" y="1778000"/>
            <a:ext cx="12700" cy="40640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4" name="v-hline"/>
          <p:cNvSpPr/>
          <p:nvPr/>
        </p:nvSpPr>
        <p:spPr>
          <a:xfrm>
            <a:off x="5588000" y="3810000"/>
            <a:ext cx="58928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5" name="v1-tag"/>
          <p:cNvSpPr txBox="1"/>
          <p:nvPr/>
        </p:nvSpPr>
        <p:spPr>
          <a:xfrm>
            <a:off x="5588000" y="19050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4DA3FF"/>
                </a:solidFill>
                <a:latin typeface="JetBrains Mono"/>
                <a:ea typeface="JetBrains Mono"/>
              </a:rPr>
              <a:t>VOLUME · 大</a:t>
            </a:r>
            <a:endParaRPr lang="en-US" sz="1200" noProof="1"/>
          </a:p>
        </p:txBody>
      </p:sp>
      <p:sp>
        <p:nvSpPr>
          <p:cNvPr id="16" name="v1-text"/>
          <p:cNvSpPr txBox="1"/>
          <p:nvPr/>
        </p:nvSpPr>
        <p:spPr>
          <a:xfrm>
            <a:off x="5588000" y="22352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3,138,954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个去重模型，源文件 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1.49 GiB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——比一个中型 monorepo 还大。</a:t>
            </a:r>
            <a:endParaRPr lang="en-US" sz="1200" noProof="1"/>
          </a:p>
        </p:txBody>
      </p:sp>
      <p:sp>
        <p:nvSpPr>
          <p:cNvPr id="17" name="v2-tag"/>
          <p:cNvSpPr txBox="1"/>
          <p:nvPr/>
        </p:nvSpPr>
        <p:spPr>
          <a:xfrm>
            <a:off x="8178800" y="1905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4DA3FF"/>
                </a:solidFill>
                <a:latin typeface="JetBrains Mono"/>
                <a:ea typeface="JetBrains Mono"/>
              </a:rPr>
              <a:t>VARIETY · 杂</a:t>
            </a:r>
            <a:endParaRPr lang="en-US" sz="1200" noProof="1"/>
          </a:p>
        </p:txBody>
      </p:sp>
      <p:sp>
        <p:nvSpPr>
          <p:cNvPr id="18" name="v2-text"/>
          <p:cNvSpPr txBox="1"/>
          <p:nvPr/>
        </p:nvSpPr>
        <p:spPr>
          <a:xfrm>
            <a:off x="8178800" y="22352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数字、嵌套 </a:t>
            </a:r>
            <a:r>
              <a:rPr lang="en-US" sz="1200" noProof="1">
                <a:solidFill>
                  <a:srgbClr val="8C99AD"/>
                </a:solidFill>
                <a:latin typeface="JetBrains Mono"/>
                <a:ea typeface="JetBrains Mono"/>
              </a:rPr>
              <a:t>struct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、标签数组、底座关系字段——不是一张干净的表，各种类型混着来。</a:t>
            </a:r>
            <a:endParaRPr lang="en-US" sz="1200" noProof="1"/>
          </a:p>
        </p:txBody>
      </p:sp>
      <p:sp>
        <p:nvSpPr>
          <p:cNvPr id="19" name="v3-tag"/>
          <p:cNvSpPr txBox="1"/>
          <p:nvPr/>
        </p:nvSpPr>
        <p:spPr>
          <a:xfrm>
            <a:off x="5588000" y="40640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4DA3FF"/>
                </a:solidFill>
                <a:latin typeface="JetBrains Mono"/>
                <a:ea typeface="JetBrains Mono"/>
              </a:rPr>
              <a:t>VELOCITY · 快</a:t>
            </a:r>
            <a:endParaRPr lang="en-US" sz="1200" noProof="1"/>
          </a:p>
        </p:txBody>
      </p:sp>
      <p:sp>
        <p:nvSpPr>
          <p:cNvPr id="20" name="v3-text"/>
          <p:cNvSpPr txBox="1"/>
          <p:nvPr/>
        </p:nvSpPr>
        <p:spPr>
          <a:xfrm>
            <a:off x="5588000" y="4394200"/>
            <a:ext cx="215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带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「近 30 天下载」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滚动窗口——数据是活的，天天变。</a:t>
            </a:r>
            <a:endParaRPr lang="en-US" sz="1200" noProof="1"/>
          </a:p>
        </p:txBody>
      </p:sp>
      <p:sp>
        <p:nvSpPr>
          <p:cNvPr id="21" name="v4-tag"/>
          <p:cNvSpPr txBox="1"/>
          <p:nvPr/>
        </p:nvSpPr>
        <p:spPr>
          <a:xfrm>
            <a:off x="8178800" y="406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E3B341"/>
                </a:solidFill>
                <a:latin typeface="JetBrains Mono"/>
                <a:ea typeface="JetBrains Mono"/>
              </a:rPr>
              <a:t>VERACITY · 脏</a:t>
            </a:r>
            <a:endParaRPr lang="en-US" sz="1200" noProof="1"/>
          </a:p>
        </p:txBody>
      </p:sp>
      <p:sp>
        <p:nvSpPr>
          <p:cNvPr id="22" name="v4-text"/>
          <p:cNvSpPr txBox="1"/>
          <p:nvPr/>
        </p:nvSpPr>
        <p:spPr>
          <a:xfrm>
            <a:off x="8178800" y="43942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任务标签缺 </a:t>
            </a:r>
            <a:r>
              <a:rPr lang="en-US" sz="1200" noProof="1" b="1">
                <a:solidFill>
                  <a:srgbClr val="E3B341"/>
                </a:solidFill>
                <a:latin typeface="MiSans"/>
                <a:ea typeface="MiSans"/>
              </a:rPr>
              <a:t>65.6%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、底座关系缺 </a:t>
            </a:r>
            <a:r>
              <a:rPr lang="en-US" sz="1200" noProof="1" b="1">
                <a:solidFill>
                  <a:srgbClr val="E3B341"/>
                </a:solidFill>
                <a:latin typeface="MiSans"/>
                <a:ea typeface="MiSans"/>
              </a:rPr>
              <a:t>71.7%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——不瞎填 NULL，显式标出来单独算。</a:t>
            </a:r>
            <a:endParaRPr lang="en-US" sz="1200" noProof="1"/>
          </a:p>
        </p:txBody>
      </p:sp>
      <p:sp>
        <p:nvSpPr>
          <p:cNvPr id="23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4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05 / 20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02 · 技术架构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Bronze → Silver → Gold，</a:t>
            </a:r>
            <a:r>
              <a:rPr lang="en-US" sz="2800" noProof="1">
                <a:solidFill>
                  <a:srgbClr val="4DA3FF"/>
                </a:solidFill>
                <a:latin typeface="Alimama ShuHeiTi"/>
                <a:ea typeface="Alimama ShuHeiTi"/>
              </a:rPr>
              <a:t>像做菜一样</a:t>
            </a: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层层加工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lz1-box"/>
          <p:cNvSpPr/>
          <p:nvPr/>
        </p:nvSpPr>
        <p:spPr>
          <a:xfrm>
            <a:off x="711200" y="1905000"/>
            <a:ext cx="3200400" cy="2413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6" name="lz1-tag"/>
          <p:cNvSpPr txBox="1"/>
          <p:nvPr/>
        </p:nvSpPr>
        <p:spPr>
          <a:xfrm>
            <a:off x="965200" y="2133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4DA3FF"/>
                </a:solidFill>
                <a:latin typeface="JetBrains Mono"/>
                <a:ea typeface="JetBrains Mono"/>
              </a:rPr>
              <a:t>BRONZE · 原料</a:t>
            </a:r>
            <a:endParaRPr lang="en-US" sz="1400" noProof="1"/>
          </a:p>
        </p:txBody>
      </p:sp>
      <p:sp>
        <p:nvSpPr>
          <p:cNvPr id="7" name="lz1-body"/>
          <p:cNvSpPr txBox="1"/>
          <p:nvPr/>
        </p:nvSpPr>
        <p:spPr>
          <a:xfrm>
            <a:off x="965200" y="2489200"/>
            <a:ext cx="2692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原始 parquet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E8EEF7"/>
                </a:solidFill>
                <a:latin typeface="JetBrains Mono"/>
                <a:ea typeface="JetBrains Mono"/>
              </a:rPr>
              <a:t>3,138,959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行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「刚买回来的食材，原样入库」</a:t>
            </a:r>
            <a:endParaRPr lang="en-US" sz="1200" noProof="1"/>
          </a:p>
        </p:txBody>
      </p:sp>
      <p:sp>
        <p:nvSpPr>
          <p:cNvPr id="8" name="arrow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4038600" y="2921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9" name="lz2-box"/>
          <p:cNvSpPr/>
          <p:nvPr/>
        </p:nvSpPr>
        <p:spPr>
          <a:xfrm>
            <a:off x="4495800" y="1905000"/>
            <a:ext cx="3200400" cy="2413000"/>
          </a:xfrm>
          <a:prstGeom prst="rect">
            <a:avLst/>
          </a:prstGeom>
          <a:solidFill>
            <a:srgbClr val="131B2D"/>
          </a:solidFill>
          <a:ln w="12700">
            <a:solidFill>
              <a:srgbClr val="4DA3FF"/>
            </a:solidFill>
          </a:ln>
        </p:spPr>
      </p:sp>
      <p:sp>
        <p:nvSpPr>
          <p:cNvPr id="10" name="lz2-tag"/>
          <p:cNvSpPr txBox="1"/>
          <p:nvPr/>
        </p:nvSpPr>
        <p:spPr>
          <a:xfrm>
            <a:off x="4749800" y="2133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4DA3FF"/>
                </a:solidFill>
                <a:latin typeface="JetBrains Mono"/>
                <a:ea typeface="JetBrains Mono"/>
              </a:rPr>
              <a:t>SILVER · 洗切配</a:t>
            </a:r>
            <a:endParaRPr lang="en-US" sz="1400" noProof="1"/>
          </a:p>
        </p:txBody>
      </p:sp>
      <p:sp>
        <p:nvSpPr>
          <p:cNvPr id="11" name="lz2-body"/>
          <p:cNvSpPr txBox="1"/>
          <p:nvPr/>
        </p:nvSpPr>
        <p:spPr>
          <a:xfrm>
            <a:off x="4749800" y="2489200"/>
            <a:ext cx="2692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去重 + 展开标签 / 血缘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8EEF7"/>
                </a:solidFill>
                <a:latin typeface="JetBrains Mono"/>
                <a:ea typeface="JetBrains Mono"/>
              </a:rPr>
              <a:t>主表 3,138,954 · 标签 2,063 万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8EEF7"/>
                </a:solidFill>
                <a:latin typeface="JetBrains Mono"/>
                <a:ea typeface="JetBrains Mono"/>
              </a:rPr>
              <a:t>血缘边 92 万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「洗干净、切好、分装」</a:t>
            </a:r>
            <a:endParaRPr lang="en-US" sz="1200" noProof="1"/>
          </a:p>
        </p:txBody>
      </p:sp>
      <p:sp>
        <p:nvSpPr>
          <p:cNvPr id="12" name="arrow2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7823200" y="2921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3" name="lz3-box"/>
          <p:cNvSpPr/>
          <p:nvPr/>
        </p:nvSpPr>
        <p:spPr>
          <a:xfrm>
            <a:off x="8280400" y="1905000"/>
            <a:ext cx="3200400" cy="2413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14" name="lz3-tag"/>
          <p:cNvSpPr txBox="1"/>
          <p:nvPr/>
        </p:nvSpPr>
        <p:spPr>
          <a:xfrm>
            <a:off x="8534400" y="2133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4DA3FF"/>
                </a:solidFill>
                <a:latin typeface="JetBrains Mono"/>
                <a:ea typeface="JetBrains Mono"/>
              </a:rPr>
              <a:t>GOLD · 上桌成品</a:t>
            </a:r>
            <a:endParaRPr lang="en-US" sz="1400" noProof="1"/>
          </a:p>
        </p:txBody>
      </p:sp>
      <p:sp>
        <p:nvSpPr>
          <p:cNvPr id="15" name="lz3-body"/>
          <p:cNvSpPr txBox="1"/>
          <p:nvPr/>
        </p:nvSpPr>
        <p:spPr>
          <a:xfrm>
            <a:off x="8534400" y="2489200"/>
            <a:ext cx="2692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E8EEF7"/>
                </a:solidFill>
                <a:latin typeface="JetBrains Mono"/>
                <a:ea typeface="JetBrains Mono"/>
              </a:rPr>
              <a:t>7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张分析表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+ 集中度统计表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「直接能吃的菜」</a:t>
            </a:r>
            <a:endParaRPr lang="en-US" sz="1200" noProof="1"/>
          </a:p>
        </p:txBody>
      </p:sp>
      <p:sp>
        <p:nvSpPr>
          <p:cNvPr id="16" name="stack-rule"/>
          <p:cNvSpPr/>
          <p:nvPr/>
        </p:nvSpPr>
        <p:spPr>
          <a:xfrm>
            <a:off x="711200" y="48006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7" name="stack-label"/>
          <p:cNvSpPr txBox="1"/>
          <p:nvPr/>
        </p:nvSpPr>
        <p:spPr>
          <a:xfrm>
            <a:off x="711200" y="50292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TECH STACK</a:t>
            </a:r>
            <a:endParaRPr lang="en-US" sz="1100" noProof="1"/>
          </a:p>
        </p:txBody>
      </p:sp>
      <p:sp>
        <p:nvSpPr>
          <p:cNvPr id="18" name="stack-list"/>
          <p:cNvSpPr txBox="1"/>
          <p:nvPr/>
        </p:nvSpPr>
        <p:spPr>
          <a:xfrm>
            <a:off x="711200" y="53340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9CC8FF"/>
                </a:solidFill>
                <a:latin typeface="JetBrains Mono"/>
                <a:ea typeface="JetBrains Mono"/>
              </a:rPr>
              <a:t>PySpark 4.2.0 · GraphFrames 0.12.3 · MLlib · Python 3.11 · Java 17</a:t>
            </a:r>
            <a:endParaRPr lang="en-US" sz="1200" noProof="1"/>
          </a:p>
        </p:txBody>
      </p:sp>
      <p:sp>
        <p:nvSpPr>
          <p:cNvPr id="19" name="why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711200" y="589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0" name="why-text"/>
          <p:cNvSpPr txBox="1"/>
          <p:nvPr/>
        </p:nvSpPr>
        <p:spPr>
          <a:xfrm>
            <a:off x="1041400" y="5867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为什么分层：每一步都能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单独验证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，出错了能定位到具体层——就像写代码分层解耦，哪层崩了报错就报哪层。</a:t>
            </a:r>
            <a:endParaRPr lang="en-US" sz="1200" noProof="1"/>
          </a:p>
        </p:txBody>
      </p:sp>
      <p:sp>
        <p:nvSpPr>
          <p:cNvPr id="21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2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06 / 20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02 · 数据流水线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一键重跑，数字只来自一个地方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pl-n1"/>
          <p:cNvSpPr/>
          <p:nvPr/>
        </p:nvSpPr>
        <p:spPr>
          <a:xfrm>
            <a:off x="711200" y="2159000"/>
            <a:ext cx="10668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6" name="pl-t1"/>
          <p:cNvSpPr txBox="1"/>
          <p:nvPr/>
        </p:nvSpPr>
        <p:spPr>
          <a:xfrm>
            <a:off x="711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下载</a:t>
            </a:r>
            <a:endParaRPr lang="en-US" sz="1200" noProof="1"/>
          </a:p>
        </p:txBody>
      </p:sp>
      <p:sp>
        <p:nvSpPr>
          <p:cNvPr id="7" name="pl-a1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1854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8" name="pl-n2"/>
          <p:cNvSpPr/>
          <p:nvPr/>
        </p:nvSpPr>
        <p:spPr>
          <a:xfrm>
            <a:off x="2108200" y="2159000"/>
            <a:ext cx="10668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9" name="pl-t2"/>
          <p:cNvSpPr txBox="1"/>
          <p:nvPr/>
        </p:nvSpPr>
        <p:spPr>
          <a:xfrm>
            <a:off x="2108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E8EEF7"/>
                </a:solidFill>
                <a:latin typeface="JetBrains Mono"/>
                <a:ea typeface="JetBrains Mono"/>
              </a:rPr>
              <a:t>ETL</a:t>
            </a:r>
            <a:endParaRPr lang="en-US" sz="1200" noProof="1"/>
          </a:p>
        </p:txBody>
      </p:sp>
      <p:sp>
        <p:nvSpPr>
          <p:cNvPr id="10" name="pl-a2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3251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1" name="pl-n3"/>
          <p:cNvSpPr/>
          <p:nvPr/>
        </p:nvSpPr>
        <p:spPr>
          <a:xfrm>
            <a:off x="3505200" y="2159000"/>
            <a:ext cx="10668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12" name="pl-t3"/>
          <p:cNvSpPr txBox="1"/>
          <p:nvPr/>
        </p:nvSpPr>
        <p:spPr>
          <a:xfrm>
            <a:off x="3505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验证</a:t>
            </a:r>
            <a:endParaRPr lang="en-US" sz="1200" noProof="1"/>
          </a:p>
        </p:txBody>
      </p:sp>
      <p:sp>
        <p:nvSpPr>
          <p:cNvPr id="13" name="pl-a3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4648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4" name="pl-n4"/>
          <p:cNvSpPr/>
          <p:nvPr/>
        </p:nvSpPr>
        <p:spPr>
          <a:xfrm>
            <a:off x="4902200" y="2159000"/>
            <a:ext cx="10668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15" name="pl-t4"/>
          <p:cNvSpPr txBox="1"/>
          <p:nvPr/>
        </p:nvSpPr>
        <p:spPr>
          <a:xfrm>
            <a:off x="4902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5 个分析</a:t>
            </a:r>
            <a:endParaRPr lang="en-US" sz="1200" noProof="1"/>
          </a:p>
        </p:txBody>
      </p:sp>
      <p:sp>
        <p:nvSpPr>
          <p:cNvPr id="16" name="pl-a4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6045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7" name="pl-n5"/>
          <p:cNvSpPr/>
          <p:nvPr/>
        </p:nvSpPr>
        <p:spPr>
          <a:xfrm>
            <a:off x="6299200" y="2159000"/>
            <a:ext cx="10668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18" name="pl-t5"/>
          <p:cNvSpPr txBox="1"/>
          <p:nvPr/>
        </p:nvSpPr>
        <p:spPr>
          <a:xfrm>
            <a:off x="6299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图算法</a:t>
            </a:r>
            <a:endParaRPr lang="en-US" sz="1200" noProof="1"/>
          </a:p>
        </p:txBody>
      </p:sp>
      <p:sp>
        <p:nvSpPr>
          <p:cNvPr id="19" name="pl-a5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7442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20" name="pl-n6"/>
          <p:cNvSpPr/>
          <p:nvPr/>
        </p:nvSpPr>
        <p:spPr>
          <a:xfrm>
            <a:off x="7696200" y="2159000"/>
            <a:ext cx="10668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21" name="pl-t6"/>
          <p:cNvSpPr txBox="1"/>
          <p:nvPr/>
        </p:nvSpPr>
        <p:spPr>
          <a:xfrm>
            <a:off x="7696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出图</a:t>
            </a:r>
            <a:endParaRPr lang="en-US" sz="1200" noProof="1"/>
          </a:p>
        </p:txBody>
      </p:sp>
      <p:sp>
        <p:nvSpPr>
          <p:cNvPr id="22" name="pl-a6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8839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23" name="pl-n7"/>
          <p:cNvSpPr/>
          <p:nvPr/>
        </p:nvSpPr>
        <p:spPr>
          <a:xfrm>
            <a:off x="9093200" y="2159000"/>
            <a:ext cx="1066800" cy="660400"/>
          </a:xfrm>
          <a:prstGeom prst="rect">
            <a:avLst/>
          </a:prstGeom>
          <a:solidFill>
            <a:srgbClr val="1B3A66"/>
          </a:solidFill>
          <a:ln w="19050">
            <a:solidFill>
              <a:srgbClr val="4DA3FF"/>
            </a:solidFill>
          </a:ln>
        </p:spPr>
      </p:sp>
      <p:sp>
        <p:nvSpPr>
          <p:cNvPr id="24" name="pl-t7"/>
          <p:cNvSpPr txBox="1"/>
          <p:nvPr/>
        </p:nvSpPr>
        <p:spPr>
          <a:xfrm>
            <a:off x="9093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9CC8FF"/>
                </a:solidFill>
                <a:latin typeface="MiSans"/>
                <a:ea typeface="MiSans"/>
              </a:rPr>
              <a:t>结果清单</a:t>
            </a:r>
            <a:endParaRPr lang="en-US" sz="1200" noProof="1"/>
          </a:p>
        </p:txBody>
      </p:sp>
      <p:sp>
        <p:nvSpPr>
          <p:cNvPr id="25" name="pl-a7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10236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26" name="pl-n8"/>
          <p:cNvSpPr/>
          <p:nvPr/>
        </p:nvSpPr>
        <p:spPr>
          <a:xfrm>
            <a:off x="10490200" y="2159000"/>
            <a:ext cx="990600" cy="6604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27" name="pl-t8"/>
          <p:cNvSpPr txBox="1"/>
          <p:nvPr/>
        </p:nvSpPr>
        <p:spPr>
          <a:xfrm>
            <a:off x="10490200" y="2159000"/>
            <a:ext cx="990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E8EEF7"/>
                </a:solidFill>
                <a:latin typeface="MiSans"/>
                <a:ea typeface="MiSans"/>
              </a:rPr>
              <a:t>一致性检查</a:t>
            </a:r>
            <a:endParaRPr lang="en-US" sz="1100" noProof="1"/>
          </a:p>
        </p:txBody>
      </p:sp>
      <p:sp>
        <p:nvSpPr>
          <p:cNvPr id="28" name="pl-manifest"/>
          <p:cNvSpPr txBox="1"/>
          <p:nvPr/>
        </p:nvSpPr>
        <p:spPr>
          <a:xfrm>
            <a:off x="8712200" y="29464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4DA3FF"/>
                </a:solidFill>
                <a:latin typeface="JetBrains Mono"/>
                <a:ea typeface="JetBrains Mono"/>
              </a:rPr>
              <a:t>results_manifest.json</a:t>
            </a:r>
            <a:endParaRPr lang="en-US" sz="1000" noProof="1"/>
          </a:p>
        </p:txBody>
      </p:sp>
      <p:sp>
        <p:nvSpPr>
          <p:cNvPr id="29" name="pl-caption"/>
          <p:cNvSpPr txBox="1"/>
          <p:nvPr/>
        </p:nvSpPr>
        <p:spPr>
          <a:xfrm>
            <a:off x="711200" y="33274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4DA3FF"/>
                </a:solidFill>
                <a:latin typeface="JetBrains Mono"/>
                <a:ea typeface="JetBrains Mono"/>
              </a:rPr>
              <a:t>34</a:t>
            </a: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 个 Python 脚本串成一条链，一条命令从头跑到尾</a:t>
            </a:r>
            <a:endParaRPr lang="en-US" sz="1100" noProof="1"/>
          </a:p>
        </p:txBody>
      </p:sp>
      <p:sp>
        <p:nvSpPr>
          <p:cNvPr id="30" name="pl-rule"/>
          <p:cNvSpPr/>
          <p:nvPr/>
        </p:nvSpPr>
        <p:spPr>
          <a:xfrm>
            <a:off x="711200" y="39116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31" name="pt1-icon"/>
          <p:cNvSpPr/>
          <p:nvPr>
            <p:extLst>
              <p:ext uri="{F5677B7D-0D2A-4D9B-9A5C-6D8D7D0E5A5D}">
                <pptd:icon encoding="base64url">eyJpY29uTmFtZSI6ImZhczpmaWxlLWNvbnRyYWN0In0</pptd:icon>
              </p:ext>
            </p:extLst>
          </p:nvPr>
        </p:nvSpPr>
        <p:spPr>
          <a:xfrm>
            <a:off x="711200" y="426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88" y="64"/>
                </a:moveTo>
                <a:cubicBezTo>
                  <a:pt x="75" y="64"/>
                  <a:pt x="64" y="75"/>
                  <a:pt x="64" y="88"/>
                </a:cubicBezTo>
                <a:cubicBezTo>
                  <a:pt x="64" y="101"/>
                  <a:pt x="75" y="112"/>
                  <a:pt x="88" y="112"/>
                </a:cubicBezTo>
                <a:lnTo>
                  <a:pt x="136" y="112"/>
                </a:lnTo>
                <a:cubicBezTo>
                  <a:pt x="149" y="112"/>
                  <a:pt x="160" y="101"/>
                  <a:pt x="160" y="88"/>
                </a:cubicBezTo>
                <a:cubicBezTo>
                  <a:pt x="160" y="75"/>
                  <a:pt x="149" y="64"/>
                  <a:pt x="136" y="64"/>
                </a:cubicBezTo>
                <a:lnTo>
                  <a:pt x="88" y="64"/>
                </a:lnTo>
                <a:close/>
                <a:moveTo>
                  <a:pt x="88" y="160"/>
                </a:moveTo>
                <a:cubicBezTo>
                  <a:pt x="75" y="160"/>
                  <a:pt x="64" y="171"/>
                  <a:pt x="64" y="184"/>
                </a:cubicBezTo>
                <a:cubicBezTo>
                  <a:pt x="64" y="197"/>
                  <a:pt x="75" y="208"/>
                  <a:pt x="88" y="208"/>
                </a:cubicBezTo>
                <a:lnTo>
                  <a:pt x="136" y="208"/>
                </a:lnTo>
                <a:cubicBezTo>
                  <a:pt x="149" y="208"/>
                  <a:pt x="160" y="197"/>
                  <a:pt x="160" y="184"/>
                </a:cubicBezTo>
                <a:cubicBezTo>
                  <a:pt x="160" y="171"/>
                  <a:pt x="149" y="160"/>
                  <a:pt x="136" y="160"/>
                </a:cubicBezTo>
                <a:lnTo>
                  <a:pt x="88" y="160"/>
                </a:lnTo>
                <a:close/>
                <a:moveTo>
                  <a:pt x="158" y="320"/>
                </a:moveTo>
                <a:cubicBezTo>
                  <a:pt x="147" y="320"/>
                  <a:pt x="136" y="325"/>
                  <a:pt x="129" y="334"/>
                </a:cubicBezTo>
                <a:lnTo>
                  <a:pt x="69" y="409"/>
                </a:lnTo>
                <a:cubicBezTo>
                  <a:pt x="61" y="419"/>
                  <a:pt x="63" y="435"/>
                  <a:pt x="73" y="443"/>
                </a:cubicBezTo>
                <a:cubicBezTo>
                  <a:pt x="83" y="451"/>
                  <a:pt x="99" y="449"/>
                  <a:pt x="107" y="439"/>
                </a:cubicBezTo>
                <a:lnTo>
                  <a:pt x="154" y="380"/>
                </a:lnTo>
                <a:lnTo>
                  <a:pt x="169" y="431"/>
                </a:lnTo>
                <a:cubicBezTo>
                  <a:pt x="172" y="441"/>
                  <a:pt x="181" y="448"/>
                  <a:pt x="192" y="448"/>
                </a:cubicBezTo>
                <a:lnTo>
                  <a:pt x="296" y="448"/>
                </a:lnTo>
                <a:cubicBezTo>
                  <a:pt x="309" y="448"/>
                  <a:pt x="320" y="437"/>
                  <a:pt x="320" y="424"/>
                </a:cubicBezTo>
                <a:cubicBezTo>
                  <a:pt x="320" y="411"/>
                  <a:pt x="309" y="400"/>
                  <a:pt x="296" y="400"/>
                </a:cubicBezTo>
                <a:lnTo>
                  <a:pt x="210" y="400"/>
                </a:lnTo>
                <a:lnTo>
                  <a:pt x="194" y="346"/>
                </a:lnTo>
                <a:cubicBezTo>
                  <a:pt x="189" y="331"/>
                  <a:pt x="175" y="320"/>
                  <a:pt x="158" y="320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32" name="pt1"/>
          <p:cNvSpPr txBox="1"/>
          <p:nvPr/>
        </p:nvSpPr>
        <p:spPr>
          <a:xfrm>
            <a:off x="1117600" y="4191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单一事实来源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报告、图、看板都读同一个结果清单，数字绝不打架</a:t>
            </a:r>
            <a:endParaRPr lang="en-US" sz="1200" noProof="1"/>
          </a:p>
        </p:txBody>
      </p:sp>
      <p:sp>
        <p:nvSpPr>
          <p:cNvPr id="33" name="pt2-icon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711200" y="520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34" name="pt2"/>
          <p:cNvSpPr txBox="1"/>
          <p:nvPr/>
        </p:nvSpPr>
        <p:spPr>
          <a:xfrm>
            <a:off x="1117600" y="51308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双引擎隔离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Spark 与 pandas 结果分目录，像 main 和实验分支互不污染</a:t>
            </a:r>
            <a:endParaRPr lang="en-US" sz="1200" noProof="1"/>
          </a:p>
        </p:txBody>
      </p:sp>
      <p:sp>
        <p:nvSpPr>
          <p:cNvPr id="35" name="pt3-icon"/>
          <p:cNvSpPr/>
          <p:nvPr>
            <p:extLst>
              <p:ext uri="{F5677B7D-0D2A-4D9B-9A5C-6D8D7D0E5A5D}">
                <pptd:icon encoding="base64url">eyJpY29uTmFtZSI6ImZhczpyb3RhdGUifQ</pptd:icon>
              </p:ext>
            </p:extLst>
          </p:nvPr>
        </p:nvSpPr>
        <p:spPr>
          <a:xfrm>
            <a:off x="6350000" y="426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36" name="pt3"/>
          <p:cNvSpPr txBox="1"/>
          <p:nvPr/>
        </p:nvSpPr>
        <p:spPr>
          <a:xfrm>
            <a:off x="6756400" y="41910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完全可复现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下载 → ETL → 分析 → 出图 → 校验，一条命令链重跑到底</a:t>
            </a:r>
            <a:endParaRPr lang="en-US" sz="1200" noProof="1"/>
          </a:p>
        </p:txBody>
      </p:sp>
      <p:sp>
        <p:nvSpPr>
          <p:cNvPr id="37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38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07 / 20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03 · 难点总览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踩坑地图：7 个坑，7 种填法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hd-pit"/>
          <p:cNvSpPr txBox="1"/>
          <p:nvPr/>
        </p:nvSpPr>
        <p:spPr>
          <a:xfrm>
            <a:off x="1473200" y="15748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F47067"/>
                </a:solidFill>
                <a:latin typeface="JetBrains Mono"/>
                <a:ea typeface="JetBrains Mono"/>
              </a:rPr>
              <a:t>PIT · 坑</a:t>
            </a:r>
            <a:endParaRPr lang="en-US" sz="1000" noProof="1"/>
          </a:p>
        </p:txBody>
      </p:sp>
      <p:sp>
        <p:nvSpPr>
          <p:cNvPr id="6" name="hd-fix"/>
          <p:cNvSpPr txBox="1"/>
          <p:nvPr/>
        </p:nvSpPr>
        <p:spPr>
          <a:xfrm>
            <a:off x="7112000" y="157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57AB5A"/>
                </a:solidFill>
                <a:latin typeface="JetBrains Mono"/>
                <a:ea typeface="JetBrains Mono"/>
              </a:rPr>
              <a:t>FIX · 填法</a:t>
            </a:r>
            <a:endParaRPr lang="en-US" sz="1000" noProof="1"/>
          </a:p>
        </p:txBody>
      </p:sp>
      <p:sp>
        <p:nvSpPr>
          <p:cNvPr id="7" name="hd-rule"/>
          <p:cNvSpPr/>
          <p:nvPr/>
        </p:nvSpPr>
        <p:spPr>
          <a:xfrm>
            <a:off x="711200" y="1854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8" name="r1-n"/>
          <p:cNvSpPr txBox="1"/>
          <p:nvPr/>
        </p:nvSpPr>
        <p:spPr>
          <a:xfrm>
            <a:off x="711200" y="205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01</a:t>
            </a:r>
            <a:endParaRPr lang="en-US" sz="1500" noProof="1"/>
          </a:p>
        </p:txBody>
      </p:sp>
      <p:sp>
        <p:nvSpPr>
          <p:cNvPr id="9" name="r1-pit"/>
          <p:cNvSpPr txBox="1"/>
          <p:nvPr/>
        </p:nvSpPr>
        <p:spPr>
          <a:xfrm>
            <a:off x="1473200" y="205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Windows 缺 winutils.exe，Spark 直接起不来</a:t>
            </a:r>
            <a:endParaRPr lang="en-US" sz="1300" noProof="1"/>
          </a:p>
        </p:txBody>
      </p:sp>
      <p:sp>
        <p:nvSpPr>
          <p:cNvPr id="10" name="r1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213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1" name="r1-fix"/>
          <p:cNvSpPr txBox="1"/>
          <p:nvPr/>
        </p:nvSpPr>
        <p:spPr>
          <a:xfrm>
            <a:off x="7112000" y="205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换纯 Java 文件系统 BareLocalFileSystem</a:t>
            </a:r>
            <a:endParaRPr lang="en-US" sz="1300" noProof="1"/>
          </a:p>
        </p:txBody>
      </p:sp>
      <p:sp>
        <p:nvSpPr>
          <p:cNvPr id="12" name="r1-line"/>
          <p:cNvSpPr/>
          <p:nvPr/>
        </p:nvSpPr>
        <p:spPr>
          <a:xfrm>
            <a:off x="711200" y="2489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3" name="r2-n"/>
          <p:cNvSpPr txBox="1"/>
          <p:nvPr/>
        </p:nvSpPr>
        <p:spPr>
          <a:xfrm>
            <a:off x="711200" y="2692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02</a:t>
            </a:r>
            <a:endParaRPr lang="en-US" sz="1500" noProof="1"/>
          </a:p>
        </p:txBody>
      </p:sp>
      <p:sp>
        <p:nvSpPr>
          <p:cNvPr id="14" name="r2-pit"/>
          <p:cNvSpPr txBox="1"/>
          <p:nvPr/>
        </p:nvSpPr>
        <p:spPr>
          <a:xfrm>
            <a:off x="1473200" y="2692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新数据源 Schema 变了，字段类型对不上</a:t>
            </a:r>
            <a:endParaRPr lang="en-US" sz="1300" noProof="1"/>
          </a:p>
        </p:txBody>
      </p:sp>
      <p:sp>
        <p:nvSpPr>
          <p:cNvPr id="15" name="r2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2768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6" name="r2-fix"/>
          <p:cNvSpPr txBox="1"/>
          <p:nvPr/>
        </p:nvSpPr>
        <p:spPr>
          <a:xfrm>
            <a:off x="7112000" y="2692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写适配层，统一字段类型</a:t>
            </a:r>
            <a:endParaRPr lang="en-US" sz="1300" noProof="1"/>
          </a:p>
        </p:txBody>
      </p:sp>
      <p:sp>
        <p:nvSpPr>
          <p:cNvPr id="17" name="r2-line"/>
          <p:cNvSpPr/>
          <p:nvPr/>
        </p:nvSpPr>
        <p:spPr>
          <a:xfrm>
            <a:off x="711200" y="3124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8" name="r3-n"/>
          <p:cNvSpPr txBox="1"/>
          <p:nvPr/>
        </p:nvSpPr>
        <p:spPr>
          <a:xfrm>
            <a:off x="711200" y="332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03</a:t>
            </a:r>
            <a:endParaRPr lang="en-US" sz="1500" noProof="1"/>
          </a:p>
        </p:txBody>
      </p:sp>
      <p:sp>
        <p:nvSpPr>
          <p:cNvPr id="19" name="r3-pit"/>
          <p:cNvSpPr txBox="1"/>
          <p:nvPr/>
        </p:nvSpPr>
        <p:spPr>
          <a:xfrm>
            <a:off x="1473200" y="332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时区陷阱：23 点的 UTC 记录被推到下个月</a:t>
            </a:r>
            <a:endParaRPr lang="en-US" sz="1300" noProof="1"/>
          </a:p>
        </p:txBody>
      </p:sp>
      <p:sp>
        <p:nvSpPr>
          <p:cNvPr id="20" name="r3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340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21" name="r3-fix"/>
          <p:cNvSpPr txBox="1"/>
          <p:nvPr/>
        </p:nvSpPr>
        <p:spPr>
          <a:xfrm>
            <a:off x="7112000" y="332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全局锁 UTC</a:t>
            </a:r>
            <a:endParaRPr lang="en-US" sz="1300" noProof="1"/>
          </a:p>
        </p:txBody>
      </p:sp>
      <p:sp>
        <p:nvSpPr>
          <p:cNvPr id="22" name="r3-line"/>
          <p:cNvSpPr/>
          <p:nvPr/>
        </p:nvSpPr>
        <p:spPr>
          <a:xfrm>
            <a:off x="711200" y="3759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23" name="r4-n"/>
          <p:cNvSpPr txBox="1"/>
          <p:nvPr/>
        </p:nvSpPr>
        <p:spPr>
          <a:xfrm>
            <a:off x="711200" y="3962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04</a:t>
            </a:r>
            <a:endParaRPr lang="en-US" sz="1500" noProof="1"/>
          </a:p>
        </p:txBody>
      </p:sp>
      <p:sp>
        <p:nvSpPr>
          <p:cNvPr id="24" name="r4-pit"/>
          <p:cNvSpPr txBox="1"/>
          <p:nvPr/>
        </p:nvSpPr>
        <p:spPr>
          <a:xfrm>
            <a:off x="1473200" y="3962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全局排序卡死：单分区 shuffle 扛不住</a:t>
            </a:r>
            <a:endParaRPr lang="en-US" sz="1300" noProof="1"/>
          </a:p>
        </p:txBody>
      </p:sp>
      <p:sp>
        <p:nvSpPr>
          <p:cNvPr id="25" name="r4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4038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26" name="r4-fix"/>
          <p:cNvSpPr txBox="1"/>
          <p:nvPr/>
        </p:nvSpPr>
        <p:spPr>
          <a:xfrm>
            <a:off x="7112000" y="3962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先聚合频数表，再查表还原排名</a:t>
            </a:r>
            <a:endParaRPr lang="en-US" sz="1300" noProof="1"/>
          </a:p>
        </p:txBody>
      </p:sp>
      <p:sp>
        <p:nvSpPr>
          <p:cNvPr id="27" name="r4-line"/>
          <p:cNvSpPr/>
          <p:nvPr/>
        </p:nvSpPr>
        <p:spPr>
          <a:xfrm>
            <a:off x="711200" y="4394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28" name="r5-n"/>
          <p:cNvSpPr txBox="1"/>
          <p:nvPr/>
        </p:nvSpPr>
        <p:spPr>
          <a:xfrm>
            <a:off x="711200" y="459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05</a:t>
            </a:r>
            <a:endParaRPr lang="en-US" sz="1500" noProof="1"/>
          </a:p>
        </p:txBody>
      </p:sp>
      <p:sp>
        <p:nvSpPr>
          <p:cNvPr id="29" name="r5-pit"/>
          <p:cNvSpPr txBox="1"/>
          <p:nvPr/>
        </p:nvSpPr>
        <p:spPr>
          <a:xfrm>
            <a:off x="1473200" y="459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93 万节点的图跑不动，一跑就挂</a:t>
            </a:r>
            <a:endParaRPr lang="en-US" sz="1300" noProof="1"/>
          </a:p>
        </p:txBody>
      </p:sp>
      <p:sp>
        <p:nvSpPr>
          <p:cNvPr id="30" name="r5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467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31" name="r5-fix"/>
          <p:cNvSpPr txBox="1"/>
          <p:nvPr/>
        </p:nvSpPr>
        <p:spPr>
          <a:xfrm>
            <a:off x="7112000" y="459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拆脚本 + 看门狗 + 断点续跑</a:t>
            </a:r>
            <a:endParaRPr lang="en-US" sz="1300" noProof="1"/>
          </a:p>
        </p:txBody>
      </p:sp>
      <p:sp>
        <p:nvSpPr>
          <p:cNvPr id="32" name="r5-line"/>
          <p:cNvSpPr/>
          <p:nvPr/>
        </p:nvSpPr>
        <p:spPr>
          <a:xfrm>
            <a:off x="711200" y="5029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33" name="r6-n"/>
          <p:cNvSpPr txBox="1"/>
          <p:nvPr/>
        </p:nvSpPr>
        <p:spPr>
          <a:xfrm>
            <a:off x="711200" y="5232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06</a:t>
            </a:r>
            <a:endParaRPr lang="en-US" sz="1500" noProof="1"/>
          </a:p>
        </p:txBody>
      </p:sp>
      <p:sp>
        <p:nvSpPr>
          <p:cNvPr id="34" name="r6-pit"/>
          <p:cNvSpPr txBox="1"/>
          <p:nvPr/>
        </p:nvSpPr>
        <p:spPr>
          <a:xfrm>
            <a:off x="1473200" y="5232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ML 评估泄漏：拿测试题练手</a:t>
            </a:r>
            <a:endParaRPr lang="en-US" sz="1300" noProof="1"/>
          </a:p>
        </p:txBody>
      </p:sp>
      <p:sp>
        <p:nvSpPr>
          <p:cNvPr id="35" name="r6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5308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36" name="r6-fix"/>
          <p:cNvSpPr txBox="1"/>
          <p:nvPr/>
        </p:nvSpPr>
        <p:spPr>
          <a:xfrm>
            <a:off x="7112000" y="5232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先切训练 / 测试集，零交集</a:t>
            </a:r>
            <a:endParaRPr lang="en-US" sz="1300" noProof="1"/>
          </a:p>
        </p:txBody>
      </p:sp>
      <p:sp>
        <p:nvSpPr>
          <p:cNvPr id="37" name="r6-line"/>
          <p:cNvSpPr/>
          <p:nvPr/>
        </p:nvSpPr>
        <p:spPr>
          <a:xfrm>
            <a:off x="711200" y="5664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38" name="r7-n"/>
          <p:cNvSpPr txBox="1"/>
          <p:nvPr/>
        </p:nvSpPr>
        <p:spPr>
          <a:xfrm>
            <a:off x="711200" y="586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B6A82"/>
                </a:solidFill>
                <a:latin typeface="JetBrains Mono"/>
                <a:ea typeface="JetBrains Mono"/>
              </a:rPr>
              <a:t>07</a:t>
            </a:r>
            <a:endParaRPr lang="en-US" sz="1500" noProof="1"/>
          </a:p>
        </p:txBody>
      </p:sp>
      <p:sp>
        <p:nvSpPr>
          <p:cNvPr id="39" name="r7-pit"/>
          <p:cNvSpPr txBox="1"/>
          <p:nvPr/>
        </p:nvSpPr>
        <p:spPr>
          <a:xfrm>
            <a:off x="1473200" y="586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32GB 内存不够，任务频繁 OOM</a:t>
            </a:r>
            <a:endParaRPr lang="en-US" sz="1300" noProof="1"/>
          </a:p>
        </p:txBody>
      </p:sp>
      <p:sp>
        <p:nvSpPr>
          <p:cNvPr id="40" name="r7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594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41" name="r7-fix"/>
          <p:cNvSpPr txBox="1"/>
          <p:nvPr/>
        </p:nvSpPr>
        <p:spPr>
          <a:xfrm>
            <a:off x="7112000" y="586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按数据规模动态调并行度</a:t>
            </a:r>
            <a:endParaRPr lang="en-US" sz="1300" noProof="1"/>
          </a:p>
        </p:txBody>
      </p:sp>
      <p:sp>
        <p:nvSpPr>
          <p:cNvPr id="42" name="r7-line"/>
          <p:cNvSpPr/>
          <p:nvPr/>
        </p:nvSpPr>
        <p:spPr>
          <a:xfrm>
            <a:off x="711200" y="6299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43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44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08 / 20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03 · 难点深挖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为什么别人在 Windows 跑 Spark </a:t>
            </a:r>
            <a:r>
              <a:rPr lang="en-US" sz="2600" noProof="1">
                <a:solidFill>
                  <a:srgbClr val="F47067"/>
                </a:solidFill>
                <a:latin typeface="Alimama ShuHeiTi"/>
                <a:ea typeface="Alimama ShuHeiTi"/>
              </a:rPr>
              <a:t>总报错</a:t>
            </a: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，我没报？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pit-strip"/>
          <p:cNvSpPr/>
          <p:nvPr/>
        </p:nvSpPr>
        <p:spPr>
          <a:xfrm>
            <a:off x="711200" y="1676400"/>
            <a:ext cx="50800" cy="4318000"/>
          </a:xfrm>
          <a:prstGeom prst="rect">
            <a:avLst/>
          </a:prstGeom>
          <a:solidFill>
            <a:srgbClr val="F47067"/>
          </a:solidFill>
          <a:ln>
            <a:noFill/>
          </a:ln>
        </p:spPr>
      </p:sp>
      <p:sp>
        <p:nvSpPr>
          <p:cNvPr id="6" name="pit-tag"/>
          <p:cNvSpPr txBox="1"/>
          <p:nvPr/>
        </p:nvSpPr>
        <p:spPr>
          <a:xfrm>
            <a:off x="1016000" y="1778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F47067"/>
                </a:solidFill>
                <a:latin typeface="JetBrains Mono"/>
                <a:ea typeface="JetBrains Mono"/>
              </a:rPr>
              <a:t>THE PIT · 坑在哪</a:t>
            </a:r>
            <a:endParaRPr lang="en-US" sz="1100" noProof="1"/>
          </a:p>
        </p:txBody>
      </p:sp>
      <p:sp>
        <p:nvSpPr>
          <p:cNvPr id="7" name="pit-body"/>
          <p:cNvSpPr txBox="1"/>
          <p:nvPr/>
        </p:nvSpPr>
        <p:spPr>
          <a:xfrm>
            <a:off x="1016000" y="2133600"/>
            <a:ext cx="4572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Spark 默认的 </a:t>
            </a: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RawLocalFileSystem.setPermission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在 Windows 上只有两条路：</a:t>
            </a:r>
            <a:endParaRPr lang="en-US" sz="12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hadoop.dll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或 </a:t>
            </a: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winutils.exe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，缺一个就红屏报错。</a:t>
            </a:r>
            <a:endParaRPr lang="en-US" sz="1200" noProof="1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而 </a:t>
            </a: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core-default.xml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</a:t>
            </a:r>
            <a:r>
              <a:rPr lang="en-US" sz="1200" noProof="1" b="1">
                <a:solidFill>
                  <a:srgbClr val="F47067"/>
                </a:solidFill>
                <a:latin typeface="MiSans"/>
                <a:ea typeface="MiSans"/>
              </a:rPr>
              <a:t>没有任何开关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能关掉这次调用——</a:t>
            </a:r>
            <a:endParaRPr lang="en-US" sz="12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这不是查百度查出来的，是我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反编译 Hadoop 源码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一行行确认的。</a:t>
            </a:r>
            <a:endParaRPr lang="en-US" sz="1200" noProof="1"/>
          </a:p>
        </p:txBody>
      </p:sp>
      <p:sp>
        <p:nvSpPr>
          <p:cNvPr id="8" name="fix-strip"/>
          <p:cNvSpPr/>
          <p:nvPr/>
        </p:nvSpPr>
        <p:spPr>
          <a:xfrm>
            <a:off x="6096000" y="1676400"/>
            <a:ext cx="50800" cy="4318000"/>
          </a:xfrm>
          <a:prstGeom prst="rect">
            <a:avLst/>
          </a:prstGeom>
          <a:solidFill>
            <a:srgbClr val="57AB5A"/>
          </a:solidFill>
          <a:ln>
            <a:noFill/>
          </a:ln>
        </p:spPr>
      </p:sp>
      <p:sp>
        <p:nvSpPr>
          <p:cNvPr id="9" name="fix-tag"/>
          <p:cNvSpPr txBox="1"/>
          <p:nvPr/>
        </p:nvSpPr>
        <p:spPr>
          <a:xfrm>
            <a:off x="6400800" y="1778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57AB5A"/>
                </a:solidFill>
                <a:latin typeface="JetBrains Mono"/>
                <a:ea typeface="JetBrains Mono"/>
              </a:rPr>
              <a:t>THE FIX · 怎么填</a:t>
            </a:r>
            <a:endParaRPr lang="en-US" sz="1100" noProof="1"/>
          </a:p>
        </p:txBody>
      </p:sp>
      <p:sp>
        <p:nvSpPr>
          <p:cNvPr id="10" name="fix1-n"/>
          <p:cNvSpPr txBox="1"/>
          <p:nvPr/>
        </p:nvSpPr>
        <p:spPr>
          <a:xfrm>
            <a:off x="6400800" y="21590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57AB5A"/>
                </a:solidFill>
                <a:latin typeface="JetBrains Mono"/>
                <a:ea typeface="JetBrains Mono"/>
              </a:rPr>
              <a:t>①</a:t>
            </a:r>
            <a:endParaRPr lang="en-US" sz="2000" noProof="1"/>
          </a:p>
        </p:txBody>
      </p:sp>
      <p:sp>
        <p:nvSpPr>
          <p:cNvPr id="11" name="fix1"/>
          <p:cNvSpPr txBox="1"/>
          <p:nvPr/>
        </p:nvSpPr>
        <p:spPr>
          <a:xfrm>
            <a:off x="6908800" y="2133600"/>
            <a:ext cx="457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不硬刚，换实现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换纯 Java 的 </a:t>
            </a: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BareLocalFileSystem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，setPermission 在 Windows 直接空操作——不碰原生库、不碰外部进程。</a:t>
            </a:r>
            <a:endParaRPr lang="en-US" sz="1200" noProof="1"/>
          </a:p>
        </p:txBody>
      </p:sp>
      <p:sp>
        <p:nvSpPr>
          <p:cNvPr id="12" name="fix2-n"/>
          <p:cNvSpPr txBox="1"/>
          <p:nvPr/>
        </p:nvSpPr>
        <p:spPr>
          <a:xfrm>
            <a:off x="6400800" y="33274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57AB5A"/>
                </a:solidFill>
                <a:latin typeface="JetBrains Mono"/>
                <a:ea typeface="JetBrains Mono"/>
              </a:rPr>
              <a:t>②</a:t>
            </a:r>
            <a:endParaRPr lang="en-US" sz="2000" noProof="1"/>
          </a:p>
        </p:txBody>
      </p:sp>
      <p:sp>
        <p:nvSpPr>
          <p:cNvPr id="13" name="fix2"/>
          <p:cNvSpPr txBox="1"/>
          <p:nvPr/>
        </p:nvSpPr>
        <p:spPr>
          <a:xfrm>
            <a:off x="6908800" y="3302000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时区全局锁 UTC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否则 23 点的 UTC 记录会被推到下个月——一小时时差就能把数据归错月份。</a:t>
            </a:r>
            <a:endParaRPr lang="en-US" sz="1200" noProof="1"/>
          </a:p>
        </p:txBody>
      </p:sp>
      <p:sp>
        <p:nvSpPr>
          <p:cNvPr id="14" name="fix3-n"/>
          <p:cNvSpPr txBox="1"/>
          <p:nvPr/>
        </p:nvSpPr>
        <p:spPr>
          <a:xfrm>
            <a:off x="6400800" y="43688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57AB5A"/>
                </a:solidFill>
                <a:latin typeface="JetBrains Mono"/>
                <a:ea typeface="JetBrains Mono"/>
              </a:rPr>
              <a:t>③</a:t>
            </a:r>
            <a:endParaRPr lang="en-US" sz="2000" noProof="1"/>
          </a:p>
        </p:txBody>
      </p:sp>
      <p:sp>
        <p:nvSpPr>
          <p:cNvPr id="15" name="fix3"/>
          <p:cNvSpPr txBox="1"/>
          <p:nvPr/>
        </p:nvSpPr>
        <p:spPr>
          <a:xfrm>
            <a:off x="6908800" y="4343400"/>
            <a:ext cx="457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全局排序换思路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改「先聚合频数表、再查表还原排名」，绕开单分区 shuffle——别让一个人干十个人的活。</a:t>
            </a:r>
            <a:endParaRPr lang="en-US" sz="1200" noProof="1"/>
          </a:p>
        </p:txBody>
      </p:sp>
      <p:sp>
        <p:nvSpPr>
          <p:cNvPr id="16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7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09 / 20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03 · 算法正确性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你的 Gini 准吗？三套算法交叉验证，偏差 </a:t>
            </a:r>
            <a:r>
              <a:rPr lang="en-US" sz="2600" noProof="1">
                <a:solidFill>
                  <a:srgbClr val="4DA3FF"/>
                </a:solidFill>
                <a:latin typeface="JetBrains Mono"/>
                <a:ea typeface="JetBrains Mono"/>
              </a:rPr>
              <a:t>≤ 4.4e-16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graphicFrame>
        <p:nvGraphicFramePr>
          <p:cNvPr id="5" name="cv-table"/>
          <p:cNvGraphicFramePr>
            <a:graphicFrameLocks noGrp="1"/>
          </p:cNvGraphicFramePr>
          <p:nvPr/>
        </p:nvGraphicFramePr>
        <p:xfrm>
          <a:off x="711200" y="1727200"/>
          <a:ext cx="6350000" cy="2133600"/>
        </p:xfrm>
        <a:graphic>
          <a:graphicData uri="http://schemas.openxmlformats.org/drawingml/2006/table">
            <a:tbl>
              <a:tblPr/>
              <a:tblGrid>
                <a:gridCol w="2667000"/>
                <a:gridCol w="2286000"/>
                <a:gridCol w="1397000"/>
              </a:tblGrid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9CC8FF"/>
                          </a:solidFill>
                          <a:latin typeface="Times New Roman"/>
                          <a:ea typeface="Times New Roman"/>
                        </a:rPr>
                        <a:t>独立口径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9CC8FF"/>
                          </a:solidFill>
                          <a:latin typeface="Times New Roman"/>
                          <a:ea typeface="Times New Roman"/>
                        </a:rPr>
                        <a:t>计算方式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9CC8FF"/>
                          </a:solidFill>
                          <a:latin typeface="Times New Roman"/>
                          <a:ea typeface="Times New Roman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秩式公式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秩次加权求和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7AB5A"/>
                          </a:solidFill>
                          <a:latin typeface="Times New Roman"/>
                          <a:ea typeface="Times New Roman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频数加权秩公式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先聚合频数，精确计算（非采样）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7AB5A"/>
                          </a:solidFill>
                          <a:latin typeface="Times New Roman"/>
                          <a:ea typeface="Times New Roman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E8EEF7"/>
                          </a:solidFill>
                          <a:latin typeface="Times New Roman"/>
                          <a:ea typeface="Times New Roman"/>
                        </a:rPr>
                        <a:t>Lorenz 梯形积分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曲线下面积积分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7AB5A"/>
                          </a:solidFill>
                          <a:latin typeface="Times New Roman"/>
                          <a:ea typeface="Times New Roman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</a:tbl>
          </a:graphicData>
        </a:graphic>
      </p:graphicFrame>
      <p:sp>
        <p:nvSpPr>
          <p:cNvPr id="6" name="cv-note"/>
          <p:cNvSpPr txBox="1"/>
          <p:nvPr/>
        </p:nvSpPr>
        <p:spPr>
          <a:xfrm>
            <a:off x="711200" y="40132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三种口径最大偏差 </a:t>
            </a:r>
            <a:r>
              <a:rPr lang="en-US" sz="1200" noProof="1">
                <a:solidFill>
                  <a:srgbClr val="4DA3FF"/>
                </a:solidFill>
                <a:latin typeface="JetBrains Mono"/>
                <a:ea typeface="JetBrains Mono"/>
              </a:rPr>
              <a:t>≤ 4.4e-16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——浮点误差量级，说明算的是同一个东西。</a:t>
            </a:r>
            <a:endParaRPr lang="en-US" sz="1200" noProof="1"/>
          </a:p>
        </p:txBody>
      </p:sp>
      <p:sp>
        <p:nvSpPr>
          <p:cNvPr id="7" name="dual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711200" y="482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8" name="dual-text"/>
          <p:cNvSpPr txBox="1"/>
          <p:nvPr/>
        </p:nvSpPr>
        <p:spPr>
          <a:xfrm>
            <a:off x="1041400" y="4775200"/>
            <a:ext cx="6019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两种下载口径严格区分：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近 30 天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vs 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历史累计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，相差 </a:t>
            </a:r>
            <a:r>
              <a:rPr lang="en-US" sz="1200" noProof="1" b="1">
                <a:solidFill>
                  <a:srgbClr val="E3B341"/>
                </a:solidFill>
                <a:latin typeface="JetBrains Mono"/>
                <a:ea typeface="JetBrains Mono"/>
              </a:rPr>
              <a:t>27 倍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，绝不混着用。</a:t>
            </a:r>
            <a:endParaRPr lang="en-US" sz="1200" noProof="1"/>
          </a:p>
        </p:txBody>
      </p:sp>
      <p:sp>
        <p:nvSpPr>
          <p:cNvPr id="9" name="badge1-box"/>
          <p:cNvSpPr/>
          <p:nvPr/>
        </p:nvSpPr>
        <p:spPr>
          <a:xfrm>
            <a:off x="7874000" y="1727200"/>
            <a:ext cx="3606800" cy="1270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10" name="badge1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8178800" y="205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1" name="badge1-num"/>
          <p:cNvSpPr txBox="1"/>
          <p:nvPr/>
        </p:nvSpPr>
        <p:spPr>
          <a:xfrm>
            <a:off x="8712200" y="1930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E8EEF7"/>
                </a:solidFill>
                <a:latin typeface="JetBrains Mono"/>
                <a:ea typeface="JetBrains Mono"/>
              </a:rPr>
              <a:t>56</a:t>
            </a:r>
            <a:endParaRPr lang="en-US" sz="2400" noProof="1"/>
          </a:p>
        </p:txBody>
      </p:sp>
      <p:sp>
        <p:nvSpPr>
          <p:cNvPr id="12" name="badge1-label"/>
          <p:cNvSpPr txBox="1"/>
          <p:nvPr/>
        </p:nvSpPr>
        <p:spPr>
          <a:xfrm>
            <a:off x="8712200" y="2413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项契约测试，全部通过</a:t>
            </a:r>
            <a:endParaRPr lang="en-US" sz="1200" noProof="1"/>
          </a:p>
        </p:txBody>
      </p:sp>
      <p:sp>
        <p:nvSpPr>
          <p:cNvPr id="13" name="badge2-box"/>
          <p:cNvSpPr/>
          <p:nvPr/>
        </p:nvSpPr>
        <p:spPr>
          <a:xfrm>
            <a:off x="7874000" y="3251200"/>
            <a:ext cx="3606800" cy="1270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</a:ln>
        </p:spPr>
      </p:sp>
      <p:sp>
        <p:nvSpPr>
          <p:cNvPr id="14" name="badge2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8178800" y="3581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5" name="badge2-num"/>
          <p:cNvSpPr txBox="1"/>
          <p:nvPr/>
        </p:nvSpPr>
        <p:spPr>
          <a:xfrm>
            <a:off x="8712200" y="3454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E8EEF7"/>
                </a:solidFill>
                <a:latin typeface="JetBrains Mono"/>
                <a:ea typeface="JetBrains Mono"/>
              </a:rPr>
              <a:t>114</a:t>
            </a:r>
            <a:endParaRPr lang="en-US" sz="2400" noProof="1"/>
          </a:p>
        </p:txBody>
      </p:sp>
      <p:sp>
        <p:nvSpPr>
          <p:cNvPr id="16" name="badge2-label"/>
          <p:cNvSpPr txBox="1"/>
          <p:nvPr/>
        </p:nvSpPr>
        <p:spPr>
          <a:xfrm>
            <a:off x="8712200" y="393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项一致性检查，0 失败</a:t>
            </a:r>
            <a:endParaRPr lang="en-US" sz="1200" noProof="1"/>
          </a:p>
        </p:txBody>
      </p:sp>
      <p:sp>
        <p:nvSpPr>
          <p:cNvPr id="17" name="verdict"/>
          <p:cNvSpPr txBox="1"/>
          <p:nvPr/>
        </p:nvSpPr>
        <p:spPr>
          <a:xfrm>
            <a:off x="7874000" y="4826000"/>
            <a:ext cx="360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数字不是估的，是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精确算的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——还用三套独立算法互相验证。</a:t>
            </a:r>
            <a:endParaRPr lang="en-US" sz="1200" noProof="1"/>
          </a:p>
        </p:txBody>
      </p:sp>
      <p:sp>
        <p:nvSpPr>
          <p:cNvPr id="18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9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10 / 20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04 · RQ1 生态演化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4DA3FF"/>
                </a:solidFill>
                <a:latin typeface="JetBrains Mono"/>
                <a:ea typeface="JetBrains Mono"/>
              </a:rPr>
              <a:t>2024-09</a:t>
            </a: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，开源模型「大爆发」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peak-label"/>
          <p:cNvSpPr txBox="1"/>
          <p:nvPr/>
        </p:nvSpPr>
        <p:spPr>
          <a:xfrm>
            <a:off x="711200" y="1905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PEAK MONTH</a:t>
            </a:r>
            <a:endParaRPr lang="en-US" sz="1100" noProof="1"/>
          </a:p>
        </p:txBody>
      </p:sp>
      <p:sp>
        <p:nvSpPr>
          <p:cNvPr id="6" name="peak-month"/>
          <p:cNvSpPr txBox="1"/>
          <p:nvPr/>
        </p:nvSpPr>
        <p:spPr>
          <a:xfrm>
            <a:off x="711200" y="21844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E8EEF7"/>
                </a:solidFill>
                <a:latin typeface="JetBrains Mono"/>
                <a:ea typeface="JetBrains Mono"/>
              </a:rPr>
              <a:t>2024-09</a:t>
            </a:r>
            <a:endParaRPr lang="en-US" sz="4000" noProof="1"/>
          </a:p>
        </p:txBody>
      </p:sp>
      <p:sp>
        <p:nvSpPr>
          <p:cNvPr id="7" name="peak-num-label"/>
          <p:cNvSpPr txBox="1"/>
          <p:nvPr/>
        </p:nvSpPr>
        <p:spPr>
          <a:xfrm>
            <a:off x="711200" y="3175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NEW MODELS THAT MONTH</a:t>
            </a:r>
            <a:endParaRPr lang="en-US" sz="1100" noProof="1"/>
          </a:p>
        </p:txBody>
      </p:sp>
      <p:sp>
        <p:nvSpPr>
          <p:cNvPr id="8" name="peak-num"/>
          <p:cNvSpPr txBox="1"/>
          <p:nvPr/>
        </p:nvSpPr>
        <p:spPr>
          <a:xfrm>
            <a:off x="711200" y="3454400"/>
            <a:ext cx="406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4DA3FF"/>
                </a:solidFill>
                <a:latin typeface="JetBrains Mono"/>
                <a:ea typeface="JetBrains Mono"/>
              </a:rPr>
              <a:t>125,030</a:t>
            </a:r>
            <a:endParaRPr lang="en-US" sz="4000" noProof="1"/>
          </a:p>
        </p:txBody>
      </p:sp>
      <p:sp>
        <p:nvSpPr>
          <p:cNvPr id="9" name="peak-sub"/>
          <p:cNvSpPr txBox="1"/>
          <p:nvPr/>
        </p:nvSpPr>
        <p:spPr>
          <a:xfrm>
            <a:off x="711200" y="42418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个模型，单月新增历史最高</a:t>
            </a:r>
            <a:endParaRPr lang="en-US" sz="1300" noProof="1"/>
          </a:p>
        </p:txBody>
      </p:sp>
      <p:sp>
        <p:nvSpPr>
          <p:cNvPr id="10" name="honest-icon"/>
          <p:cNvSpPr/>
          <p:nvPr>
            <p:extLst>
              <p:ext uri="{F5677B7D-0D2A-4D9B-9A5C-6D8D7D0E5A5D}">
                <pptd:icon encoding="base64url">eyJpY29uTmFtZSI6ImZhczpjaXJjbGUtZXhjbGFtYXRpb24ifQ</pptd:icon>
              </p:ext>
            </p:extLst>
          </p:nvPr>
        </p:nvSpPr>
        <p:spPr>
          <a:xfrm>
            <a:off x="711200" y="5029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11" name="honest"/>
          <p:cNvSpPr txBox="1"/>
          <p:nvPr/>
        </p:nvSpPr>
        <p:spPr>
          <a:xfrm>
            <a:off x="1016000" y="4978400"/>
            <a:ext cx="406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诚实交代：任务标签缺 65.6%；首月存在时间戳异常——只当观测现象，不瞎编原因。</a:t>
            </a:r>
            <a:endParaRPr lang="en-US" sz="1100" noProof="1"/>
          </a:p>
        </p:txBody>
      </p:sp>
      <p:graphicFrame>
        <p:nvGraphicFramePr>
          <p:cNvPr id="12" name="chart-year"/>
          <p:cNvGraphicFramePr/>
          <p:nvPr/>
        </p:nvGraphicFramePr>
        <p:xfrm>
          <a:off x="5461000" y="1727200"/>
          <a:ext cx="60198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3" name="chart-cap"/>
          <p:cNvSpPr txBox="1"/>
          <p:nvPr/>
        </p:nvSpPr>
        <p:spPr>
          <a:xfrm>
            <a:off x="5461000" y="5613400"/>
            <a:ext cx="601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年度新增模型数（万）：10 → 31.8 → 74 → 110，一年比一年多</a:t>
            </a:r>
            <a:endParaRPr lang="en-US" sz="900" noProof="1"/>
          </a:p>
        </p:txBody>
      </p:sp>
      <p:sp>
        <p:nvSpPr>
          <p:cNvPr id="1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11 / 20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04 · RQ2 注意力集中与长尾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1%</a:t>
            </a:r>
            <a:r>
              <a:rPr lang="en-US" sz="3000" noProof="1">
                <a:solidFill>
                  <a:srgbClr val="E8EEF7"/>
                </a:solidFill>
                <a:latin typeface="Alimama ShuHeiTi"/>
                <a:ea typeface="Alimama ShuHeiTi"/>
              </a:rPr>
              <a:t> 的模型，拿走了 </a:t>
            </a: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97%</a:t>
            </a:r>
            <a:r>
              <a:rPr lang="en-US" sz="3000" noProof="1">
                <a:solidFill>
                  <a:srgbClr val="E8EEF7"/>
                </a:solidFill>
                <a:latin typeface="Alimama ShuHeiTi"/>
                <a:ea typeface="Alimama ShuHeiTi"/>
              </a:rPr>
              <a:t> 的下载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share-label"/>
          <p:cNvSpPr txBox="1"/>
          <p:nvPr/>
        </p:nvSpPr>
        <p:spPr>
          <a:xfrm>
            <a:off x="711200" y="177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8C99AD"/>
                </a:solidFill>
                <a:latin typeface="JetBrains Mono"/>
                <a:ea typeface="JetBrains Mono"/>
              </a:rPr>
              <a:t>近 30 天下载量份额分布</a:t>
            </a:r>
            <a:endParaRPr lang="en-US" sz="1000" noProof="1"/>
          </a:p>
        </p:txBody>
      </p:sp>
      <p:sp>
        <p:nvSpPr>
          <p:cNvPr id="6" name="share-top"/>
          <p:cNvSpPr/>
          <p:nvPr/>
        </p:nvSpPr>
        <p:spPr>
          <a:xfrm>
            <a:off x="711200" y="2082800"/>
            <a:ext cx="10464800" cy="5842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7" name="share-rest"/>
          <p:cNvSpPr/>
          <p:nvPr/>
        </p:nvSpPr>
        <p:spPr>
          <a:xfrm>
            <a:off x="11176000" y="2082800"/>
            <a:ext cx="304800" cy="584200"/>
          </a:xfrm>
          <a:prstGeom prst="rect">
            <a:avLst/>
          </a:prstGeom>
          <a:solidFill>
            <a:srgbClr val="1A2438"/>
          </a:solidFill>
          <a:ln w="12700">
            <a:solidFill>
              <a:srgbClr val="27324A"/>
            </a:solidFill>
          </a:ln>
        </p:spPr>
      </p:sp>
      <p:sp>
        <p:nvSpPr>
          <p:cNvPr id="8" name="share-top-label"/>
          <p:cNvSpPr txBox="1"/>
          <p:nvPr/>
        </p:nvSpPr>
        <p:spPr>
          <a:xfrm>
            <a:off x="965200" y="2082800"/>
            <a:ext cx="635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0C1220"/>
                </a:solidFill>
                <a:latin typeface="MiSans"/>
                <a:ea typeface="MiSans"/>
              </a:rPr>
              <a:t>Top 1% · </a:t>
            </a:r>
            <a:r>
              <a:rPr lang="en-US" sz="1400" noProof="1" b="1">
                <a:solidFill>
                  <a:srgbClr val="0C1220"/>
                </a:solidFill>
                <a:latin typeface="JetBrains Mono"/>
                <a:ea typeface="JetBrains Mono"/>
              </a:rPr>
              <a:t>97.13%</a:t>
            </a:r>
            <a:endParaRPr lang="en-US" sz="1400" noProof="1"/>
          </a:p>
        </p:txBody>
      </p:sp>
      <p:sp>
        <p:nvSpPr>
          <p:cNvPr id="9" name="share-rest-label"/>
          <p:cNvSpPr txBox="1"/>
          <p:nvPr/>
        </p:nvSpPr>
        <p:spPr>
          <a:xfrm>
            <a:off x="7112000" y="27686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B6A82"/>
                </a:solidFill>
                <a:latin typeface="MiSans"/>
                <a:ea typeface="MiSans"/>
              </a:rPr>
              <a:t>其余 99% · 仅 2.87%</a:t>
            </a:r>
            <a:endParaRPr lang="en-US" sz="1000" noProof="1"/>
          </a:p>
        </p:txBody>
      </p:sp>
      <p:sp>
        <p:nvSpPr>
          <p:cNvPr id="10" name="st1-label"/>
          <p:cNvSpPr txBox="1"/>
          <p:nvPr/>
        </p:nvSpPr>
        <p:spPr>
          <a:xfrm>
            <a:off x="711200" y="3403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GINI · 近 30 天</a:t>
            </a:r>
            <a:endParaRPr lang="en-US" sz="1000" noProof="1"/>
          </a:p>
        </p:txBody>
      </p:sp>
      <p:sp>
        <p:nvSpPr>
          <p:cNvPr id="11" name="st1-num"/>
          <p:cNvSpPr txBox="1"/>
          <p:nvPr/>
        </p:nvSpPr>
        <p:spPr>
          <a:xfrm>
            <a:off x="711200" y="3683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>
                <a:solidFill>
                  <a:srgbClr val="E8EEF7"/>
                </a:solidFill>
                <a:latin typeface="JetBrains Mono"/>
                <a:ea typeface="JetBrains Mono"/>
              </a:rPr>
              <a:t>0.995</a:t>
            </a:r>
            <a:endParaRPr lang="en-US" sz="3600" noProof="1"/>
          </a:p>
        </p:txBody>
      </p:sp>
      <p:sp>
        <p:nvSpPr>
          <p:cNvPr id="12" name="st1-sub"/>
          <p:cNvSpPr txBox="1"/>
          <p:nvPr/>
        </p:nvSpPr>
        <p:spPr>
          <a:xfrm>
            <a:off x="711200" y="43942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越接近 1 越集中，这几乎顶格了</a:t>
            </a:r>
            <a:endParaRPr lang="en-US" sz="1100" noProof="1"/>
          </a:p>
        </p:txBody>
      </p:sp>
      <p:sp>
        <p:nvSpPr>
          <p:cNvPr id="13" name="st-div1"/>
          <p:cNvSpPr/>
          <p:nvPr/>
        </p:nvSpPr>
        <p:spPr>
          <a:xfrm>
            <a:off x="4394200" y="3403600"/>
            <a:ext cx="12700" cy="13970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4" name="st2-label"/>
          <p:cNvSpPr txBox="1"/>
          <p:nvPr/>
        </p:nvSpPr>
        <p:spPr>
          <a:xfrm>
            <a:off x="4775200" y="3403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GINI · 历史累计</a:t>
            </a:r>
            <a:endParaRPr lang="en-US" sz="1000" noProof="1"/>
          </a:p>
        </p:txBody>
      </p:sp>
      <p:sp>
        <p:nvSpPr>
          <p:cNvPr id="15" name="st2-num"/>
          <p:cNvSpPr txBox="1"/>
          <p:nvPr/>
        </p:nvSpPr>
        <p:spPr>
          <a:xfrm>
            <a:off x="4775200" y="3683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>
                <a:solidFill>
                  <a:srgbClr val="E8EEF7"/>
                </a:solidFill>
                <a:latin typeface="JetBrains Mono"/>
                <a:ea typeface="JetBrains Mono"/>
              </a:rPr>
              <a:t>0.998</a:t>
            </a:r>
            <a:endParaRPr lang="en-US" sz="3600" noProof="1"/>
          </a:p>
        </p:txBody>
      </p:sp>
      <p:sp>
        <p:nvSpPr>
          <p:cNvPr id="16" name="st2-sub"/>
          <p:cNvSpPr txBox="1"/>
          <p:nvPr/>
        </p:nvSpPr>
        <p:spPr>
          <a:xfrm>
            <a:off x="4775200" y="43942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累计口径下 Top-1% 拿走 98.70%</a:t>
            </a:r>
            <a:endParaRPr lang="en-US" sz="1100" noProof="1"/>
          </a:p>
        </p:txBody>
      </p:sp>
      <p:sp>
        <p:nvSpPr>
          <p:cNvPr id="17" name="st-div2"/>
          <p:cNvSpPr/>
          <p:nvPr/>
        </p:nvSpPr>
        <p:spPr>
          <a:xfrm>
            <a:off x="8458200" y="3403600"/>
            <a:ext cx="12700" cy="13970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8" name="st3-label"/>
          <p:cNvSpPr txBox="1"/>
          <p:nvPr/>
        </p:nvSpPr>
        <p:spPr>
          <a:xfrm>
            <a:off x="8839200" y="3403600"/>
            <a:ext cx="266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F47067"/>
                </a:solidFill>
                <a:latin typeface="JetBrains Mono"/>
                <a:ea typeface="JetBrains Mono"/>
              </a:rPr>
              <a:t>零下载模型占比</a:t>
            </a:r>
            <a:endParaRPr lang="en-US" sz="1000" noProof="1"/>
          </a:p>
        </p:txBody>
      </p:sp>
      <p:sp>
        <p:nvSpPr>
          <p:cNvPr id="19" name="st3-num"/>
          <p:cNvSpPr txBox="1"/>
          <p:nvPr/>
        </p:nvSpPr>
        <p:spPr>
          <a:xfrm>
            <a:off x="8839200" y="3683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>
                <a:solidFill>
                  <a:srgbClr val="F47067"/>
                </a:solidFill>
                <a:latin typeface="JetBrains Mono"/>
                <a:ea typeface="JetBrains Mono"/>
              </a:rPr>
              <a:t>43%</a:t>
            </a:r>
            <a:endParaRPr lang="en-US" sz="3600" noProof="1"/>
          </a:p>
        </p:txBody>
      </p:sp>
      <p:sp>
        <p:nvSpPr>
          <p:cNvPr id="20" name="st3-sub"/>
          <p:cNvSpPr txBox="1"/>
          <p:nvPr/>
        </p:nvSpPr>
        <p:spPr>
          <a:xfrm>
            <a:off x="8839200" y="43942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辛苦上传了模型，结果一个人都没下</a:t>
            </a:r>
            <a:endParaRPr lang="en-US" sz="1100" noProof="1"/>
          </a:p>
        </p:txBody>
      </p:sp>
      <p:sp>
        <p:nvSpPr>
          <p:cNvPr id="21" name="bottom-rule"/>
          <p:cNvSpPr/>
          <p:nvPr/>
        </p:nvSpPr>
        <p:spPr>
          <a:xfrm>
            <a:off x="711200" y="53848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22" name="analogy"/>
          <p:cNvSpPr txBox="1"/>
          <p:nvPr/>
        </p:nvSpPr>
        <p:spPr>
          <a:xfrm>
            <a:off x="711200" y="5588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比「二八定律」还狠——这是 </a:t>
            </a:r>
            <a:r>
              <a:rPr lang="en-US" sz="1300" noProof="1" b="1">
                <a:solidFill>
                  <a:srgbClr val="4DA3FF"/>
                </a:solidFill>
                <a:latin typeface="MiSans"/>
                <a:ea typeface="MiSans"/>
              </a:rPr>
              <a:t>「一九九八」</a:t>
            </a:r>
            <a:r>
              <a:rPr lang="en-US" sz="1300" noProof="1">
                <a:solidFill>
                  <a:srgbClr val="E8EEF7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23" name="rigor"/>
          <p:cNvSpPr txBox="1"/>
          <p:nvPr/>
        </p:nvSpPr>
        <p:spPr>
          <a:xfrm>
            <a:off x="711200" y="594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严谨声明：只描述长尾形态，不宣称它一定是幂律分布（未做严格拟合）。</a:t>
            </a:r>
            <a:endParaRPr lang="en-US" sz="1100" noProof="1"/>
          </a:p>
        </p:txBody>
      </p:sp>
      <p:sp>
        <p:nvSpPr>
          <p:cNvPr id="2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12 / 20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1" animBg="1"/>
    </p:bldLst>
  </p:timing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04 · RQ3 模型谱系网络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模型界的 fork 链：一个底座，</a:t>
            </a:r>
            <a:r>
              <a:rPr lang="en-US" sz="2600" noProof="1">
                <a:solidFill>
                  <a:srgbClr val="4DA3FF"/>
                </a:solidFill>
                <a:latin typeface="Alimama ShuHeiTi"/>
                <a:ea typeface="Alimama ShuHeiTi"/>
              </a:rPr>
              <a:t>4 万多个「徒子徒孙」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hub-l1"/>
          <p:cNvSpPr/>
          <p:nvPr>
            <p:extLst>
              <p:ext uri="{F5677B7D-0D2A-4D9B-9A5C-6D8D7D0E5A5D}">
                <pptd:line encoding="base64url">eyJ2aWV3Qm94IjpbMTIwLDExMF0sInBvaW50cyI6IjAsMCAxMjAsMTEwIn0</pptd:line>
              </p:ext>
            </p:extLst>
          </p:nvPr>
        </p:nvSpPr>
        <p:spPr>
          <a:xfrm>
            <a:off x="1524000" y="2159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0" y="0"/>
                </a:moveTo>
                <a:lnTo>
                  <a:pt x="120" y="11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6" name="hub-l2"/>
          <p:cNvSpPr/>
          <p:nvPr>
            <p:extLst>
              <p:ext uri="{F5677B7D-0D2A-4D9B-9A5C-6D8D7D0E5A5D}">
                <pptd:line encoding="base64url">eyJ2aWV3Qm94IjpbMTIwLDMwXSwicG9pbnRzIjoiMCwzMCAxMjAsMCJ9</pptd:line>
              </p:ext>
            </p:extLst>
          </p:nvPr>
        </p:nvSpPr>
        <p:spPr>
          <a:xfrm>
            <a:off x="1524000" y="35560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20" h="30">
                <a:moveTo>
                  <a:pt x="0" y="30"/>
                </a:moveTo>
                <a:lnTo>
                  <a:pt x="120" y="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7" name="hub-l3"/>
          <p:cNvSpPr/>
          <p:nvPr>
            <p:extLst>
              <p:ext uri="{F5677B7D-0D2A-4D9B-9A5C-6D8D7D0E5A5D}">
                <pptd:line encoding="base64url">eyJ2aWV3Qm94IjpbMTIwLDExMF0sInBvaW50cyI6IjAsMTEwIDEyMCwwIn0</pptd:line>
              </p:ext>
            </p:extLst>
          </p:nvPr>
        </p:nvSpPr>
        <p:spPr>
          <a:xfrm>
            <a:off x="1524000" y="3937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0" y="110"/>
                </a:moveTo>
                <a:lnTo>
                  <a:pt x="120" y="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8" name="hub-l4"/>
          <p:cNvSpPr/>
          <p:nvPr>
            <p:extLst>
              <p:ext uri="{F5677B7D-0D2A-4D9B-9A5C-6D8D7D0E5A5D}">
                <pptd:line encoding="base64url">eyJ2aWV3Qm94IjpbMTIwLDExMF0sInBvaW50cyI6IjEyMCwwIDAsMTEwIn0</pptd:line>
              </p:ext>
            </p:extLst>
          </p:nvPr>
        </p:nvSpPr>
        <p:spPr>
          <a:xfrm>
            <a:off x="4064000" y="2159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120" y="0"/>
                </a:moveTo>
                <a:lnTo>
                  <a:pt x="0" y="11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9" name="hub-l5"/>
          <p:cNvSpPr/>
          <p:nvPr>
            <p:extLst>
              <p:ext uri="{F5677B7D-0D2A-4D9B-9A5C-6D8D7D0E5A5D}">
                <pptd:line encoding="base64url">eyJ2aWV3Qm94IjpbMTIwLDMwXSwicG9pbnRzIjoiMTIwLDMwIDAsMCJ9</pptd:line>
              </p:ext>
            </p:extLst>
          </p:nvPr>
        </p:nvSpPr>
        <p:spPr>
          <a:xfrm>
            <a:off x="4064000" y="35560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20" h="30">
                <a:moveTo>
                  <a:pt x="120" y="3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10" name="hub-l6"/>
          <p:cNvSpPr/>
          <p:nvPr>
            <p:extLst>
              <p:ext uri="{F5677B7D-0D2A-4D9B-9A5C-6D8D7D0E5A5D}">
                <pptd:line encoding="base64url">eyJ2aWV3Qm94IjpbMTIwLDExMF0sInBvaW50cyI6IjEyMCwxMTAgMCwwIn0</pptd:line>
              </p:ext>
            </p:extLst>
          </p:nvPr>
        </p:nvSpPr>
        <p:spPr>
          <a:xfrm>
            <a:off x="4064000" y="3937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120" y="11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11" name="hub-l7"/>
          <p:cNvSpPr/>
          <p:nvPr>
            <p:extLst>
              <p:ext uri="{F5677B7D-0D2A-4D9B-9A5C-6D8D7D0E5A5D}">
                <pptd:line encoding="base64url">eyJ2aWV3Qm94IjpbMSwxNTBdLCJwb2ludHMiOiIwLDE1MCAwLDAifQ</pptd:line>
              </p:ext>
            </p:extLst>
          </p:nvPr>
        </p:nvSpPr>
        <p:spPr>
          <a:xfrm>
            <a:off x="3556000" y="1651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15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12" name="hub-l8"/>
          <p:cNvSpPr/>
          <p:nvPr>
            <p:extLst>
              <p:ext uri="{F5677B7D-0D2A-4D9B-9A5C-6D8D7D0E5A5D}">
                <pptd:line encoding="base64url">eyJ2aWV3Qm94IjpbMSwxNTBdLCJwb2ludHMiOiIwLDAgMCwxNTAifQ</pptd:line>
              </p:ext>
            </p:extLst>
          </p:nvPr>
        </p:nvSpPr>
        <p:spPr>
          <a:xfrm>
            <a:off x="3556000" y="3937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12700" cap="rnd">
            <a:solidFill>
              <a:srgbClr val="1B3A66"/>
            </a:solidFill>
            <a:round/>
          </a:ln>
        </p:spPr>
      </p:sp>
      <p:sp>
        <p:nvSpPr>
          <p:cNvPr id="13" name="hub-center"/>
          <p:cNvSpPr/>
          <p:nvPr/>
        </p:nvSpPr>
        <p:spPr>
          <a:xfrm>
            <a:off x="3048000" y="3124200"/>
            <a:ext cx="1016000" cy="1016000"/>
          </a:xfrm>
          <a:prstGeom prst="ellipse">
            <a:avLst/>
          </a:prstGeom>
          <a:solidFill>
            <a:srgbClr val="4DA3FF"/>
          </a:solidFill>
          <a:ln>
            <a:noFill/>
          </a:ln>
          <a:effectLst>
            <a:outerShdw blurRad="228600" dist="0" dir="0" sx="100000" sy="100000" kx="0" ky="0" algn="bl" rotWithShape="0">
              <a:srgbClr val="4DA3FF">
                <a:alpha val="33333"/>
              </a:srgbClr>
            </a:outerShdw>
          </a:effectLst>
        </p:spPr>
      </p:sp>
      <p:sp>
        <p:nvSpPr>
          <p:cNvPr id="14" name="hub-label"/>
          <p:cNvSpPr txBox="1"/>
          <p:nvPr/>
        </p:nvSpPr>
        <p:spPr>
          <a:xfrm>
            <a:off x="2286000" y="4267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E8EEF7"/>
                </a:solidFill>
                <a:latin typeface="JetBrains Mono"/>
                <a:ea typeface="JetBrains Mono"/>
              </a:rPr>
              <a:t>FLUX.1-dev</a:t>
            </a:r>
            <a:endParaRPr lang="en-US" sz="1300" noProof="1"/>
          </a:p>
        </p:txBody>
      </p:sp>
      <p:sp>
        <p:nvSpPr>
          <p:cNvPr id="15" name="hub-sub"/>
          <p:cNvSpPr txBox="1"/>
          <p:nvPr/>
        </p:nvSpPr>
        <p:spPr>
          <a:xfrm>
            <a:off x="2286000" y="4521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C99AD"/>
                </a:solidFill>
                <a:latin typeface="MiSans"/>
                <a:ea typeface="MiSans"/>
              </a:rPr>
              <a:t>最大底座 · 直接派生 43,419 个</a:t>
            </a:r>
            <a:endParaRPr lang="en-US" sz="1000" noProof="1"/>
          </a:p>
        </p:txBody>
      </p:sp>
      <p:sp>
        <p:nvSpPr>
          <p:cNvPr id="16" name="sat1"/>
          <p:cNvSpPr/>
          <p:nvPr/>
        </p:nvSpPr>
        <p:spPr>
          <a:xfrm>
            <a:off x="1371600" y="2006600"/>
            <a:ext cx="304800" cy="30480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4DA3FF"/>
            </a:solidFill>
          </a:ln>
        </p:spPr>
      </p:sp>
      <p:sp>
        <p:nvSpPr>
          <p:cNvPr id="17" name="sat2"/>
          <p:cNvSpPr/>
          <p:nvPr/>
        </p:nvSpPr>
        <p:spPr>
          <a:xfrm>
            <a:off x="1371600" y="3479800"/>
            <a:ext cx="228600" cy="22860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9CC8FF"/>
            </a:solidFill>
          </a:ln>
        </p:spPr>
      </p:sp>
      <p:sp>
        <p:nvSpPr>
          <p:cNvPr id="18" name="sat3"/>
          <p:cNvSpPr/>
          <p:nvPr/>
        </p:nvSpPr>
        <p:spPr>
          <a:xfrm>
            <a:off x="1371600" y="5207000"/>
            <a:ext cx="254000" cy="25400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9CC8FF"/>
            </a:solidFill>
          </a:ln>
        </p:spPr>
      </p:sp>
      <p:sp>
        <p:nvSpPr>
          <p:cNvPr id="19" name="sat4"/>
          <p:cNvSpPr/>
          <p:nvPr/>
        </p:nvSpPr>
        <p:spPr>
          <a:xfrm>
            <a:off x="5435600" y="2006600"/>
            <a:ext cx="304800" cy="30480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4DA3FF"/>
            </a:solidFill>
          </a:ln>
        </p:spPr>
      </p:sp>
      <p:sp>
        <p:nvSpPr>
          <p:cNvPr id="20" name="sat5"/>
          <p:cNvSpPr/>
          <p:nvPr/>
        </p:nvSpPr>
        <p:spPr>
          <a:xfrm>
            <a:off x="5511800" y="3479800"/>
            <a:ext cx="228600" cy="22860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9CC8FF"/>
            </a:solidFill>
          </a:ln>
        </p:spPr>
      </p:sp>
      <p:sp>
        <p:nvSpPr>
          <p:cNvPr id="21" name="sat6"/>
          <p:cNvSpPr/>
          <p:nvPr/>
        </p:nvSpPr>
        <p:spPr>
          <a:xfrm>
            <a:off x="5461000" y="5207000"/>
            <a:ext cx="254000" cy="25400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9CC8FF"/>
            </a:solidFill>
          </a:ln>
        </p:spPr>
      </p:sp>
      <p:sp>
        <p:nvSpPr>
          <p:cNvPr id="22" name="sat7"/>
          <p:cNvSpPr/>
          <p:nvPr/>
        </p:nvSpPr>
        <p:spPr>
          <a:xfrm>
            <a:off x="3454400" y="1549400"/>
            <a:ext cx="203200" cy="20320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9CC8FF"/>
            </a:solidFill>
          </a:ln>
        </p:spPr>
      </p:sp>
      <p:sp>
        <p:nvSpPr>
          <p:cNvPr id="23" name="sat8"/>
          <p:cNvSpPr/>
          <p:nvPr/>
        </p:nvSpPr>
        <p:spPr>
          <a:xfrm>
            <a:off x="3454400" y="5740400"/>
            <a:ext cx="203200" cy="20320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9CC8FF"/>
            </a:solidFill>
          </a:ln>
        </p:spPr>
      </p:sp>
      <p:sp>
        <p:nvSpPr>
          <p:cNvPr id="24" name="diagram-cap"/>
          <p:cNvSpPr txBox="1"/>
          <p:nvPr/>
        </p:nvSpPr>
        <p:spPr>
          <a:xfrm>
            <a:off x="1219200" y="61722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谱系网络结构示意（全图 93 万节点，此处为局部示意）</a:t>
            </a:r>
            <a:endParaRPr lang="en-US" sz="900" noProof="1"/>
          </a:p>
        </p:txBody>
      </p:sp>
      <p:sp>
        <p:nvSpPr>
          <p:cNvPr id="25" name="ns1-label"/>
          <p:cNvSpPr txBox="1"/>
          <p:nvPr/>
        </p:nvSpPr>
        <p:spPr>
          <a:xfrm>
            <a:off x="6604000" y="17780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血缘边 / 节点</a:t>
            </a:r>
            <a:endParaRPr lang="en-US" sz="1000" noProof="1"/>
          </a:p>
        </p:txBody>
      </p:sp>
      <p:sp>
        <p:nvSpPr>
          <p:cNvPr id="26" name="ns1-num"/>
          <p:cNvSpPr txBox="1"/>
          <p:nvPr/>
        </p:nvSpPr>
        <p:spPr>
          <a:xfrm>
            <a:off x="6604000" y="2032000"/>
            <a:ext cx="4876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E8EEF7"/>
                </a:solidFill>
                <a:latin typeface="JetBrains Mono"/>
                <a:ea typeface="JetBrains Mono"/>
              </a:rPr>
              <a:t>919,839 边 · 931,066 节点</a:t>
            </a:r>
            <a:endParaRPr lang="en-US" sz="2200" noProof="1"/>
          </a:p>
        </p:txBody>
      </p:sp>
      <p:sp>
        <p:nvSpPr>
          <p:cNvPr id="27" name="ns-rule1"/>
          <p:cNvSpPr/>
          <p:nvPr/>
        </p:nvSpPr>
        <p:spPr>
          <a:xfrm>
            <a:off x="6604000" y="2616200"/>
            <a:ext cx="48768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28" name="ns2-label"/>
          <p:cNvSpPr txBox="1"/>
          <p:nvPr/>
        </p:nvSpPr>
        <p:spPr>
          <a:xfrm>
            <a:off x="6604000" y="2819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四种派生关系</a:t>
            </a:r>
            <a:endParaRPr lang="en-US" sz="1000" noProof="1"/>
          </a:p>
        </p:txBody>
      </p:sp>
      <p:sp>
        <p:nvSpPr>
          <p:cNvPr id="29" name="ns2-num"/>
          <p:cNvSpPr txBox="1"/>
          <p:nvPr/>
        </p:nvSpPr>
        <p:spPr>
          <a:xfrm>
            <a:off x="6604000" y="30734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9CC8FF"/>
                </a:solidFill>
                <a:latin typeface="JetBrains Mono"/>
                <a:ea typeface="JetBrains Mono"/>
              </a:rPr>
              <a:t>finetune · adapter · quantized · merge</a:t>
            </a:r>
            <a:endParaRPr lang="en-US" sz="1300" noProof="1"/>
          </a:p>
        </p:txBody>
      </p:sp>
      <p:sp>
        <p:nvSpPr>
          <p:cNvPr id="30" name="ns2-sub"/>
          <p:cNvSpPr txBox="1"/>
          <p:nvPr/>
        </p:nvSpPr>
        <p:spPr>
          <a:xfrm>
            <a:off x="6604000" y="34036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微调 / 加适配器 / 量化压缩 / 合并——fork 之后要么改、要么并、要么加插件</a:t>
            </a:r>
            <a:endParaRPr lang="en-US" sz="1100" noProof="1"/>
          </a:p>
        </p:txBody>
      </p:sp>
      <p:sp>
        <p:nvSpPr>
          <p:cNvPr id="31" name="ns-rule2"/>
          <p:cNvSpPr/>
          <p:nvPr/>
        </p:nvSpPr>
        <p:spPr>
          <a:xfrm>
            <a:off x="6604000" y="3810000"/>
            <a:ext cx="48768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32" name="ns3-label"/>
          <p:cNvSpPr txBox="1"/>
          <p:nvPr/>
        </p:nvSpPr>
        <p:spPr>
          <a:xfrm>
            <a:off x="6604000" y="40132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图算法 6 步全跑完</a:t>
            </a:r>
            <a:endParaRPr lang="en-US" sz="1000" noProof="1"/>
          </a:p>
        </p:txBody>
      </p:sp>
      <p:sp>
        <p:nvSpPr>
          <p:cNvPr id="33" name="ns3-num"/>
          <p:cNvSpPr txBox="1"/>
          <p:nvPr/>
        </p:nvSpPr>
        <p:spPr>
          <a:xfrm>
            <a:off x="6604000" y="42672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连通分量 </a:t>
            </a:r>
            <a:r>
              <a:rPr lang="en-US" sz="1200" noProof="1">
                <a:solidFill>
                  <a:srgbClr val="E8EEF7"/>
                </a:solidFill>
                <a:latin typeface="JetBrains Mono"/>
                <a:ea typeface="JetBrains Mono"/>
              </a:rPr>
              <a:t>42,890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个 · 标签传播社区 </a:t>
            </a:r>
            <a:r>
              <a:rPr lang="en-US" sz="1200" noProof="1">
                <a:solidFill>
                  <a:srgbClr val="E8EEF7"/>
                </a:solidFill>
                <a:latin typeface="JetBrains Mono"/>
                <a:ea typeface="JetBrains Mono"/>
              </a:rPr>
              <a:t>126,431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个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PageRank 双向计算——图论课学的，这次真用上了</a:t>
            </a:r>
            <a:endParaRPr lang="en-US" sz="1200" noProof="1"/>
          </a:p>
        </p:txBody>
      </p:sp>
      <p:sp>
        <p:nvSpPr>
          <p:cNvPr id="34" name="ns-rule3"/>
          <p:cNvSpPr/>
          <p:nvPr/>
        </p:nvSpPr>
        <p:spPr>
          <a:xfrm>
            <a:off x="6604000" y="5181600"/>
            <a:ext cx="48768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35" name="ns4-icon"/>
          <p:cNvSpPr/>
          <p:nvPr>
            <p:extLst>
              <p:ext uri="{F5677B7D-0D2A-4D9B-9A5C-6D8D7D0E5A5D}">
                <pptd:icon encoding="base64url">eyJpY29uTmFtZSI6ImZhczpjaXJjbGUtZXhjbGFtYXRpb24ifQ</pptd:icon>
              </p:ext>
            </p:extLst>
          </p:nvPr>
        </p:nvSpPr>
        <p:spPr>
          <a:xfrm>
            <a:off x="6604000" y="538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36" name="ns4"/>
          <p:cNvSpPr txBox="1"/>
          <p:nvPr/>
        </p:nvSpPr>
        <p:spPr>
          <a:xfrm>
            <a:off x="6883400" y="5334000"/>
            <a:ext cx="4597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节点数取</a:t>
            </a:r>
            <a:r>
              <a:rPr lang="en-US" sz="1100" noProof="1">
                <a:solidFill>
                  <a:srgbClr val="E8EEF7"/>
                </a:solidFill>
                <a:latin typeface="MiSans"/>
                <a:ea typeface="MiSans"/>
              </a:rPr>
              <a:t>去重并集</a:t>
            </a: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 93 万——「底座数 + 衍生数」直接相加会重复计算 4 万多个，这个坑不少人会掉。</a:t>
            </a:r>
            <a:endParaRPr lang="en-US" sz="1100" noProof="1"/>
          </a:p>
        </p:txBody>
      </p:sp>
      <p:sp>
        <p:nvSpPr>
          <p:cNvPr id="37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38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13 / 20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04 · RQ4 统计关联（MLlib）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什么让模型更「火」？</a:t>
            </a:r>
            <a:r>
              <a:rPr lang="en-US" sz="2600" noProof="1">
                <a:solidFill>
                  <a:srgbClr val="4DA3FF"/>
                </a:solidFill>
                <a:latin typeface="Alimama ShuHeiTi"/>
                <a:ea typeface="Alimama ShuHeiTi"/>
              </a:rPr>
              <a:t>标签数量</a:t>
            </a: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排第一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imp-label"/>
          <p:cNvSpPr txBox="1"/>
          <p:nvPr/>
        </p:nvSpPr>
        <p:spPr>
          <a:xfrm>
            <a:off x="711200" y="16510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8C99AD"/>
                </a:solidFill>
                <a:latin typeface="JetBrains Mono"/>
                <a:ea typeface="JetBrains Mono"/>
              </a:rPr>
              <a:t>特征重要性 · RandomForest</a:t>
            </a:r>
            <a:endParaRPr lang="en-US" sz="1000" noProof="1"/>
          </a:p>
        </p:txBody>
      </p:sp>
      <p:graphicFrame>
        <p:nvGraphicFramePr>
          <p:cNvPr id="6" name="imp-chart"/>
          <p:cNvGraphicFramePr/>
          <p:nvPr/>
        </p:nvGraphicFramePr>
        <p:xfrm>
          <a:off x="711200" y="1905000"/>
          <a:ext cx="5461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7" name="imp-note"/>
          <p:cNvSpPr txBox="1"/>
          <p:nvPr/>
        </p:nvSpPr>
        <p:spPr>
          <a:xfrm>
            <a:off x="711200" y="48260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目标：预测 </a:t>
            </a: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log1p(下载量)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。标签写得越全，越容易被发现——</a:t>
            </a: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关联强度最高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</p:txBody>
      </p:sp>
      <p:sp>
        <p:nvSpPr>
          <p:cNvPr id="8" name="r2-label"/>
          <p:cNvSpPr txBox="1"/>
          <p:nvPr/>
        </p:nvSpPr>
        <p:spPr>
          <a:xfrm>
            <a:off x="6858000" y="16510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8C99AD"/>
                </a:solidFill>
                <a:latin typeface="JetBrains Mono"/>
                <a:ea typeface="JetBrains Mono"/>
              </a:rPr>
              <a:t>模型对比 · 测试集 R²</a:t>
            </a:r>
            <a:endParaRPr lang="en-US" sz="1000" noProof="1"/>
          </a:p>
        </p:txBody>
      </p:sp>
      <p:graphicFrame>
        <p:nvGraphicFramePr>
          <p:cNvPr id="9" name="r2-chart"/>
          <p:cNvGraphicFramePr/>
          <p:nvPr/>
        </p:nvGraphicFramePr>
        <p:xfrm>
          <a:off x="6858000" y="1905000"/>
          <a:ext cx="4622800" cy="254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" name="leak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6858000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1" name="leak-text"/>
          <p:cNvSpPr txBox="1"/>
          <p:nvPr/>
        </p:nvSpPr>
        <p:spPr>
          <a:xfrm>
            <a:off x="7162800" y="46736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先切训练 / 测试（</a:t>
            </a:r>
            <a:r>
              <a:rPr lang="en-US" sz="1100" noProof="1">
                <a:solidFill>
                  <a:srgbClr val="E8EEF7"/>
                </a:solidFill>
                <a:latin typeface="JetBrains Mono"/>
                <a:ea typeface="JetBrains Mono"/>
              </a:rPr>
              <a:t>seed=42，零交集</a:t>
            </a: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），绝不拿测试题练手。</a:t>
            </a:r>
            <a:endParaRPr lang="en-US" sz="1100" noProof="1"/>
          </a:p>
        </p:txBody>
      </p:sp>
      <p:sp>
        <p:nvSpPr>
          <p:cNvPr id="12" name="honest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6858000" y="5537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13" name="honest-text"/>
          <p:cNvSpPr txBox="1"/>
          <p:nvPr/>
        </p:nvSpPr>
        <p:spPr>
          <a:xfrm>
            <a:off x="7162800" y="54864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点赞和下载是同一时刻数据：</a:t>
            </a:r>
            <a:r>
              <a:rPr lang="en-US" sz="1100" noProof="1">
                <a:solidFill>
                  <a:srgbClr val="E3B341"/>
                </a:solidFill>
                <a:latin typeface="MiSans"/>
                <a:ea typeface="MiSans"/>
              </a:rPr>
              <a:t>重要性 ≠ 因果 ≠ 预测</a:t>
            </a: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1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14 / 20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04 · RQ5 任务生态差异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不同任务，冷热结构大不同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t1-num"/>
          <p:cNvSpPr txBox="1"/>
          <p:nvPr/>
        </p:nvSpPr>
        <p:spPr>
          <a:xfrm>
            <a:off x="711200" y="19050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E8EEF7"/>
                </a:solidFill>
                <a:latin typeface="JetBrains Mono"/>
                <a:ea typeface="JetBrains Mono"/>
              </a:rPr>
              <a:t>56 </a:t>
            </a:r>
            <a:r>
              <a:rPr lang="en-US" sz="1400" noProof="1">
                <a:solidFill>
                  <a:srgbClr val="8C99AD"/>
                </a:solidFill>
                <a:latin typeface="JetBrains Mono"/>
                <a:ea typeface="JetBrains Mono"/>
              </a:rPr>
              <a:t>个已标注任务</a:t>
            </a:r>
            <a:endParaRPr lang="en-US" sz="3000" noProof="1"/>
          </a:p>
        </p:txBody>
      </p:sp>
      <p:sp>
        <p:nvSpPr>
          <p:cNvPr id="6" name="t2-num"/>
          <p:cNvSpPr txBox="1"/>
          <p:nvPr/>
        </p:nvSpPr>
        <p:spPr>
          <a:xfrm>
            <a:off x="711200" y="25908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DA3FF"/>
                </a:solidFill>
                <a:latin typeface="JetBrains Mono"/>
                <a:ea typeface="JetBrains Mono"/>
              </a:rPr>
              <a:t>50 </a:t>
            </a:r>
            <a:r>
              <a:rPr lang="en-US" sz="1400" noProof="1">
                <a:solidFill>
                  <a:srgbClr val="8C99AD"/>
                </a:solidFill>
                <a:latin typeface="JetBrains Mono"/>
                <a:ea typeface="JetBrains Mono"/>
              </a:rPr>
              <a:t>个满足可比性</a:t>
            </a:r>
            <a:endParaRPr lang="en-US" sz="3000" noProof="1"/>
          </a:p>
        </p:txBody>
      </p:sp>
      <p:sp>
        <p:nvSpPr>
          <p:cNvPr id="7" name="t-rule"/>
          <p:cNvSpPr/>
          <p:nvPr/>
        </p:nvSpPr>
        <p:spPr>
          <a:xfrm>
            <a:off x="711200" y="3352800"/>
            <a:ext cx="38100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8" name="t-metrics"/>
          <p:cNvSpPr txBox="1"/>
          <p:nvPr/>
        </p:nvSpPr>
        <p:spPr>
          <a:xfrm>
            <a:off x="711200" y="3581400"/>
            <a:ext cx="4191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各任务独立计算三项指标：</a:t>
            </a:r>
            <a:endParaRPr lang="en-US" sz="1200" noProof="1"/>
          </a:p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E8EEF7"/>
                </a:solidFill>
                <a:latin typeface="MiSans"/>
                <a:ea typeface="MiSans"/>
              </a:rPr>
              <a:t>· 下载集中度　· 零下载率　· 底座覆盖率</a:t>
            </a:r>
            <a:endParaRPr lang="en-US" sz="1200" noProof="1"/>
          </a:p>
        </p:txBody>
      </p:sp>
      <p:sp>
        <p:nvSpPr>
          <p:cNvPr id="9" name="t-unknown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711200" y="4927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10" name="t-unknown"/>
          <p:cNvSpPr txBox="1"/>
          <p:nvPr/>
        </p:nvSpPr>
        <p:spPr>
          <a:xfrm>
            <a:off x="1016000" y="4876800"/>
            <a:ext cx="393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缺失标签的 </a:t>
            </a:r>
            <a:r>
              <a:rPr lang="en-US" sz="1100" noProof="1">
                <a:solidFill>
                  <a:srgbClr val="E3B341"/>
                </a:solidFill>
                <a:latin typeface="JetBrains Mono"/>
                <a:ea typeface="JetBrains Mono"/>
              </a:rPr>
              <a:t>unknown（65.6%）</a:t>
            </a: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 单独报告，不参与比较——不强行归类。</a:t>
            </a:r>
            <a:endParaRPr lang="en-US" sz="1100" noProof="1"/>
          </a:p>
        </p:txBody>
      </p:sp>
      <p:sp>
        <p:nvSpPr>
          <p:cNvPr id="11" name="ph-box"/>
          <p:cNvSpPr/>
          <p:nvPr/>
        </p:nvSpPr>
        <p:spPr>
          <a:xfrm>
            <a:off x="5461000" y="1727200"/>
            <a:ext cx="6019800" cy="4191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  <a:prstDash val="dash"/>
          </a:ln>
        </p:spPr>
      </p:sp>
      <p:sp>
        <p:nvSpPr>
          <p:cNvPr id="12" name="ph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8216900" y="304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3" name="ph-text"/>
          <p:cNvSpPr txBox="1"/>
          <p:nvPr/>
        </p:nvSpPr>
        <p:spPr>
          <a:xfrm>
            <a:off x="5969000" y="3708400"/>
            <a:ext cx="5003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70000"/>
              </a:lnSpc>
            </a:pPr>
            <a:r>
              <a:rPr lang="en-US" sz="1200" noProof="1">
                <a:solidFill>
                  <a:srgbClr val="5B6A82"/>
                </a:solidFill>
                <a:latin typeface="MiSans"/>
                <a:ea typeface="MiSans"/>
              </a:rPr>
              <a:t>图表占位（待替换）</a:t>
            </a:r>
            <a:endParaRPr lang="en-US" sz="1200" noProof="1"/>
          </a:p>
          <a:p>
            <a:pPr algn="ctr">
              <a:lnSpc>
                <a:spcPct val="170000"/>
              </a:lnSpc>
            </a:pPr>
            <a:r>
              <a:rPr lang="en-US" sz="1000" noProof="1">
                <a:solidFill>
                  <a:srgbClr val="5B6A82"/>
                </a:solidFill>
                <a:latin typeface="JetBrains Mono"/>
                <a:ea typeface="JetBrains Mono"/>
              </a:rPr>
              <a:t>figures_final/fig04_library_task_structure.png</a:t>
            </a:r>
            <a:endParaRPr lang="en-US" sz="1200" noProof="1"/>
          </a:p>
        </p:txBody>
      </p:sp>
      <p:sp>
        <p:nvSpPr>
          <p:cNvPr id="1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15 / 20</a:t>
            </a:r>
            <a:endParaRPr lang="en-US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04 · 扩展性实验（Benchmark）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数据翻倍，性能扛不扛得住？实测给你看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bm-stats"/>
          <p:cNvSpPr txBox="1"/>
          <p:nvPr/>
        </p:nvSpPr>
        <p:spPr>
          <a:xfrm>
            <a:off x="711200" y="16256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8EEF7"/>
                </a:solidFill>
                <a:latin typeface="JetBrains Mono"/>
                <a:ea typeface="JetBrains Mono"/>
              </a:rPr>
              <a:t>107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 个测量组合 · </a:t>
            </a:r>
            <a:r>
              <a:rPr lang="en-US" sz="1300" noProof="1">
                <a:solidFill>
                  <a:srgbClr val="E8EEF7"/>
                </a:solidFill>
                <a:latin typeface="JetBrains Mono"/>
                <a:ea typeface="JetBrains Mono"/>
              </a:rPr>
              <a:t>321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 次计时执行（每组另 1 次不计时预热）· 规模扫描嵌套子集 </a:t>
            </a:r>
            <a:r>
              <a:rPr lang="en-US" sz="1300" noProof="1">
                <a:solidFill>
                  <a:srgbClr val="4DA3FF"/>
                </a:solidFill>
                <a:latin typeface="JetBrains Mono"/>
                <a:ea typeface="JetBrains Mono"/>
              </a:rPr>
              <a:t>10% ⊂ 25% ⊂ 50% ⊂ 100%</a:t>
            </a:r>
            <a:endParaRPr lang="en-US" sz="1300" noProof="1"/>
          </a:p>
        </p:txBody>
      </p:sp>
      <p:sp>
        <p:nvSpPr>
          <p:cNvPr id="6" name="bm-sub"/>
          <p:cNvSpPr txBox="1"/>
          <p:nvPr/>
        </p:nvSpPr>
        <p:spPr>
          <a:xfrm>
            <a:off x="711200" y="19812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嵌套子集保证：只差数据量，不差样本构成</a:t>
            </a:r>
            <a:endParaRPr lang="en-US" sz="1100" noProof="1"/>
          </a:p>
        </p:txBody>
      </p:sp>
      <p:sp>
        <p:nvSpPr>
          <p:cNvPr id="7" name="ph1-box"/>
          <p:cNvSpPr/>
          <p:nvPr/>
        </p:nvSpPr>
        <p:spPr>
          <a:xfrm>
            <a:off x="711200" y="2489200"/>
            <a:ext cx="3454400" cy="2794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  <a:prstDash val="dash"/>
          </a:ln>
        </p:spPr>
      </p:sp>
      <p:sp>
        <p:nvSpPr>
          <p:cNvPr id="8" name="ph1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21844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9" name="ph1-text"/>
          <p:cNvSpPr txBox="1"/>
          <p:nvPr/>
        </p:nvSpPr>
        <p:spPr>
          <a:xfrm>
            <a:off x="838200" y="3937000"/>
            <a:ext cx="320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000" noProof="1">
                <a:solidFill>
                  <a:srgbClr val="5B6A82"/>
                </a:solidFill>
                <a:latin typeface="MiSans"/>
                <a:ea typeface="MiSans"/>
              </a:rPr>
              <a:t>图表占位（待替换）</a:t>
            </a:r>
            <a:endParaRPr lang="en-US" sz="10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fig10_scale_runtime.png</a:t>
            </a:r>
            <a:endParaRPr lang="en-US" sz="1000" noProof="1"/>
          </a:p>
        </p:txBody>
      </p:sp>
      <p:sp>
        <p:nvSpPr>
          <p:cNvPr id="10" name="ph1-cap"/>
          <p:cNvSpPr txBox="1"/>
          <p:nvPr/>
        </p:nvSpPr>
        <p:spPr>
          <a:xfrm>
            <a:off x="711200" y="5410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规模 × 耗时：数据翻倍时表现</a:t>
            </a:r>
            <a:endParaRPr lang="en-US" sz="1100" noProof="1"/>
          </a:p>
        </p:txBody>
      </p:sp>
      <p:sp>
        <p:nvSpPr>
          <p:cNvPr id="11" name="ph2-box"/>
          <p:cNvSpPr/>
          <p:nvPr/>
        </p:nvSpPr>
        <p:spPr>
          <a:xfrm>
            <a:off x="4368800" y="2489200"/>
            <a:ext cx="3454400" cy="2794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  <a:prstDash val="dash"/>
          </a:ln>
        </p:spPr>
      </p:sp>
      <p:sp>
        <p:nvSpPr>
          <p:cNvPr id="12" name="ph2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58420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3" name="ph2-text"/>
          <p:cNvSpPr txBox="1"/>
          <p:nvPr/>
        </p:nvSpPr>
        <p:spPr>
          <a:xfrm>
            <a:off x="4495800" y="3937000"/>
            <a:ext cx="320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000" noProof="1">
                <a:solidFill>
                  <a:srgbClr val="5B6A82"/>
                </a:solidFill>
                <a:latin typeface="MiSans"/>
                <a:ea typeface="MiSans"/>
              </a:rPr>
              <a:t>图表占位（待替换）</a:t>
            </a:r>
            <a:endParaRPr lang="en-US" sz="10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fig11_partitions_perf.png</a:t>
            </a:r>
            <a:endParaRPr lang="en-US" sz="1000" noProof="1"/>
          </a:p>
        </p:txBody>
      </p:sp>
      <p:sp>
        <p:nvSpPr>
          <p:cNvPr id="14" name="ph2-cap"/>
          <p:cNvSpPr txBox="1"/>
          <p:nvPr/>
        </p:nvSpPr>
        <p:spPr>
          <a:xfrm>
            <a:off x="4368800" y="5410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分区数 × 性能：并行度怎么调</a:t>
            </a:r>
            <a:endParaRPr lang="en-US" sz="1100" noProof="1"/>
          </a:p>
        </p:txBody>
      </p:sp>
      <p:sp>
        <p:nvSpPr>
          <p:cNvPr id="15" name="ph3-box"/>
          <p:cNvSpPr/>
          <p:nvPr/>
        </p:nvSpPr>
        <p:spPr>
          <a:xfrm>
            <a:off x="8026400" y="2489200"/>
            <a:ext cx="3454400" cy="2794000"/>
          </a:xfrm>
          <a:prstGeom prst="rect">
            <a:avLst/>
          </a:prstGeom>
          <a:solidFill>
            <a:srgbClr val="131B2D"/>
          </a:solidFill>
          <a:ln w="12700">
            <a:solidFill>
              <a:srgbClr val="27324A"/>
            </a:solidFill>
            <a:prstDash val="dash"/>
          </a:ln>
        </p:spPr>
      </p:sp>
      <p:sp>
        <p:nvSpPr>
          <p:cNvPr id="16" name="ph3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94996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5B6A82"/>
          </a:solidFill>
          <a:ln>
            <a:noFill/>
          </a:ln>
        </p:spPr>
      </p:sp>
      <p:sp>
        <p:nvSpPr>
          <p:cNvPr id="17" name="ph3-text"/>
          <p:cNvSpPr txBox="1"/>
          <p:nvPr/>
        </p:nvSpPr>
        <p:spPr>
          <a:xfrm>
            <a:off x="8153400" y="3937000"/>
            <a:ext cx="320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000" noProof="1">
                <a:solidFill>
                  <a:srgbClr val="5B6A82"/>
                </a:solidFill>
                <a:latin typeface="MiSans"/>
                <a:ea typeface="MiSans"/>
              </a:rPr>
              <a:t>图表占位（待替换）</a:t>
            </a:r>
            <a:endParaRPr lang="en-US" sz="10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fig12_operator_comparison.png</a:t>
            </a:r>
            <a:endParaRPr lang="en-US" sz="1000" noProof="1"/>
          </a:p>
        </p:txBody>
      </p:sp>
      <p:sp>
        <p:nvSpPr>
          <p:cNvPr id="18" name="ph3-cap"/>
          <p:cNvSpPr txBox="1"/>
          <p:nvPr/>
        </p:nvSpPr>
        <p:spPr>
          <a:xfrm>
            <a:off x="8026400" y="5410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算子对比：哪个操作最耗时</a:t>
            </a:r>
            <a:endParaRPr lang="en-US" sz="1100" noProof="1"/>
          </a:p>
        </p:txBody>
      </p:sp>
      <p:sp>
        <p:nvSpPr>
          <p:cNvPr id="19" name="bound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711200" y="5969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E3B341"/>
          </a:solidFill>
          <a:ln>
            <a:noFill/>
          </a:ln>
        </p:spPr>
      </p:sp>
      <p:sp>
        <p:nvSpPr>
          <p:cNvPr id="20" name="bound-text"/>
          <p:cNvSpPr txBox="1"/>
          <p:nvPr/>
        </p:nvSpPr>
        <p:spPr>
          <a:xfrm>
            <a:off x="1016000" y="5918200"/>
            <a:ext cx="1046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边界声明：</a:t>
            </a:r>
            <a:r>
              <a:rPr lang="en-US" sz="1200" noProof="1">
                <a:solidFill>
                  <a:srgbClr val="E3B341"/>
                </a:solidFill>
                <a:latin typeface="MiSans"/>
                <a:ea typeface="MiSans"/>
              </a:rPr>
              <a:t>单机多核实验，不代表集群结论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；Windows 清不了缓存，计时为缓存热态。</a:t>
            </a:r>
            <a:endParaRPr lang="en-US" sz="1200" noProof="1"/>
          </a:p>
        </p:txBody>
      </p:sp>
      <p:sp>
        <p:nvSpPr>
          <p:cNvPr id="21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2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16 / 20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05 · 创新点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我做对了这 4 件事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iv1-n"/>
          <p:cNvSpPr txBox="1"/>
          <p:nvPr/>
        </p:nvSpPr>
        <p:spPr>
          <a:xfrm>
            <a:off x="711200" y="18288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B3A66"/>
                </a:solidFill>
                <a:latin typeface="JetBrains Mono"/>
                <a:ea typeface="JetBrains Mono"/>
              </a:rPr>
              <a:t>01</a:t>
            </a:r>
            <a:endParaRPr lang="en-US" sz="3000" noProof="1"/>
          </a:p>
        </p:txBody>
      </p:sp>
      <p:sp>
        <p:nvSpPr>
          <p:cNvPr id="6" name="iv1-icon"/>
          <p:cNvSpPr/>
          <p:nvPr>
            <p:extLst>
              <p:ext uri="{F5677B7D-0D2A-4D9B-9A5C-6D8D7D0E5A5D}">
                <pptd:icon encoding="base64url">eyJpY29uTmFtZSI6ImZhczpjYWxjdWxhdG9yIn0</pptd:icon>
              </p:ext>
            </p:extLst>
          </p:nvPr>
        </p:nvSpPr>
        <p:spPr>
          <a:xfrm>
            <a:off x="1778000" y="1879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96" y="64"/>
                </a:moveTo>
                <a:lnTo>
                  <a:pt x="288" y="64"/>
                </a:lnTo>
                <a:cubicBezTo>
                  <a:pt x="306" y="64"/>
                  <a:pt x="320" y="78"/>
                  <a:pt x="320" y="96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lnTo>
                  <a:pt x="64" y="96"/>
                </a:lnTo>
                <a:cubicBezTo>
                  <a:pt x="64" y="78"/>
                  <a:pt x="78" y="64"/>
                  <a:pt x="96" y="64"/>
                </a:cubicBezTo>
                <a:close/>
                <a:moveTo>
                  <a:pt x="112" y="232"/>
                </a:moveTo>
                <a:cubicBezTo>
                  <a:pt x="112" y="245"/>
                  <a:pt x="101" y="256"/>
                  <a:pt x="88" y="256"/>
                </a:cubicBezTo>
                <a:cubicBezTo>
                  <a:pt x="75" y="256"/>
                  <a:pt x="64" y="245"/>
                  <a:pt x="64" y="232"/>
                </a:cubicBezTo>
                <a:cubicBezTo>
                  <a:pt x="64" y="219"/>
                  <a:pt x="75" y="208"/>
                  <a:pt x="88" y="208"/>
                </a:cubicBezTo>
                <a:cubicBezTo>
                  <a:pt x="101" y="208"/>
                  <a:pt x="112" y="219"/>
                  <a:pt x="112" y="232"/>
                </a:cubicBezTo>
                <a:close/>
                <a:moveTo>
                  <a:pt x="192" y="256"/>
                </a:moveTo>
                <a:cubicBezTo>
                  <a:pt x="179" y="256"/>
                  <a:pt x="168" y="245"/>
                  <a:pt x="168" y="232"/>
                </a:cubicBezTo>
                <a:cubicBezTo>
                  <a:pt x="168" y="219"/>
                  <a:pt x="179" y="208"/>
                  <a:pt x="192" y="208"/>
                </a:cubicBezTo>
                <a:cubicBezTo>
                  <a:pt x="205" y="208"/>
                  <a:pt x="216" y="219"/>
                  <a:pt x="216" y="232"/>
                </a:cubicBezTo>
                <a:cubicBezTo>
                  <a:pt x="216" y="245"/>
                  <a:pt x="205" y="256"/>
                  <a:pt x="192" y="256"/>
                </a:cubicBezTo>
                <a:close/>
                <a:moveTo>
                  <a:pt x="320" y="232"/>
                </a:moveTo>
                <a:cubicBezTo>
                  <a:pt x="320" y="245"/>
                  <a:pt x="309" y="256"/>
                  <a:pt x="296" y="256"/>
                </a:cubicBezTo>
                <a:cubicBezTo>
                  <a:pt x="283" y="256"/>
                  <a:pt x="272" y="245"/>
                  <a:pt x="272" y="232"/>
                </a:cubicBezTo>
                <a:cubicBezTo>
                  <a:pt x="272" y="219"/>
                  <a:pt x="283" y="208"/>
                  <a:pt x="296" y="208"/>
                </a:cubicBezTo>
                <a:cubicBezTo>
                  <a:pt x="309" y="208"/>
                  <a:pt x="320" y="219"/>
                  <a:pt x="320" y="232"/>
                </a:cubicBezTo>
                <a:close/>
                <a:moveTo>
                  <a:pt x="88" y="352"/>
                </a:moveTo>
                <a:cubicBezTo>
                  <a:pt x="75" y="352"/>
                  <a:pt x="64" y="341"/>
                  <a:pt x="64" y="328"/>
                </a:cubicBezTo>
                <a:cubicBezTo>
                  <a:pt x="64" y="315"/>
                  <a:pt x="75" y="304"/>
                  <a:pt x="88" y="304"/>
                </a:cubicBezTo>
                <a:cubicBezTo>
                  <a:pt x="101" y="304"/>
                  <a:pt x="112" y="315"/>
                  <a:pt x="112" y="328"/>
                </a:cubicBezTo>
                <a:cubicBezTo>
                  <a:pt x="112" y="341"/>
                  <a:pt x="101" y="352"/>
                  <a:pt x="88" y="352"/>
                </a:cubicBezTo>
                <a:close/>
                <a:moveTo>
                  <a:pt x="216" y="328"/>
                </a:moveTo>
                <a:cubicBezTo>
                  <a:pt x="216" y="341"/>
                  <a:pt x="205" y="352"/>
                  <a:pt x="192" y="352"/>
                </a:cubicBezTo>
                <a:cubicBezTo>
                  <a:pt x="179" y="352"/>
                  <a:pt x="168" y="341"/>
                  <a:pt x="168" y="328"/>
                </a:cubicBezTo>
                <a:cubicBezTo>
                  <a:pt x="168" y="315"/>
                  <a:pt x="179" y="304"/>
                  <a:pt x="192" y="304"/>
                </a:cubicBezTo>
                <a:cubicBezTo>
                  <a:pt x="205" y="304"/>
                  <a:pt x="216" y="315"/>
                  <a:pt x="216" y="328"/>
                </a:cubicBezTo>
                <a:close/>
                <a:moveTo>
                  <a:pt x="296" y="352"/>
                </a:moveTo>
                <a:cubicBezTo>
                  <a:pt x="283" y="352"/>
                  <a:pt x="272" y="341"/>
                  <a:pt x="272" y="328"/>
                </a:cubicBezTo>
                <a:cubicBezTo>
                  <a:pt x="272" y="315"/>
                  <a:pt x="283" y="304"/>
                  <a:pt x="296" y="304"/>
                </a:cubicBezTo>
                <a:cubicBezTo>
                  <a:pt x="309" y="304"/>
                  <a:pt x="320" y="315"/>
                  <a:pt x="320" y="328"/>
                </a:cubicBezTo>
                <a:cubicBezTo>
                  <a:pt x="320" y="341"/>
                  <a:pt x="309" y="352"/>
                  <a:pt x="296" y="352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200" y="400"/>
                </a:lnTo>
                <a:cubicBezTo>
                  <a:pt x="213" y="400"/>
                  <a:pt x="224" y="411"/>
                  <a:pt x="224" y="424"/>
                </a:cubicBezTo>
                <a:cubicBezTo>
                  <a:pt x="224" y="437"/>
                  <a:pt x="213" y="448"/>
                  <a:pt x="200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296" y="400"/>
                </a:moveTo>
                <a:cubicBezTo>
                  <a:pt x="309" y="400"/>
                  <a:pt x="320" y="411"/>
                  <a:pt x="320" y="424"/>
                </a:cubicBezTo>
                <a:cubicBezTo>
                  <a:pt x="320" y="437"/>
                  <a:pt x="309" y="448"/>
                  <a:pt x="296" y="448"/>
                </a:cubicBezTo>
                <a:cubicBezTo>
                  <a:pt x="283" y="448"/>
                  <a:pt x="272" y="437"/>
                  <a:pt x="272" y="424"/>
                </a:cubicBezTo>
                <a:cubicBezTo>
                  <a:pt x="272" y="411"/>
                  <a:pt x="283" y="400"/>
                  <a:pt x="296" y="400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7" name="iv1-t"/>
          <p:cNvSpPr txBox="1"/>
          <p:nvPr/>
        </p:nvSpPr>
        <p:spPr>
          <a:xfrm>
            <a:off x="2286000" y="18288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E8EEF7"/>
                </a:solidFill>
                <a:latin typeface="MiSans"/>
                <a:ea typeface="MiSans"/>
              </a:rPr>
              <a:t>频数加权 Gini 精确口径</a:t>
            </a:r>
            <a:endParaRPr lang="en-US" sz="1600" noProof="1"/>
          </a:p>
        </p:txBody>
      </p:sp>
      <p:sp>
        <p:nvSpPr>
          <p:cNvPr id="8" name="iv1-d"/>
          <p:cNvSpPr txBox="1"/>
          <p:nvPr/>
        </p:nvSpPr>
        <p:spPr>
          <a:xfrm>
            <a:off x="2286000" y="22098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先数频数再算——绕开全局排序的卡死问题，还保证结果是精确的</a:t>
            </a:r>
            <a:endParaRPr lang="en-US" sz="1200" noProof="1"/>
          </a:p>
        </p:txBody>
      </p:sp>
      <p:sp>
        <p:nvSpPr>
          <p:cNvPr id="9" name="iv1-line"/>
          <p:cNvSpPr/>
          <p:nvPr/>
        </p:nvSpPr>
        <p:spPr>
          <a:xfrm>
            <a:off x="711200" y="2743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0" name="iv2-n"/>
          <p:cNvSpPr txBox="1"/>
          <p:nvPr/>
        </p:nvSpPr>
        <p:spPr>
          <a:xfrm>
            <a:off x="711200" y="29464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B3A66"/>
                </a:solidFill>
                <a:latin typeface="JetBrains Mono"/>
                <a:ea typeface="JetBrains Mono"/>
              </a:rPr>
              <a:t>02</a:t>
            </a:r>
            <a:endParaRPr lang="en-US" sz="3000" noProof="1"/>
          </a:p>
        </p:txBody>
      </p:sp>
      <p:sp>
        <p:nvSpPr>
          <p:cNvPr id="11" name="iv2-icon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1778000" y="2997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2" name="iv2-t"/>
          <p:cNvSpPr txBox="1"/>
          <p:nvPr/>
        </p:nvSpPr>
        <p:spPr>
          <a:xfrm>
            <a:off x="2286000" y="29464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E8EEF7"/>
                </a:solidFill>
                <a:latin typeface="MiSans"/>
                <a:ea typeface="MiSans"/>
              </a:rPr>
              <a:t>谱系边语义严格保留</a:t>
            </a:r>
            <a:endParaRPr lang="en-US" sz="1600" noProof="1"/>
          </a:p>
        </p:txBody>
      </p:sp>
      <p:sp>
        <p:nvSpPr>
          <p:cNvPr id="13" name="iv2-d"/>
          <p:cNvSpPr txBox="1"/>
          <p:nvPr/>
        </p:nvSpPr>
        <p:spPr>
          <a:xfrm>
            <a:off x="2286000" y="33274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派生方向不搞反，外部父模型也完整留着——谱系图语义不丢</a:t>
            </a:r>
            <a:endParaRPr lang="en-US" sz="1200" noProof="1"/>
          </a:p>
        </p:txBody>
      </p:sp>
      <p:sp>
        <p:nvSpPr>
          <p:cNvPr id="14" name="iv2-line"/>
          <p:cNvSpPr/>
          <p:nvPr/>
        </p:nvSpPr>
        <p:spPr>
          <a:xfrm>
            <a:off x="711200" y="38608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5" name="iv3-n"/>
          <p:cNvSpPr txBox="1"/>
          <p:nvPr/>
        </p:nvSpPr>
        <p:spPr>
          <a:xfrm>
            <a:off x="711200" y="40640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B3A66"/>
                </a:solidFill>
                <a:latin typeface="JetBrains Mono"/>
                <a:ea typeface="JetBrains Mono"/>
              </a:rPr>
              <a:t>03</a:t>
            </a:r>
            <a:endParaRPr lang="en-US" sz="3000" noProof="1"/>
          </a:p>
        </p:txBody>
      </p:sp>
      <p:sp>
        <p:nvSpPr>
          <p:cNvPr id="16" name="iv3-icon"/>
          <p:cNvSpPr/>
          <p:nvPr>
            <p:extLst>
              <p:ext uri="{F5677B7D-0D2A-4D9B-9A5C-6D8D7D0E5A5D}">
                <pptd:icon encoding="base64url">eyJpY29uTmFtZSI6ImZhczpmb3J3YXJkLXN0ZXAifQ</pptd:icon>
              </p:ext>
            </p:extLst>
          </p:nvPr>
        </p:nvSpPr>
        <p:spPr>
          <a:xfrm>
            <a:off x="1778000" y="4114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1" y="37"/>
                </a:moveTo>
                <a:cubicBezTo>
                  <a:pt x="34" y="30"/>
                  <a:pt x="50" y="30"/>
                  <a:pt x="62" y="39"/>
                </a:cubicBezTo>
                <a:lnTo>
                  <a:pt x="320" y="208"/>
                </a:lnTo>
                <a:lnTo>
                  <a:pt x="320" y="64"/>
                </a:lnTo>
                <a:cubicBezTo>
                  <a:pt x="320" y="46"/>
                  <a:pt x="334" y="32"/>
                  <a:pt x="352" y="32"/>
                </a:cubicBezTo>
                <a:cubicBezTo>
                  <a:pt x="370" y="32"/>
                  <a:pt x="384" y="46"/>
                  <a:pt x="384" y="64"/>
                </a:cubicBezTo>
                <a:lnTo>
                  <a:pt x="384" y="448"/>
                </a:lnTo>
                <a:cubicBezTo>
                  <a:pt x="384" y="466"/>
                  <a:pt x="370" y="480"/>
                  <a:pt x="352" y="480"/>
                </a:cubicBezTo>
                <a:cubicBezTo>
                  <a:pt x="334" y="480"/>
                  <a:pt x="320" y="466"/>
                  <a:pt x="320" y="448"/>
                </a:cubicBezTo>
                <a:lnTo>
                  <a:pt x="320" y="304"/>
                </a:lnTo>
                <a:lnTo>
                  <a:pt x="62" y="474"/>
                </a:lnTo>
                <a:cubicBezTo>
                  <a:pt x="50" y="482"/>
                  <a:pt x="34" y="482"/>
                  <a:pt x="21" y="475"/>
                </a:cubicBezTo>
                <a:cubicBezTo>
                  <a:pt x="8" y="468"/>
                  <a:pt x="0" y="455"/>
                  <a:pt x="0" y="440"/>
                </a:cubicBezTo>
                <a:lnTo>
                  <a:pt x="0" y="72"/>
                </a:lnTo>
                <a:cubicBezTo>
                  <a:pt x="0" y="57"/>
                  <a:pt x="8" y="44"/>
                  <a:pt x="21" y="37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7" name="iv3-t"/>
          <p:cNvSpPr txBox="1"/>
          <p:nvPr/>
        </p:nvSpPr>
        <p:spPr>
          <a:xfrm>
            <a:off x="2286000" y="4064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E8EEF7"/>
                </a:solidFill>
                <a:latin typeface="MiSans"/>
                <a:ea typeface="MiSans"/>
              </a:rPr>
              <a:t>GraphFrames 与 Spark 双轨 + 断点续跑</a:t>
            </a:r>
            <a:endParaRPr lang="en-US" sz="1600" noProof="1"/>
          </a:p>
        </p:txBody>
      </p:sp>
      <p:sp>
        <p:nvSpPr>
          <p:cNvPr id="18" name="iv3-d"/>
          <p:cNvSpPr txBox="1"/>
          <p:nvPr/>
        </p:nvSpPr>
        <p:spPr>
          <a:xfrm>
            <a:off x="2286000" y="44450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逐步骤落盘，长任务挂了能续跑，每步耗时如实记录</a:t>
            </a:r>
            <a:endParaRPr lang="en-US" sz="1200" noProof="1"/>
          </a:p>
        </p:txBody>
      </p:sp>
      <p:sp>
        <p:nvSpPr>
          <p:cNvPr id="19" name="iv3-line"/>
          <p:cNvSpPr/>
          <p:nvPr/>
        </p:nvSpPr>
        <p:spPr>
          <a:xfrm>
            <a:off x="711200" y="49784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20" name="iv4-n"/>
          <p:cNvSpPr txBox="1"/>
          <p:nvPr/>
        </p:nvSpPr>
        <p:spPr>
          <a:xfrm>
            <a:off x="711200" y="51816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B3A66"/>
                </a:solidFill>
                <a:latin typeface="JetBrains Mono"/>
                <a:ea typeface="JetBrains Mono"/>
              </a:rPr>
              <a:t>04</a:t>
            </a:r>
            <a:endParaRPr lang="en-US" sz="3000" noProof="1"/>
          </a:p>
        </p:txBody>
      </p:sp>
      <p:sp>
        <p:nvSpPr>
          <p:cNvPr id="21" name="iv4-icon"/>
          <p:cNvSpPr/>
          <p:nvPr>
            <p:extLst>
              <p:ext uri="{F5677B7D-0D2A-4D9B-9A5C-6D8D7D0E5A5D}">
                <pptd:icon encoding="base64url">eyJpY29uTmFtZSI6ImZhczpmaWxlLWNvbnRyYWN0In0</pptd:icon>
              </p:ext>
            </p:extLst>
          </p:nvPr>
        </p:nvSpPr>
        <p:spPr>
          <a:xfrm>
            <a:off x="1778000" y="5232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88" y="64"/>
                </a:moveTo>
                <a:cubicBezTo>
                  <a:pt x="75" y="64"/>
                  <a:pt x="64" y="75"/>
                  <a:pt x="64" y="88"/>
                </a:cubicBezTo>
                <a:cubicBezTo>
                  <a:pt x="64" y="101"/>
                  <a:pt x="75" y="112"/>
                  <a:pt x="88" y="112"/>
                </a:cubicBezTo>
                <a:lnTo>
                  <a:pt x="136" y="112"/>
                </a:lnTo>
                <a:cubicBezTo>
                  <a:pt x="149" y="112"/>
                  <a:pt x="160" y="101"/>
                  <a:pt x="160" y="88"/>
                </a:cubicBezTo>
                <a:cubicBezTo>
                  <a:pt x="160" y="75"/>
                  <a:pt x="149" y="64"/>
                  <a:pt x="136" y="64"/>
                </a:cubicBezTo>
                <a:lnTo>
                  <a:pt x="88" y="64"/>
                </a:lnTo>
                <a:close/>
                <a:moveTo>
                  <a:pt x="88" y="160"/>
                </a:moveTo>
                <a:cubicBezTo>
                  <a:pt x="75" y="160"/>
                  <a:pt x="64" y="171"/>
                  <a:pt x="64" y="184"/>
                </a:cubicBezTo>
                <a:cubicBezTo>
                  <a:pt x="64" y="197"/>
                  <a:pt x="75" y="208"/>
                  <a:pt x="88" y="208"/>
                </a:cubicBezTo>
                <a:lnTo>
                  <a:pt x="136" y="208"/>
                </a:lnTo>
                <a:cubicBezTo>
                  <a:pt x="149" y="208"/>
                  <a:pt x="160" y="197"/>
                  <a:pt x="160" y="184"/>
                </a:cubicBezTo>
                <a:cubicBezTo>
                  <a:pt x="160" y="171"/>
                  <a:pt x="149" y="160"/>
                  <a:pt x="136" y="160"/>
                </a:cubicBezTo>
                <a:lnTo>
                  <a:pt x="88" y="160"/>
                </a:lnTo>
                <a:close/>
                <a:moveTo>
                  <a:pt x="158" y="320"/>
                </a:moveTo>
                <a:cubicBezTo>
                  <a:pt x="147" y="320"/>
                  <a:pt x="136" y="325"/>
                  <a:pt x="129" y="334"/>
                </a:cubicBezTo>
                <a:lnTo>
                  <a:pt x="69" y="409"/>
                </a:lnTo>
                <a:cubicBezTo>
                  <a:pt x="61" y="419"/>
                  <a:pt x="63" y="435"/>
                  <a:pt x="73" y="443"/>
                </a:cubicBezTo>
                <a:cubicBezTo>
                  <a:pt x="83" y="451"/>
                  <a:pt x="99" y="449"/>
                  <a:pt x="107" y="439"/>
                </a:cubicBezTo>
                <a:lnTo>
                  <a:pt x="154" y="380"/>
                </a:lnTo>
                <a:lnTo>
                  <a:pt x="169" y="431"/>
                </a:lnTo>
                <a:cubicBezTo>
                  <a:pt x="172" y="441"/>
                  <a:pt x="181" y="448"/>
                  <a:pt x="192" y="448"/>
                </a:cubicBezTo>
                <a:lnTo>
                  <a:pt x="296" y="448"/>
                </a:lnTo>
                <a:cubicBezTo>
                  <a:pt x="309" y="448"/>
                  <a:pt x="320" y="437"/>
                  <a:pt x="320" y="424"/>
                </a:cubicBezTo>
                <a:cubicBezTo>
                  <a:pt x="320" y="411"/>
                  <a:pt x="309" y="400"/>
                  <a:pt x="296" y="400"/>
                </a:cubicBezTo>
                <a:lnTo>
                  <a:pt x="210" y="400"/>
                </a:lnTo>
                <a:lnTo>
                  <a:pt x="194" y="346"/>
                </a:lnTo>
                <a:cubicBezTo>
                  <a:pt x="189" y="331"/>
                  <a:pt x="175" y="320"/>
                  <a:pt x="158" y="320"/>
                </a:cubicBez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2" name="iv4-t"/>
          <p:cNvSpPr txBox="1"/>
          <p:nvPr/>
        </p:nvSpPr>
        <p:spPr>
          <a:xfrm>
            <a:off x="2286000" y="5181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E8EEF7"/>
                </a:solidFill>
                <a:latin typeface="MiSans"/>
                <a:ea typeface="MiSans"/>
              </a:rPr>
              <a:t>单一结果清单驱动所有交付物</a:t>
            </a:r>
            <a:endParaRPr lang="en-US" sz="1600" noProof="1"/>
          </a:p>
        </p:txBody>
      </p:sp>
      <p:sp>
        <p:nvSpPr>
          <p:cNvPr id="23" name="iv4-d"/>
          <p:cNvSpPr txBox="1"/>
          <p:nvPr/>
        </p:nvSpPr>
        <p:spPr>
          <a:xfrm>
            <a:off x="2286000" y="55626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9CC8FF"/>
                </a:solidFill>
                <a:latin typeface="JetBrains Mono"/>
                <a:ea typeface="JetBrains Mono"/>
              </a:rPr>
              <a:t>results_manifest.json</a:t>
            </a: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 一个数据源，报告、图、看板全对齐</a:t>
            </a:r>
            <a:endParaRPr lang="en-US" sz="1200" noProof="1"/>
          </a:p>
        </p:txBody>
      </p:sp>
      <p:sp>
        <p:nvSpPr>
          <p:cNvPr id="2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17 / 20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0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0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0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0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1" animBg="1"/>
      <p:bldP spid="11" grpId="1" animBg="1"/>
      <p:bldP spid="12" grpId="1" animBg="1"/>
      <p:bldP spid="13" grpId="1" animBg="1"/>
      <p:bldP spid="15" grpId="2" animBg="1"/>
      <p:bldP spid="16" grpId="2" animBg="1"/>
      <p:bldP spid="17" grpId="2" animBg="1"/>
      <p:bldP spid="18" grpId="2" animBg="1"/>
      <p:bldP spid="20" grpId="3" animBg="1"/>
      <p:bldP spid="21" grpId="3" animBg="1"/>
      <p:bldP spid="22" grpId="3" animBg="1"/>
      <p:bldP spid="23" grpId="3" animBg="1"/>
    </p:bldLst>
  </p:timing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05 · 局限与诚实声明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这些地方，我如实说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lm-intro"/>
          <p:cNvSpPr txBox="1"/>
          <p:nvPr/>
        </p:nvSpPr>
        <p:spPr>
          <a:xfrm>
            <a:off x="711200" y="1600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以下边界是所有结论成立的前提——主动说清楚，比被别人抓出来强。</a:t>
            </a:r>
            <a:endParaRPr lang="en-US" sz="1200" noProof="1"/>
          </a:p>
        </p:txBody>
      </p:sp>
      <p:sp>
        <p:nvSpPr>
          <p:cNvPr id="6" name="lm1-icon"/>
          <p:cNvSpPr/>
          <p:nvPr>
            <p:extLst>
              <p:ext uri="{F5677B7D-0D2A-4D9B-9A5C-6D8D7D0E5A5D}">
                <pptd:icon encoding="base64url">eyJpY29uTmFtZSI6ImZhczpjYW1lcmEifQ</pptd:icon>
              </p:ext>
            </p:extLst>
          </p:nvPr>
        </p:nvSpPr>
        <p:spPr>
          <a:xfrm>
            <a:off x="711200" y="213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8C99AD"/>
          </a:solidFill>
          <a:ln>
            <a:noFill/>
          </a:ln>
        </p:spPr>
      </p:sp>
      <p:sp>
        <p:nvSpPr>
          <p:cNvPr id="7" name="lm1"/>
          <p:cNvSpPr txBox="1"/>
          <p:nvPr/>
        </p:nvSpPr>
        <p:spPr>
          <a:xfrm>
            <a:off x="1117600" y="20828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快照性质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　只含仍公开可见的模型，早期月份绝对量偏低</a:t>
            </a:r>
            <a:endParaRPr lang="en-US" sz="1300" noProof="1"/>
          </a:p>
        </p:txBody>
      </p:sp>
      <p:sp>
        <p:nvSpPr>
          <p:cNvPr id="8" name="lm1-line"/>
          <p:cNvSpPr/>
          <p:nvPr/>
        </p:nvSpPr>
        <p:spPr>
          <a:xfrm>
            <a:off x="711200" y="26924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9" name="lm2-icon"/>
          <p:cNvSpPr/>
          <p:nvPr>
            <p:extLst>
              <p:ext uri="{F5677B7D-0D2A-4D9B-9A5C-6D8D7D0E5A5D}">
                <pptd:icon encoding="base64url">eyJpY29uTmFtZSI6ImZhczp0YWcifQ</pptd:icon>
              </p:ext>
            </p:extLst>
          </p:nvPr>
        </p:nvSpPr>
        <p:spPr>
          <a:xfrm>
            <a:off x="711200" y="294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" y="96"/>
                </a:moveTo>
                <a:lnTo>
                  <a:pt x="33" y="246"/>
                </a:lnTo>
                <a:cubicBezTo>
                  <a:pt x="33" y="263"/>
                  <a:pt x="39" y="279"/>
                  <a:pt x="51" y="291"/>
                </a:cubicBezTo>
                <a:lnTo>
                  <a:pt x="243" y="483"/>
                </a:lnTo>
                <a:cubicBezTo>
                  <a:pt x="268" y="508"/>
                  <a:pt x="309" y="508"/>
                  <a:pt x="334" y="483"/>
                </a:cubicBezTo>
                <a:lnTo>
                  <a:pt x="483" y="333"/>
                </a:lnTo>
                <a:cubicBezTo>
                  <a:pt x="508" y="308"/>
                  <a:pt x="508" y="268"/>
                  <a:pt x="483" y="243"/>
                </a:cubicBezTo>
                <a:lnTo>
                  <a:pt x="291" y="51"/>
                </a:lnTo>
                <a:cubicBezTo>
                  <a:pt x="279" y="39"/>
                  <a:pt x="263" y="32"/>
                  <a:pt x="246" y="32"/>
                </a:cubicBezTo>
                <a:lnTo>
                  <a:pt x="97" y="32"/>
                </a:lnTo>
                <a:cubicBezTo>
                  <a:pt x="61" y="32"/>
                  <a:pt x="33" y="61"/>
                  <a:pt x="33" y="96"/>
                </a:cubicBezTo>
                <a:close/>
                <a:moveTo>
                  <a:pt x="145" y="112"/>
                </a:moveTo>
                <a:cubicBezTo>
                  <a:pt x="162" y="112"/>
                  <a:pt x="177" y="126"/>
                  <a:pt x="177" y="144"/>
                </a:cubicBezTo>
                <a:cubicBezTo>
                  <a:pt x="177" y="162"/>
                  <a:pt x="162" y="176"/>
                  <a:pt x="145" y="176"/>
                </a:cubicBezTo>
                <a:cubicBezTo>
                  <a:pt x="127" y="176"/>
                  <a:pt x="113" y="162"/>
                  <a:pt x="113" y="144"/>
                </a:cubicBezTo>
                <a:cubicBezTo>
                  <a:pt x="113" y="126"/>
                  <a:pt x="127" y="112"/>
                  <a:pt x="145" y="112"/>
                </a:cubicBezTo>
                <a:close/>
              </a:path>
            </a:pathLst>
          </a:custGeom>
          <a:solidFill>
            <a:srgbClr val="8C99AD"/>
          </a:solidFill>
          <a:ln>
            <a:noFill/>
          </a:ln>
        </p:spPr>
      </p:sp>
      <p:sp>
        <p:nvSpPr>
          <p:cNvPr id="10" name="lm2"/>
          <p:cNvSpPr txBox="1"/>
          <p:nvPr/>
        </p:nvSpPr>
        <p:spPr>
          <a:xfrm>
            <a:off x="1117600" y="28956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数据缺失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　任务标签缺 </a:t>
            </a:r>
            <a:r>
              <a:rPr lang="en-US" sz="1300" noProof="1">
                <a:solidFill>
                  <a:srgbClr val="8C99AD"/>
                </a:solidFill>
                <a:latin typeface="JetBrains Mono"/>
                <a:ea typeface="JetBrains Mono"/>
              </a:rPr>
              <a:t>65.6%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、底座关系缺 </a:t>
            </a:r>
            <a:r>
              <a:rPr lang="en-US" sz="1300" noProof="1">
                <a:solidFill>
                  <a:srgbClr val="8C99AD"/>
                </a:solidFill>
                <a:latin typeface="JetBrains Mono"/>
                <a:ea typeface="JetBrains Mono"/>
              </a:rPr>
              <a:t>71.7%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，结论只覆盖已标注部分</a:t>
            </a:r>
            <a:endParaRPr lang="en-US" sz="1300" noProof="1"/>
          </a:p>
        </p:txBody>
      </p:sp>
      <p:sp>
        <p:nvSpPr>
          <p:cNvPr id="11" name="lm2-line"/>
          <p:cNvSpPr/>
          <p:nvPr/>
        </p:nvSpPr>
        <p:spPr>
          <a:xfrm>
            <a:off x="711200" y="35052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2" name="lm3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711200" y="375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8C99AD"/>
          </a:solidFill>
          <a:ln>
            <a:noFill/>
          </a:ln>
        </p:spPr>
      </p:sp>
      <p:sp>
        <p:nvSpPr>
          <p:cNvPr id="13" name="lm3"/>
          <p:cNvSpPr txBox="1"/>
          <p:nvPr/>
        </p:nvSpPr>
        <p:spPr>
          <a:xfrm>
            <a:off x="1117600" y="37084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RQ4 边界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　是同期统计关联，不是对未来的预测</a:t>
            </a:r>
            <a:endParaRPr lang="en-US" sz="1300" noProof="1"/>
          </a:p>
        </p:txBody>
      </p:sp>
      <p:sp>
        <p:nvSpPr>
          <p:cNvPr id="14" name="lm3-line"/>
          <p:cNvSpPr/>
          <p:nvPr/>
        </p:nvSpPr>
        <p:spPr>
          <a:xfrm>
            <a:off x="711200" y="43180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5" name="lm4-icon"/>
          <p:cNvSpPr/>
          <p:nvPr>
            <p:extLst>
              <p:ext uri="{F5677B7D-0D2A-4D9B-9A5C-6D8D7D0E5A5D}">
                <pptd:icon encoding="base64url">eyJpY29uTmFtZSI6ImZhczpzZXJ2ZXIifQ</pptd:icon>
              </p:ext>
            </p:extLst>
          </p:nvPr>
        </p:nvSpPr>
        <p:spPr>
          <a:xfrm>
            <a:off x="711200" y="457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w="448" h="512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8C99AD"/>
          </a:solidFill>
          <a:ln>
            <a:noFill/>
          </a:ln>
        </p:spPr>
      </p:sp>
      <p:sp>
        <p:nvSpPr>
          <p:cNvPr id="16" name="lm4"/>
          <p:cNvSpPr txBox="1"/>
          <p:nvPr/>
        </p:nvSpPr>
        <p:spPr>
          <a:xfrm>
            <a:off x="1117600" y="45212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实验边界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　单机多核实验，不是集群结论</a:t>
            </a:r>
            <a:endParaRPr lang="en-US" sz="1300" noProof="1"/>
          </a:p>
        </p:txBody>
      </p:sp>
      <p:sp>
        <p:nvSpPr>
          <p:cNvPr id="17" name="lm4-line"/>
          <p:cNvSpPr/>
          <p:nvPr/>
        </p:nvSpPr>
        <p:spPr>
          <a:xfrm>
            <a:off x="711200" y="51308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18" name="lm5-icon"/>
          <p:cNvSpPr/>
          <p:nvPr>
            <p:extLst>
              <p:ext uri="{F5677B7D-0D2A-4D9B-9A5C-6D8D7D0E5A5D}">
                <pptd:icon encoding="base64url">eyJpY29uTmFtZSI6ImZhczpkb3dubG9hZCJ9</pptd:icon>
              </p:ext>
            </p:extLst>
          </p:nvPr>
        </p:nvSpPr>
        <p:spPr>
          <a:xfrm>
            <a:off x="711200" y="538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56" y="32"/>
                </a:moveTo>
                <a:cubicBezTo>
                  <a:pt x="256" y="14"/>
                  <a:pt x="242" y="0"/>
                  <a:pt x="224" y="0"/>
                </a:cubicBezTo>
                <a:cubicBezTo>
                  <a:pt x="206" y="0"/>
                  <a:pt x="192" y="14"/>
                  <a:pt x="192" y="32"/>
                </a:cubicBezTo>
                <a:lnTo>
                  <a:pt x="192" y="243"/>
                </a:lnTo>
                <a:lnTo>
                  <a:pt x="151" y="201"/>
                </a:lnTo>
                <a:cubicBezTo>
                  <a:pt x="138" y="189"/>
                  <a:pt x="118" y="189"/>
                  <a:pt x="105" y="201"/>
                </a:cubicBezTo>
                <a:cubicBezTo>
                  <a:pt x="93" y="214"/>
                  <a:pt x="93" y="234"/>
                  <a:pt x="105" y="247"/>
                </a:cubicBezTo>
                <a:lnTo>
                  <a:pt x="201" y="343"/>
                </a:lnTo>
                <a:cubicBezTo>
                  <a:pt x="214" y="355"/>
                  <a:pt x="234" y="355"/>
                  <a:pt x="247" y="343"/>
                </a:cubicBezTo>
                <a:lnTo>
                  <a:pt x="343" y="247"/>
                </a:lnTo>
                <a:cubicBezTo>
                  <a:pt x="355" y="234"/>
                  <a:pt x="355" y="214"/>
                  <a:pt x="343" y="201"/>
                </a:cubicBezTo>
                <a:cubicBezTo>
                  <a:pt x="330" y="189"/>
                  <a:pt x="310" y="189"/>
                  <a:pt x="297" y="201"/>
                </a:cubicBezTo>
                <a:lnTo>
                  <a:pt x="256" y="243"/>
                </a:lnTo>
                <a:lnTo>
                  <a:pt x="256" y="32"/>
                </a:lnTo>
                <a:close/>
              </a:path>
              <a:path w="448" h="512">
                <a:moveTo>
                  <a:pt x="64" y="320"/>
                </a:moveTo>
                <a:cubicBezTo>
                  <a:pt x="29" y="320"/>
                  <a:pt x="0" y="349"/>
                  <a:pt x="0" y="384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84"/>
                </a:lnTo>
                <a:cubicBezTo>
                  <a:pt x="448" y="349"/>
                  <a:pt x="419" y="320"/>
                  <a:pt x="384" y="320"/>
                </a:cubicBezTo>
                <a:lnTo>
                  <a:pt x="337" y="320"/>
                </a:lnTo>
                <a:lnTo>
                  <a:pt x="281" y="377"/>
                </a:lnTo>
                <a:cubicBezTo>
                  <a:pt x="249" y="408"/>
                  <a:pt x="199" y="408"/>
                  <a:pt x="167" y="377"/>
                </a:cubicBezTo>
                <a:lnTo>
                  <a:pt x="111" y="320"/>
                </a:lnTo>
                <a:lnTo>
                  <a:pt x="64" y="320"/>
                </a:lnTo>
                <a:close/>
                <a:moveTo>
                  <a:pt x="368" y="376"/>
                </a:moveTo>
                <a:cubicBezTo>
                  <a:pt x="381" y="376"/>
                  <a:pt x="392" y="387"/>
                  <a:pt x="392" y="400"/>
                </a:cubicBezTo>
                <a:cubicBezTo>
                  <a:pt x="392" y="413"/>
                  <a:pt x="381" y="424"/>
                  <a:pt x="368" y="424"/>
                </a:cubicBezTo>
                <a:cubicBezTo>
                  <a:pt x="355" y="424"/>
                  <a:pt x="344" y="413"/>
                  <a:pt x="344" y="400"/>
                </a:cubicBezTo>
                <a:cubicBezTo>
                  <a:pt x="344" y="387"/>
                  <a:pt x="355" y="376"/>
                  <a:pt x="368" y="376"/>
                </a:cubicBezTo>
                <a:close/>
              </a:path>
            </a:pathLst>
          </a:custGeom>
          <a:solidFill>
            <a:srgbClr val="8C99AD"/>
          </a:solidFill>
          <a:ln>
            <a:noFill/>
          </a:ln>
        </p:spPr>
      </p:sp>
      <p:sp>
        <p:nvSpPr>
          <p:cNvPr id="19" name="lm5"/>
          <p:cNvSpPr txBox="1"/>
          <p:nvPr/>
        </p:nvSpPr>
        <p:spPr>
          <a:xfrm>
            <a:off x="1117600" y="53340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E8EEF7"/>
                </a:solidFill>
                <a:latin typeface="MiSans"/>
                <a:ea typeface="MiSans"/>
              </a:rPr>
              <a:t>口径边界</a:t>
            </a:r>
            <a:r>
              <a:rPr lang="en-US" sz="1300" noProof="1">
                <a:solidFill>
                  <a:srgbClr val="8C99AD"/>
                </a:solidFill>
                <a:latin typeface="MiSans"/>
                <a:ea typeface="MiSans"/>
              </a:rPr>
              <a:t>　下载量 ≠ 质量——全文没有用「质量」形容热度</a:t>
            </a:r>
            <a:endParaRPr lang="en-US" sz="1300" noProof="1"/>
          </a:p>
        </p:txBody>
      </p:sp>
      <p:sp>
        <p:nvSpPr>
          <p:cNvPr id="20" name="lm5-line"/>
          <p:cNvSpPr/>
          <p:nvPr/>
        </p:nvSpPr>
        <p:spPr>
          <a:xfrm>
            <a:off x="711200" y="59436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21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2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18 / 20</a:t>
            </a:r>
            <a:endParaRPr lang="en-US" sz="9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05 · 总结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E8EEF7"/>
                </a:solidFill>
                <a:latin typeface="Alimama ShuHeiTi"/>
                <a:ea typeface="Alimama ShuHeiTi"/>
              </a:rPr>
              <a:t>一句话总结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rv-line"/>
          <p:cNvSpPr/>
          <p:nvPr/>
        </p:nvSpPr>
        <p:spPr>
          <a:xfrm>
            <a:off x="711200" y="2006600"/>
            <a:ext cx="10769600" cy="12700"/>
          </a:xfrm>
          <a:prstGeom prst="rect">
            <a:avLst/>
          </a:prstGeom>
          <a:solidFill>
            <a:srgbClr val="27324A"/>
          </a:solidFill>
          <a:ln>
            <a:noFill/>
          </a:ln>
        </p:spPr>
      </p:sp>
      <p:sp>
        <p:nvSpPr>
          <p:cNvPr id="6" name="rv1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112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7" name="rv1-t"/>
          <p:cNvSpPr txBox="1"/>
          <p:nvPr/>
        </p:nvSpPr>
        <p:spPr>
          <a:xfrm>
            <a:off x="7112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生态演化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2024-09 单月新增 12.5 万达峰</a:t>
            </a:r>
            <a:endParaRPr lang="en-US" sz="1200" noProof="1"/>
          </a:p>
        </p:txBody>
      </p:sp>
      <p:sp>
        <p:nvSpPr>
          <p:cNvPr id="8" name="rv2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29210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9" name="rv2-t"/>
          <p:cNvSpPr txBox="1"/>
          <p:nvPr/>
        </p:nvSpPr>
        <p:spPr>
          <a:xfrm>
            <a:off x="29210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注意力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1% 拿走 97%，Gini ≈ 0.995–0.998</a:t>
            </a:r>
            <a:endParaRPr lang="en-US" sz="1200" noProof="1"/>
          </a:p>
        </p:txBody>
      </p:sp>
      <p:sp>
        <p:nvSpPr>
          <p:cNvPr id="10" name="rv3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51308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1" name="rv3-t"/>
          <p:cNvSpPr txBox="1"/>
          <p:nvPr/>
        </p:nvSpPr>
        <p:spPr>
          <a:xfrm>
            <a:off x="51308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谱系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以 FLUX.1-dev 等底座为中心</a:t>
            </a:r>
            <a:endParaRPr lang="en-US" sz="1200" noProof="1"/>
          </a:p>
        </p:txBody>
      </p:sp>
      <p:sp>
        <p:nvSpPr>
          <p:cNvPr id="12" name="rv4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3406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3" name="rv4-t"/>
          <p:cNvSpPr txBox="1"/>
          <p:nvPr/>
        </p:nvSpPr>
        <p:spPr>
          <a:xfrm>
            <a:off x="73406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关联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标签数量是热度最强关联特征</a:t>
            </a:r>
            <a:endParaRPr lang="en-US" sz="1200" noProof="1"/>
          </a:p>
        </p:txBody>
      </p:sp>
      <p:sp>
        <p:nvSpPr>
          <p:cNvPr id="14" name="rv5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95504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57AB5A"/>
          </a:solidFill>
          <a:ln>
            <a:noFill/>
          </a:ln>
        </p:spPr>
      </p:sp>
      <p:sp>
        <p:nvSpPr>
          <p:cNvPr id="15" name="rv5-t"/>
          <p:cNvSpPr txBox="1"/>
          <p:nvPr/>
        </p:nvSpPr>
        <p:spPr>
          <a:xfrm>
            <a:off x="95504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EEF7"/>
                </a:solidFill>
                <a:latin typeface="MiSans"/>
                <a:ea typeface="MiSans"/>
              </a:rPr>
              <a:t>任务差异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C99AD"/>
                </a:solidFill>
                <a:latin typeface="MiSans"/>
                <a:ea typeface="MiSans"/>
              </a:rPr>
              <a:t>不同任务冷热结构大不同</a:t>
            </a:r>
            <a:endParaRPr lang="en-US" sz="1200" noProof="1"/>
          </a:p>
        </p:txBody>
      </p:sp>
      <p:sp>
        <p:nvSpPr>
          <p:cNvPr id="16" name="verdict"/>
          <p:cNvSpPr txBox="1"/>
          <p:nvPr/>
        </p:nvSpPr>
        <p:spPr>
          <a:xfrm>
            <a:off x="711200" y="3759200"/>
            <a:ext cx="10769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用 </a:t>
            </a:r>
            <a:r>
              <a:rPr lang="en-US" sz="2600" noProof="1">
                <a:solidFill>
                  <a:srgbClr val="4DA3FF"/>
                </a:solidFill>
                <a:latin typeface="Alimama ShuHeiTi"/>
                <a:ea typeface="Alimama ShuHeiTi"/>
              </a:rPr>
              <a:t>Spark</a:t>
            </a: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 把 </a:t>
            </a:r>
            <a:r>
              <a:rPr lang="en-US" sz="2600" noProof="1">
                <a:solidFill>
                  <a:srgbClr val="4DA3FF"/>
                </a:solidFill>
                <a:latin typeface="JetBrains Mono"/>
                <a:ea typeface="JetBrains Mono"/>
              </a:rPr>
              <a:t>314 万</a:t>
            </a: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行开源模型数据，</a:t>
            </a:r>
            <a:endParaRPr lang="en-US" sz="2600" noProof="1"/>
          </a:p>
          <a:p>
            <a:pPr algn="ctr">
              <a:lnSpc>
                <a:spcPct val="160000"/>
              </a:lnSpc>
            </a:pP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做成一套</a:t>
            </a:r>
            <a:r>
              <a:rPr lang="en-US" sz="2600" noProof="1">
                <a:solidFill>
                  <a:srgbClr val="4DA3FF"/>
                </a:solidFill>
                <a:latin typeface="Alimama ShuHeiTi"/>
                <a:ea typeface="Alimama ShuHeiTi"/>
              </a:rPr>
              <a:t>可复现、可校验</a:t>
            </a:r>
            <a:r>
              <a:rPr lang="en-US" sz="2600" noProof="1">
                <a:solidFill>
                  <a:srgbClr val="E8EEF7"/>
                </a:solidFill>
                <a:latin typeface="Alimama ShuHeiTi"/>
                <a:ea typeface="Alimama ShuHeiTi"/>
              </a:rPr>
              <a:t>的分析。</a:t>
            </a:r>
            <a:endParaRPr lang="en-US" sz="2600" noProof="1"/>
          </a:p>
        </p:txBody>
      </p:sp>
      <p:sp>
        <p:nvSpPr>
          <p:cNvPr id="17" name="verdict-sub"/>
          <p:cNvSpPr txBox="1"/>
          <p:nvPr/>
        </p:nvSpPr>
        <p:spPr>
          <a:xfrm>
            <a:off x="711200" y="5435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5B6A82"/>
                </a:solidFill>
                <a:latin typeface="MiSans"/>
                <a:ea typeface="MiSans"/>
              </a:rPr>
              <a:t>没有一个数字是手抄的——全部来自同一个结果清单 results_manifest.json</a:t>
            </a:r>
            <a:endParaRPr lang="en-US" sz="1200" noProof="1"/>
          </a:p>
        </p:txBody>
      </p:sp>
      <p:sp>
        <p:nvSpPr>
          <p:cNvPr id="18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9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19 / 20</a:t>
            </a:r>
            <a:endParaRPr lang="en-US" sz="9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x-kicker"/>
          <p:cNvSpPr txBox="1"/>
          <p:nvPr/>
        </p:nvSpPr>
        <p:spPr>
          <a:xfrm>
            <a:off x="9144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4DA3FF"/>
                </a:solidFill>
                <a:latin typeface="JetBrains Mono"/>
                <a:ea typeface="JetBrains Mono"/>
              </a:rPr>
              <a:t>THANKS · Q&amp;A</a:t>
            </a:r>
            <a:endParaRPr lang="en-US" sz="1100" noProof="1"/>
          </a:p>
        </p:txBody>
      </p:sp>
      <p:sp>
        <p:nvSpPr>
          <p:cNvPr id="3" name="thx-title"/>
          <p:cNvSpPr txBox="1"/>
          <p:nvPr/>
        </p:nvSpPr>
        <p:spPr>
          <a:xfrm>
            <a:off x="914400" y="19050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4000" noProof="1">
                <a:solidFill>
                  <a:srgbClr val="E8EEF7"/>
                </a:solidFill>
                <a:latin typeface="Alimama ShuHeiTi"/>
                <a:ea typeface="Alimama ShuHeiTi"/>
              </a:rPr>
              <a:t>谢谢大家，</a:t>
            </a:r>
            <a:endParaRPr lang="en-US" sz="4000" noProof="1"/>
          </a:p>
          <a:p>
            <a:pPr>
              <a:lnSpc>
                <a:spcPct val="140000"/>
              </a:lnSpc>
            </a:pPr>
            <a:r>
              <a:rPr lang="en-US" sz="4000" noProof="1">
                <a:solidFill>
                  <a:srgbClr val="E8EEF7"/>
                </a:solidFill>
                <a:latin typeface="Alimama ShuHeiTi"/>
                <a:ea typeface="Alimama ShuHeiTi"/>
              </a:rPr>
              <a:t>欢迎</a:t>
            </a:r>
            <a:r>
              <a:rPr lang="en-US" sz="4000" noProof="1">
                <a:solidFill>
                  <a:srgbClr val="4DA3FF"/>
                </a:solidFill>
                <a:latin typeface="Alimama ShuHeiTi"/>
                <a:ea typeface="Alimama ShuHeiTi"/>
              </a:rPr>
              <a:t>提问</a:t>
            </a:r>
            <a:endParaRPr lang="en-US" sz="4000" noProof="1"/>
          </a:p>
        </p:txBody>
      </p:sp>
      <p:sp>
        <p:nvSpPr>
          <p:cNvPr id="4" name="thx-rule"/>
          <p:cNvSpPr/>
          <p:nvPr/>
        </p:nvSpPr>
        <p:spPr>
          <a:xfrm>
            <a:off x="914400" y="3632200"/>
            <a:ext cx="60960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5" name="thx-info"/>
          <p:cNvSpPr txBox="1"/>
          <p:nvPr/>
        </p:nvSpPr>
        <p:spPr>
          <a:xfrm>
            <a:off x="914400" y="3911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汇报人：XXX（姓名）　·　联系方式：XXX</a:t>
            </a:r>
            <a:endParaRPr lang="en-US" sz="1200" noProof="1"/>
          </a:p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8C99AD"/>
                </a:solidFill>
                <a:latin typeface="MiSans"/>
                <a:ea typeface="MiSans"/>
              </a:rPr>
              <a:t>大数据课程项目 · 开源 AI 模型生态分析 · 2026-10</a:t>
            </a:r>
            <a:endParaRPr lang="en-US" sz="1200" noProof="1"/>
          </a:p>
        </p:txBody>
      </p:sp>
      <p:sp>
        <p:nvSpPr>
          <p:cNvPr id="6" name="thx-tip"/>
          <p:cNvSpPr txBox="1"/>
          <p:nvPr/>
        </p:nvSpPr>
        <p:spPr>
          <a:xfrm>
            <a:off x="914400" y="5080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5B6A82"/>
                </a:solidFill>
                <a:latin typeface="MiSans"/>
                <a:ea typeface="MiSans"/>
              </a:rPr>
              <a:t>答不上来的问题，我也会老实说「这块我没深入」——右边是速查表，随时可查。</a:t>
            </a:r>
            <a:endParaRPr lang="en-US" sz="1100" noProof="1"/>
          </a:p>
        </p:txBody>
      </p:sp>
      <p:sp>
        <p:nvSpPr>
          <p:cNvPr id="7" name="cheat-label"/>
          <p:cNvSpPr txBox="1"/>
          <p:nvPr/>
        </p:nvSpPr>
        <p:spPr>
          <a:xfrm>
            <a:off x="63500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4DA3FF"/>
                </a:solidFill>
                <a:latin typeface="JetBrains Mono"/>
                <a:ea typeface="JetBrains Mono"/>
              </a:rPr>
              <a:t>CHEAT SHEET · 关键数字速查</a:t>
            </a:r>
            <a:endParaRPr lang="en-US" sz="1000" noProof="1"/>
          </a:p>
        </p:txBody>
      </p:sp>
      <p:graphicFrame>
        <p:nvGraphicFramePr>
          <p:cNvPr id="8" name="cheat-table"/>
          <p:cNvGraphicFramePr>
            <a:graphicFrameLocks noGrp="1"/>
          </p:cNvGraphicFramePr>
          <p:nvPr/>
        </p:nvGraphicFramePr>
        <p:xfrm>
          <a:off x="6350000" y="1854200"/>
          <a:ext cx="5130800" cy="4064000"/>
        </p:xfrm>
        <a:graphic>
          <a:graphicData uri="http://schemas.openxmlformats.org/drawingml/2006/table">
            <a:tbl>
              <a:tblPr/>
              <a:tblGrid>
                <a:gridCol w="1949704"/>
                <a:gridCol w="3181096"/>
              </a:tblGrid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数据规模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8EEF7"/>
                          </a:solidFill>
                          <a:latin typeface="JetBrains Mono"/>
                          <a:ea typeface="JetBrains Mono"/>
                        </a:rPr>
                        <a:t>3,138,954 模型 · 1.49 GiB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Gini 系数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8EEF7"/>
                          </a:solidFill>
                          <a:latin typeface="JetBrains Mono"/>
                          <a:ea typeface="JetBrains Mono"/>
                        </a:rPr>
                        <a:t>0.995（30天）/ 0.998（累计）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Top-1% 份额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8EEF7"/>
                          </a:solidFill>
                          <a:latin typeface="JetBrains Mono"/>
                          <a:ea typeface="JetBrains Mono"/>
                        </a:rPr>
                        <a:t>97.13% / 98.70%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最大底座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8EEF7"/>
                          </a:solidFill>
                          <a:latin typeface="JetBrains Mono"/>
                          <a:ea typeface="JetBrains Mono"/>
                        </a:rPr>
                        <a:t>FLUX.1-dev · 43,419 派生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最佳 R²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8EEF7"/>
                          </a:solidFill>
                          <a:latin typeface="JetBrains Mono"/>
                          <a:ea typeface="JetBrains Mono"/>
                        </a:rPr>
                        <a:t>RandomForest 0.663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0C1220"/>
                    </a:solidFill>
                  </a:tcPr>
                </a:tc>
              </a:tr>
              <a:tr h="6908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8C99AD"/>
                          </a:solidFill>
                          <a:latin typeface="Times New Roman"/>
                          <a:ea typeface="Times New Roman"/>
                        </a:rPr>
                        <a:t>质量校验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8EEF7"/>
                          </a:solidFill>
                          <a:latin typeface="JetBrains Mono"/>
                          <a:ea typeface="JetBrains Mono"/>
                        </a:rPr>
                        <a:t>56 契约 + 114 一致性 · 0 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27324A"/>
                      </a:solidFill>
                    </a:lnB>
                    <a:solidFill>
                      <a:srgbClr val="131B2D"/>
                    </a:solidFill>
                  </a:tcPr>
                </a:tc>
              </a:tr>
            </a:tbl>
          </a:graphicData>
        </a:graphic>
      </p:graphicFrame>
      <p:sp>
        <p:nvSpPr>
          <p:cNvPr id="9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0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B6A82"/>
                </a:solidFill>
                <a:latin typeface="JetBrains Mono"/>
                <a:ea typeface="JetBrains Mono"/>
              </a:rPr>
              <a:t>20 / 20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22</Slides>
</Properties>
</file>

<file path=docProps/core.xml><?xml version="1.0" encoding="utf-8"?>
<cp:coreProperties xmlns:dc="http://purl.org/dc/elements/1.1/" xmlns:cp="http://schemas.openxmlformats.org/package/2006/metadata/core-properties">
  <dc:title>开源 AI 模型生态分析 · 大数据课程项目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